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3E"/>
        </a:solidFill>
      </p:bgPr>
    </p:bg>
    <p:spTree>
      <p:nvGrpSpPr>
        <p:cNvPr id="1" name=""/>
        <p:cNvGrpSpPr/>
        <p:nvPr/>
      </p:nvGrpSpPr>
      <p:grpSpPr>
        <a:xfrm>
          <a:off x="0" y="0"/>
          <a:ext cx="0" cy="0"/>
          <a:chOff x="0" y="0"/>
          <a:chExt cx="0" cy="0"/>
        </a:xfrm>
      </p:grpSpPr>
      <p:sp>
        <p:nvSpPr>
          <p:cNvPr id="2" name="Shape 0"/>
          <p:cNvSpPr/>
          <p:nvPr/>
        </p:nvSpPr>
        <p:spPr>
          <a:xfrm>
            <a:off x="6400800" y="-1371600"/>
            <a:ext cx="5029200" cy="5029200"/>
          </a:xfrm>
          <a:prstGeom prst="ellipse">
            <a:avLst/>
          </a:prstGeom>
          <a:solidFill>
            <a:srgbClr val="9F1239">
              <a:alpha val="22000"/>
            </a:srgbClr>
          </a:solidFill>
          <a:ln w="12700">
            <a:solidFill>
              <a:srgbClr val="9F1239">
                <a:alpha val="0"/>
              </a:srgbClr>
            </a:solidFill>
            <a:prstDash val="solid"/>
          </a:ln>
        </p:spPr>
      </p:sp>
      <p:sp>
        <p:nvSpPr>
          <p:cNvPr id="3" name="Shape 1"/>
          <p:cNvSpPr/>
          <p:nvPr/>
        </p:nvSpPr>
        <p:spPr>
          <a:xfrm>
            <a:off x="-1645920" y="3474720"/>
            <a:ext cx="3657600" cy="3657600"/>
          </a:xfrm>
          <a:prstGeom prst="ellipse">
            <a:avLst/>
          </a:prstGeom>
          <a:solidFill>
            <a:srgbClr val="3730A3">
              <a:alpha val="18000"/>
            </a:srgbClr>
          </a:solidFill>
          <a:ln w="12700">
            <a:solidFill>
              <a:srgbClr val="3730A3">
                <a:alpha val="0"/>
              </a:srgbClr>
            </a:solidFill>
            <a:prstDash val="solid"/>
          </a:ln>
        </p:spPr>
      </p:sp>
      <p:sp>
        <p:nvSpPr>
          <p:cNvPr id="4" name="Shape 2"/>
          <p:cNvSpPr/>
          <p:nvPr/>
        </p:nvSpPr>
        <p:spPr>
          <a:xfrm>
            <a:off x="457200" y="777240"/>
            <a:ext cx="73152" cy="3657600"/>
          </a:xfrm>
          <a:prstGeom prst="rect">
            <a:avLst/>
          </a:prstGeom>
          <a:solidFill>
            <a:srgbClr val="9F1239"/>
          </a:solidFill>
          <a:ln w="12700">
            <a:solidFill>
              <a:srgbClr val="9F1239">
                <a:alpha val="0"/>
              </a:srgbClr>
            </a:solidFill>
            <a:prstDash val="solid"/>
          </a:ln>
        </p:spPr>
      </p:sp>
      <p:sp>
        <p:nvSpPr>
          <p:cNvPr id="5" name="Text 3"/>
          <p:cNvSpPr/>
          <p:nvPr/>
        </p:nvSpPr>
        <p:spPr>
          <a:xfrm>
            <a:off x="685800" y="777240"/>
            <a:ext cx="8229600" cy="320040"/>
          </a:xfrm>
          <a:prstGeom prst="rect">
            <a:avLst/>
          </a:prstGeom>
          <a:noFill/>
          <a:ln/>
        </p:spPr>
        <p:txBody>
          <a:bodyPr wrap="square" lIns="0" tIns="0" rIns="0" bIns="0" rtlCol="0" anchor="ctr">
            <a:normAutofit/>
          </a:bodyPr>
          <a:lstStyle/>
          <a:p>
            <a:pPr indent="0" marL="0">
              <a:buNone/>
            </a:pPr>
            <a:r>
              <a:rPr lang="en-US" sz="1000" b="1" spc="250" kern="0" dirty="0">
                <a:solidFill>
                  <a:srgbClr val="FDA4AF"/>
                </a:solidFill>
                <a:latin typeface="Calibri" pitchFamily="34" charset="0"/>
                <a:ea typeface="Calibri" pitchFamily="34" charset="-122"/>
                <a:cs typeface="Calibri" pitchFamily="34" charset="-120"/>
              </a:rPr>
              <a:t>EXL · AI &amp; DATA ENGINEERING · BUILDING ON DAYS 1–5</a:t>
            </a:r>
            <a:endParaRPr lang="en-US" sz="1000" dirty="0"/>
          </a:p>
        </p:txBody>
      </p:sp>
      <p:sp>
        <p:nvSpPr>
          <p:cNvPr id="6" name="Text 4"/>
          <p:cNvSpPr/>
          <p:nvPr/>
        </p:nvSpPr>
        <p:spPr>
          <a:xfrm>
            <a:off x="685800" y="1115568"/>
            <a:ext cx="2743200" cy="804672"/>
          </a:xfrm>
          <a:prstGeom prst="rect">
            <a:avLst/>
          </a:prstGeom>
          <a:noFill/>
          <a:ln/>
        </p:spPr>
        <p:txBody>
          <a:bodyPr wrap="square" lIns="0" tIns="0" rIns="0" bIns="0" rtlCol="0" anchor="ctr">
            <a:normAutofit/>
          </a:bodyPr>
          <a:lstStyle/>
          <a:p>
            <a:pPr indent="0" marL="0">
              <a:buNone/>
            </a:pPr>
            <a:r>
              <a:rPr lang="en-US" sz="6000" b="1" dirty="0">
                <a:solidFill>
                  <a:srgbClr val="FFFFFF"/>
                </a:solidFill>
                <a:latin typeface="Calibri" pitchFamily="34" charset="0"/>
                <a:ea typeface="Calibri" pitchFamily="34" charset="-122"/>
                <a:cs typeface="Calibri" pitchFamily="34" charset="-120"/>
              </a:rPr>
              <a:t>Day 6</a:t>
            </a:r>
            <a:endParaRPr lang="en-US" sz="6000" dirty="0"/>
          </a:p>
        </p:txBody>
      </p:sp>
      <p:sp>
        <p:nvSpPr>
          <p:cNvPr id="7" name="Text 5"/>
          <p:cNvSpPr/>
          <p:nvPr/>
        </p:nvSpPr>
        <p:spPr>
          <a:xfrm>
            <a:off x="685800" y="1901952"/>
            <a:ext cx="8229600" cy="621792"/>
          </a:xfrm>
          <a:prstGeom prst="rect">
            <a:avLst/>
          </a:prstGeom>
          <a:noFill/>
          <a:ln/>
        </p:spPr>
        <p:txBody>
          <a:bodyPr wrap="square" lIns="0" tIns="0" rIns="0" bIns="0" rtlCol="0" anchor="ctr">
            <a:normAutofit/>
          </a:bodyPr>
          <a:lstStyle/>
          <a:p>
            <a:pPr indent="0" marL="0">
              <a:buNone/>
            </a:pPr>
            <a:r>
              <a:rPr lang="en-US" sz="3200" b="1" dirty="0">
                <a:solidFill>
                  <a:srgbClr val="FFFFFF"/>
                </a:solidFill>
                <a:latin typeface="Calibri" pitchFamily="34" charset="0"/>
                <a:ea typeface="Calibri" pitchFamily="34" charset="-122"/>
                <a:cs typeface="Calibri" pitchFamily="34" charset="-120"/>
              </a:rPr>
              <a:t>Supervised ML — Advanced</a:t>
            </a:r>
            <a:endParaRPr lang="en-US" sz="3200" dirty="0"/>
          </a:p>
        </p:txBody>
      </p:sp>
      <p:sp>
        <p:nvSpPr>
          <p:cNvPr id="8" name="Text 6"/>
          <p:cNvSpPr/>
          <p:nvPr/>
        </p:nvSpPr>
        <p:spPr>
          <a:xfrm>
            <a:off x="685800" y="2560320"/>
            <a:ext cx="8229600" cy="320040"/>
          </a:xfrm>
          <a:prstGeom prst="rect">
            <a:avLst/>
          </a:prstGeom>
          <a:noFill/>
          <a:ln/>
        </p:spPr>
        <p:txBody>
          <a:bodyPr wrap="square" lIns="0" tIns="0" rIns="0" bIns="0" rtlCol="0" anchor="ctr">
            <a:normAutofit/>
          </a:bodyPr>
          <a:lstStyle/>
          <a:p>
            <a:pPr indent="0" marL="0">
              <a:buNone/>
            </a:pPr>
            <a:r>
              <a:rPr lang="en-US" sz="1150" dirty="0">
                <a:solidFill>
                  <a:srgbClr val="FDA4AF"/>
                </a:solidFill>
                <a:latin typeface="Calibri" pitchFamily="34" charset="0"/>
                <a:ea typeface="Calibri" pitchFamily="34" charset="-122"/>
                <a:cs typeface="Calibri" pitchFamily="34" charset="-120"/>
              </a:rPr>
              <a:t>Random Forest · Ensemble Methods · XGBoost · Feature Engineering · Evaluation · Lab 6</a:t>
            </a:r>
            <a:endParaRPr lang="en-US" sz="1150" dirty="0"/>
          </a:p>
        </p:txBody>
      </p:sp>
      <p:sp>
        <p:nvSpPr>
          <p:cNvPr id="9" name="Shape 7"/>
          <p:cNvSpPr/>
          <p:nvPr/>
        </p:nvSpPr>
        <p:spPr>
          <a:xfrm>
            <a:off x="685800" y="2962656"/>
            <a:ext cx="8138160" cy="713232"/>
          </a:xfrm>
          <a:prstGeom prst="rect">
            <a:avLst/>
          </a:prstGeom>
          <a:solidFill>
            <a:srgbClr val="1A0020"/>
          </a:solidFill>
          <a:ln w="12700">
            <a:solidFill>
              <a:srgbClr val="9F1239"/>
            </a:solidFill>
            <a:prstDash val="solid"/>
          </a:ln>
        </p:spPr>
      </p:sp>
      <p:sp>
        <p:nvSpPr>
          <p:cNvPr id="10" name="Text 8"/>
          <p:cNvSpPr/>
          <p:nvPr/>
        </p:nvSpPr>
        <p:spPr>
          <a:xfrm>
            <a:off x="841248" y="3035808"/>
            <a:ext cx="1280160" cy="201168"/>
          </a:xfrm>
          <a:prstGeom prst="rect">
            <a:avLst/>
          </a:prstGeom>
          <a:noFill/>
          <a:ln/>
        </p:spPr>
        <p:txBody>
          <a:bodyPr wrap="square" lIns="0" tIns="0" rIns="0" bIns="0" rtlCol="0" anchor="ctr">
            <a:normAutofit/>
          </a:bodyPr>
          <a:lstStyle/>
          <a:p>
            <a:pPr indent="0" marL="0">
              <a:buNone/>
            </a:pPr>
            <a:r>
              <a:rPr lang="en-US" sz="900" b="1" dirty="0">
                <a:solidFill>
                  <a:srgbClr val="FDA4AF"/>
                </a:solidFill>
                <a:latin typeface="Calibri" pitchFamily="34" charset="0"/>
                <a:ea typeface="Calibri" pitchFamily="34" charset="-122"/>
                <a:cs typeface="Calibri" pitchFamily="34" charset="-120"/>
              </a:rPr>
              <a:t>BUILDING ON:</a:t>
            </a:r>
            <a:endParaRPr lang="en-US" sz="900" dirty="0"/>
          </a:p>
        </p:txBody>
      </p:sp>
      <p:sp>
        <p:nvSpPr>
          <p:cNvPr id="11" name="Shape 9"/>
          <p:cNvSpPr/>
          <p:nvPr/>
        </p:nvSpPr>
        <p:spPr>
          <a:xfrm>
            <a:off x="841248" y="3273552"/>
            <a:ext cx="502920" cy="329184"/>
          </a:xfrm>
          <a:prstGeom prst="rect">
            <a:avLst/>
          </a:prstGeom>
          <a:solidFill>
            <a:srgbClr val="9F1239"/>
          </a:solidFill>
          <a:ln w="12700">
            <a:solidFill>
              <a:srgbClr val="9F1239">
                <a:alpha val="0"/>
              </a:srgbClr>
            </a:solidFill>
            <a:prstDash val="solid"/>
          </a:ln>
        </p:spPr>
      </p:sp>
      <p:sp>
        <p:nvSpPr>
          <p:cNvPr id="12" name="Text 10"/>
          <p:cNvSpPr/>
          <p:nvPr/>
        </p:nvSpPr>
        <p:spPr>
          <a:xfrm>
            <a:off x="841248" y="3273552"/>
            <a:ext cx="502920" cy="329184"/>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Calibri" pitchFamily="34" charset="0"/>
                <a:ea typeface="Calibri" pitchFamily="34" charset="-122"/>
                <a:cs typeface="Calibri" pitchFamily="34" charset="-120"/>
              </a:rPr>
              <a:t>Day 2</a:t>
            </a:r>
            <a:endParaRPr lang="en-US" sz="900" dirty="0"/>
          </a:p>
        </p:txBody>
      </p:sp>
      <p:sp>
        <p:nvSpPr>
          <p:cNvPr id="13" name="Text 11"/>
          <p:cNvSpPr/>
          <p:nvPr/>
        </p:nvSpPr>
        <p:spPr>
          <a:xfrm>
            <a:off x="1389888" y="3310128"/>
            <a:ext cx="2029968" cy="256032"/>
          </a:xfrm>
          <a:prstGeom prst="rect">
            <a:avLst/>
          </a:prstGeom>
          <a:noFill/>
          <a:ln/>
        </p:spPr>
        <p:txBody>
          <a:bodyPr wrap="square" lIns="0" tIns="0" rIns="0" bIns="0" rtlCol="0" anchor="ctr">
            <a:normAutofit/>
          </a:bodyPr>
          <a:lstStyle/>
          <a:p>
            <a:pPr indent="0" marL="0">
              <a:buNone/>
            </a:pPr>
            <a:r>
              <a:rPr lang="en-US" sz="950" dirty="0">
                <a:solidFill>
                  <a:srgbClr val="E2E8F0"/>
                </a:solidFill>
                <a:latin typeface="Calibri" pitchFamily="34" charset="0"/>
                <a:ea typeface="Calibri" pitchFamily="34" charset="-122"/>
                <a:cs typeface="Calibri" pitchFamily="34" charset="-120"/>
              </a:rPr>
              <a:t>Pandas — feature engineering foundation</a:t>
            </a:r>
            <a:endParaRPr lang="en-US" sz="950" dirty="0"/>
          </a:p>
        </p:txBody>
      </p:sp>
      <p:sp>
        <p:nvSpPr>
          <p:cNvPr id="14" name="Shape 12"/>
          <p:cNvSpPr/>
          <p:nvPr/>
        </p:nvSpPr>
        <p:spPr>
          <a:xfrm>
            <a:off x="3474720" y="3273552"/>
            <a:ext cx="502920" cy="329184"/>
          </a:xfrm>
          <a:prstGeom prst="rect">
            <a:avLst/>
          </a:prstGeom>
          <a:solidFill>
            <a:srgbClr val="9F1239"/>
          </a:solidFill>
          <a:ln w="12700">
            <a:solidFill>
              <a:srgbClr val="9F1239">
                <a:alpha val="0"/>
              </a:srgbClr>
            </a:solidFill>
            <a:prstDash val="solid"/>
          </a:ln>
        </p:spPr>
      </p:sp>
      <p:sp>
        <p:nvSpPr>
          <p:cNvPr id="15" name="Text 13"/>
          <p:cNvSpPr/>
          <p:nvPr/>
        </p:nvSpPr>
        <p:spPr>
          <a:xfrm>
            <a:off x="3474720" y="3273552"/>
            <a:ext cx="502920" cy="329184"/>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Calibri" pitchFamily="34" charset="0"/>
                <a:ea typeface="Calibri" pitchFamily="34" charset="-122"/>
                <a:cs typeface="Calibri" pitchFamily="34" charset="-120"/>
              </a:rPr>
              <a:t>Day 5</a:t>
            </a:r>
            <a:endParaRPr lang="en-US" sz="900" dirty="0"/>
          </a:p>
        </p:txBody>
      </p:sp>
      <p:sp>
        <p:nvSpPr>
          <p:cNvPr id="16" name="Text 14"/>
          <p:cNvSpPr/>
          <p:nvPr/>
        </p:nvSpPr>
        <p:spPr>
          <a:xfrm>
            <a:off x="4023360" y="3310128"/>
            <a:ext cx="2029968" cy="256032"/>
          </a:xfrm>
          <a:prstGeom prst="rect">
            <a:avLst/>
          </a:prstGeom>
          <a:noFill/>
          <a:ln/>
        </p:spPr>
        <p:txBody>
          <a:bodyPr wrap="square" lIns="0" tIns="0" rIns="0" bIns="0" rtlCol="0" anchor="ctr">
            <a:normAutofit/>
          </a:bodyPr>
          <a:lstStyle/>
          <a:p>
            <a:pPr indent="0" marL="0">
              <a:buNone/>
            </a:pPr>
            <a:r>
              <a:rPr lang="en-US" sz="950" dirty="0">
                <a:solidFill>
                  <a:srgbClr val="E2E8F0"/>
                </a:solidFill>
                <a:latin typeface="Calibri" pitchFamily="34" charset="0"/>
                <a:ea typeface="Calibri" pitchFamily="34" charset="-122"/>
                <a:cs typeface="Calibri" pitchFamily="34" charset="-120"/>
              </a:rPr>
              <a:t>LR + Decision Tree baseline</a:t>
            </a:r>
            <a:endParaRPr lang="en-US" sz="950" dirty="0"/>
          </a:p>
        </p:txBody>
      </p:sp>
      <p:sp>
        <p:nvSpPr>
          <p:cNvPr id="17" name="Shape 15"/>
          <p:cNvSpPr/>
          <p:nvPr/>
        </p:nvSpPr>
        <p:spPr>
          <a:xfrm>
            <a:off x="6108192" y="3273552"/>
            <a:ext cx="502920" cy="329184"/>
          </a:xfrm>
          <a:prstGeom prst="rect">
            <a:avLst/>
          </a:prstGeom>
          <a:solidFill>
            <a:srgbClr val="9F1239"/>
          </a:solidFill>
          <a:ln w="12700">
            <a:solidFill>
              <a:srgbClr val="9F1239">
                <a:alpha val="0"/>
              </a:srgbClr>
            </a:solidFill>
            <a:prstDash val="solid"/>
          </a:ln>
        </p:spPr>
      </p:sp>
      <p:sp>
        <p:nvSpPr>
          <p:cNvPr id="18" name="Text 16"/>
          <p:cNvSpPr/>
          <p:nvPr/>
        </p:nvSpPr>
        <p:spPr>
          <a:xfrm>
            <a:off x="6108192" y="3273552"/>
            <a:ext cx="502920" cy="329184"/>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Calibri" pitchFamily="34" charset="0"/>
                <a:ea typeface="Calibri" pitchFamily="34" charset="-122"/>
                <a:cs typeface="Calibri" pitchFamily="34" charset="-120"/>
              </a:rPr>
              <a:t>Day 4</a:t>
            </a:r>
            <a:endParaRPr lang="en-US" sz="900" dirty="0"/>
          </a:p>
        </p:txBody>
      </p:sp>
      <p:sp>
        <p:nvSpPr>
          <p:cNvPr id="19" name="Text 17"/>
          <p:cNvSpPr/>
          <p:nvPr/>
        </p:nvSpPr>
        <p:spPr>
          <a:xfrm>
            <a:off x="6656832" y="3310128"/>
            <a:ext cx="2029968" cy="256032"/>
          </a:xfrm>
          <a:prstGeom prst="rect">
            <a:avLst/>
          </a:prstGeom>
          <a:noFill/>
          <a:ln/>
        </p:spPr>
        <p:txBody>
          <a:bodyPr wrap="square" lIns="0" tIns="0" rIns="0" bIns="0" rtlCol="0" anchor="ctr">
            <a:normAutofit/>
          </a:bodyPr>
          <a:lstStyle/>
          <a:p>
            <a:pPr indent="0" marL="0">
              <a:buNone/>
            </a:pPr>
            <a:r>
              <a:rPr lang="en-US" sz="950" dirty="0">
                <a:solidFill>
                  <a:srgbClr val="E2E8F0"/>
                </a:solidFill>
                <a:latin typeface="Calibri" pitchFamily="34" charset="0"/>
                <a:ea typeface="Calibri" pitchFamily="34" charset="-122"/>
                <a:cs typeface="Calibri" pitchFamily="34" charset="-120"/>
              </a:rPr>
              <a:t>FastAPI wraps today's model → API</a:t>
            </a:r>
            <a:endParaRPr lang="en-US" sz="950" dirty="0"/>
          </a:p>
        </p:txBody>
      </p:sp>
      <p:sp>
        <p:nvSpPr>
          <p:cNvPr id="20" name="Text 18"/>
          <p:cNvSpPr/>
          <p:nvPr/>
        </p:nvSpPr>
        <p:spPr>
          <a:xfrm>
            <a:off x="685800" y="3822192"/>
            <a:ext cx="1554480" cy="384048"/>
          </a:xfrm>
          <a:prstGeom prst="rect">
            <a:avLst/>
          </a:prstGeom>
          <a:noFill/>
          <a:ln/>
        </p:spPr>
        <p:txBody>
          <a:bodyPr wrap="square" lIns="0" tIns="0" rIns="0" bIns="0" rtlCol="0" anchor="ctr">
            <a:normAutofit/>
          </a:bodyPr>
          <a:lstStyle/>
          <a:p>
            <a:pPr indent="0" marL="0">
              <a:buNone/>
            </a:pPr>
            <a:r>
              <a:rPr lang="en-US" sz="2000" b="1" dirty="0">
                <a:solidFill>
                  <a:srgbClr val="FDA4AF"/>
                </a:solidFill>
                <a:latin typeface="Calibri" pitchFamily="34" charset="0"/>
                <a:ea typeface="Calibri" pitchFamily="34" charset="-122"/>
                <a:cs typeface="Calibri" pitchFamily="34" charset="-120"/>
              </a:rPr>
              <a:t>6–7 hrs</a:t>
            </a:r>
            <a:endParaRPr lang="en-US" sz="2000" dirty="0"/>
          </a:p>
        </p:txBody>
      </p:sp>
      <p:sp>
        <p:nvSpPr>
          <p:cNvPr id="21" name="Text 19"/>
          <p:cNvSpPr/>
          <p:nvPr/>
        </p:nvSpPr>
        <p:spPr>
          <a:xfrm>
            <a:off x="685800" y="4187952"/>
            <a:ext cx="1554480" cy="201168"/>
          </a:xfrm>
          <a:prstGeom prst="rect">
            <a:avLst/>
          </a:prstGeom>
          <a:noFill/>
          <a:ln/>
        </p:spPr>
        <p:txBody>
          <a:bodyPr wrap="square" lIns="0" tIns="0" rIns="0" bIns="0" rtlCol="0" anchor="ctr">
            <a:normAutofit/>
          </a:bodyPr>
          <a:lstStyle/>
          <a:p>
            <a:pPr indent="0" marL="0">
              <a:buNone/>
            </a:pPr>
            <a:r>
              <a:rPr lang="en-US" sz="900" dirty="0">
                <a:solidFill>
                  <a:srgbClr val="A1A1AA"/>
                </a:solidFill>
                <a:latin typeface="Calibri" pitchFamily="34" charset="0"/>
                <a:ea typeface="Calibri" pitchFamily="34" charset="-122"/>
                <a:cs typeface="Calibri" pitchFamily="34" charset="-120"/>
              </a:rPr>
              <a:t>Full Day</a:t>
            </a:r>
            <a:endParaRPr lang="en-US" sz="900" dirty="0"/>
          </a:p>
        </p:txBody>
      </p:sp>
      <p:sp>
        <p:nvSpPr>
          <p:cNvPr id="22" name="Text 20"/>
          <p:cNvSpPr/>
          <p:nvPr/>
        </p:nvSpPr>
        <p:spPr>
          <a:xfrm>
            <a:off x="2368296" y="3822192"/>
            <a:ext cx="1554480" cy="384048"/>
          </a:xfrm>
          <a:prstGeom prst="rect">
            <a:avLst/>
          </a:prstGeom>
          <a:noFill/>
          <a:ln/>
        </p:spPr>
        <p:txBody>
          <a:bodyPr wrap="square" lIns="0" tIns="0" rIns="0" bIns="0" rtlCol="0" anchor="ctr">
            <a:normAutofit/>
          </a:bodyPr>
          <a:lstStyle/>
          <a:p>
            <a:pPr indent="0" marL="0">
              <a:buNone/>
            </a:pPr>
            <a:r>
              <a:rPr lang="en-US" sz="2000" b="1" dirty="0">
                <a:solidFill>
                  <a:srgbClr val="FDA4AF"/>
                </a:solidFill>
                <a:latin typeface="Calibri" pitchFamily="34" charset="0"/>
                <a:ea typeface="Calibri" pitchFamily="34" charset="-122"/>
                <a:cs typeface="Calibri" pitchFamily="34" charset="-120"/>
              </a:rPr>
              <a:t>70%</a:t>
            </a:r>
            <a:endParaRPr lang="en-US" sz="2000" dirty="0"/>
          </a:p>
        </p:txBody>
      </p:sp>
      <p:sp>
        <p:nvSpPr>
          <p:cNvPr id="23" name="Text 21"/>
          <p:cNvSpPr/>
          <p:nvPr/>
        </p:nvSpPr>
        <p:spPr>
          <a:xfrm>
            <a:off x="2368296" y="4187952"/>
            <a:ext cx="1554480" cy="201168"/>
          </a:xfrm>
          <a:prstGeom prst="rect">
            <a:avLst/>
          </a:prstGeom>
          <a:noFill/>
          <a:ln/>
        </p:spPr>
        <p:txBody>
          <a:bodyPr wrap="square" lIns="0" tIns="0" rIns="0" bIns="0" rtlCol="0" anchor="ctr">
            <a:normAutofit/>
          </a:bodyPr>
          <a:lstStyle/>
          <a:p>
            <a:pPr indent="0" marL="0">
              <a:buNone/>
            </a:pPr>
            <a:r>
              <a:rPr lang="en-US" sz="900" dirty="0">
                <a:solidFill>
                  <a:srgbClr val="A1A1AA"/>
                </a:solidFill>
                <a:latin typeface="Calibri" pitchFamily="34" charset="0"/>
                <a:ea typeface="Calibri" pitchFamily="34" charset="-122"/>
                <a:cs typeface="Calibri" pitchFamily="34" charset="-120"/>
              </a:rPr>
              <a:t>Theory</a:t>
            </a:r>
            <a:endParaRPr lang="en-US" sz="900" dirty="0"/>
          </a:p>
        </p:txBody>
      </p:sp>
      <p:sp>
        <p:nvSpPr>
          <p:cNvPr id="24" name="Text 22"/>
          <p:cNvSpPr/>
          <p:nvPr/>
        </p:nvSpPr>
        <p:spPr>
          <a:xfrm>
            <a:off x="4050792" y="3822192"/>
            <a:ext cx="1554480" cy="384048"/>
          </a:xfrm>
          <a:prstGeom prst="rect">
            <a:avLst/>
          </a:prstGeom>
          <a:noFill/>
          <a:ln/>
        </p:spPr>
        <p:txBody>
          <a:bodyPr wrap="square" lIns="0" tIns="0" rIns="0" bIns="0" rtlCol="0" anchor="ctr">
            <a:normAutofit/>
          </a:bodyPr>
          <a:lstStyle/>
          <a:p>
            <a:pPr indent="0" marL="0">
              <a:buNone/>
            </a:pPr>
            <a:r>
              <a:rPr lang="en-US" sz="2000" b="1" dirty="0">
                <a:solidFill>
                  <a:srgbClr val="FDA4AF"/>
                </a:solidFill>
                <a:latin typeface="Calibri" pitchFamily="34" charset="0"/>
                <a:ea typeface="Calibri" pitchFamily="34" charset="-122"/>
                <a:cs typeface="Calibri" pitchFamily="34" charset="-120"/>
              </a:rPr>
              <a:t>30%</a:t>
            </a:r>
            <a:endParaRPr lang="en-US" sz="2000" dirty="0"/>
          </a:p>
        </p:txBody>
      </p:sp>
      <p:sp>
        <p:nvSpPr>
          <p:cNvPr id="25" name="Text 23"/>
          <p:cNvSpPr/>
          <p:nvPr/>
        </p:nvSpPr>
        <p:spPr>
          <a:xfrm>
            <a:off x="4050792" y="4187952"/>
            <a:ext cx="1554480" cy="201168"/>
          </a:xfrm>
          <a:prstGeom prst="rect">
            <a:avLst/>
          </a:prstGeom>
          <a:noFill/>
          <a:ln/>
        </p:spPr>
        <p:txBody>
          <a:bodyPr wrap="square" lIns="0" tIns="0" rIns="0" bIns="0" rtlCol="0" anchor="ctr">
            <a:normAutofit/>
          </a:bodyPr>
          <a:lstStyle/>
          <a:p>
            <a:pPr indent="0" marL="0">
              <a:buNone/>
            </a:pPr>
            <a:r>
              <a:rPr lang="en-US" sz="900" dirty="0">
                <a:solidFill>
                  <a:srgbClr val="A1A1AA"/>
                </a:solidFill>
                <a:latin typeface="Calibri" pitchFamily="34" charset="0"/>
                <a:ea typeface="Calibri" pitchFamily="34" charset="-122"/>
                <a:cs typeface="Calibri" pitchFamily="34" charset="-120"/>
              </a:rPr>
              <a:t>Practice</a:t>
            </a:r>
            <a:endParaRPr lang="en-US" sz="900" dirty="0"/>
          </a:p>
        </p:txBody>
      </p:sp>
      <p:sp>
        <p:nvSpPr>
          <p:cNvPr id="26" name="Text 24"/>
          <p:cNvSpPr/>
          <p:nvPr/>
        </p:nvSpPr>
        <p:spPr>
          <a:xfrm>
            <a:off x="5733288" y="3822192"/>
            <a:ext cx="1554480" cy="384048"/>
          </a:xfrm>
          <a:prstGeom prst="rect">
            <a:avLst/>
          </a:prstGeom>
          <a:noFill/>
          <a:ln/>
        </p:spPr>
        <p:txBody>
          <a:bodyPr wrap="square" lIns="0" tIns="0" rIns="0" bIns="0" rtlCol="0" anchor="ctr">
            <a:normAutofit/>
          </a:bodyPr>
          <a:lstStyle/>
          <a:p>
            <a:pPr indent="0" marL="0">
              <a:buNone/>
            </a:pPr>
            <a:r>
              <a:rPr lang="en-US" sz="2000" b="1" dirty="0">
                <a:solidFill>
                  <a:srgbClr val="FDA4AF"/>
                </a:solidFill>
                <a:latin typeface="Calibri" pitchFamily="34" charset="0"/>
                <a:ea typeface="Calibri" pitchFamily="34" charset="-122"/>
                <a:cs typeface="Calibri" pitchFamily="34" charset="-120"/>
              </a:rPr>
              <a:t>3</a:t>
            </a:r>
            <a:endParaRPr lang="en-US" sz="2000" dirty="0"/>
          </a:p>
        </p:txBody>
      </p:sp>
      <p:sp>
        <p:nvSpPr>
          <p:cNvPr id="27" name="Text 25"/>
          <p:cNvSpPr/>
          <p:nvPr/>
        </p:nvSpPr>
        <p:spPr>
          <a:xfrm>
            <a:off x="5733288" y="4187952"/>
            <a:ext cx="1554480" cy="201168"/>
          </a:xfrm>
          <a:prstGeom prst="rect">
            <a:avLst/>
          </a:prstGeom>
          <a:noFill/>
          <a:ln/>
        </p:spPr>
        <p:txBody>
          <a:bodyPr wrap="square" lIns="0" tIns="0" rIns="0" bIns="0" rtlCol="0" anchor="ctr">
            <a:normAutofit/>
          </a:bodyPr>
          <a:lstStyle/>
          <a:p>
            <a:pPr indent="0" marL="0">
              <a:buNone/>
            </a:pPr>
            <a:r>
              <a:rPr lang="en-US" sz="900" dirty="0">
                <a:solidFill>
                  <a:srgbClr val="A1A1AA"/>
                </a:solidFill>
                <a:latin typeface="Calibri" pitchFamily="34" charset="0"/>
                <a:ea typeface="Calibri" pitchFamily="34" charset="-122"/>
                <a:cs typeface="Calibri" pitchFamily="34" charset="-120"/>
              </a:rPr>
              <a:t>Algorithms</a:t>
            </a:r>
            <a:endParaRPr lang="en-US" sz="900" dirty="0"/>
          </a:p>
        </p:txBody>
      </p:sp>
      <p:sp>
        <p:nvSpPr>
          <p:cNvPr id="28" name="Text 26"/>
          <p:cNvSpPr/>
          <p:nvPr/>
        </p:nvSpPr>
        <p:spPr>
          <a:xfrm>
            <a:off x="7415784" y="3822192"/>
            <a:ext cx="1554480" cy="384048"/>
          </a:xfrm>
          <a:prstGeom prst="rect">
            <a:avLst/>
          </a:prstGeom>
          <a:noFill/>
          <a:ln/>
        </p:spPr>
        <p:txBody>
          <a:bodyPr wrap="square" lIns="0" tIns="0" rIns="0" bIns="0" rtlCol="0" anchor="ctr">
            <a:normAutofit/>
          </a:bodyPr>
          <a:lstStyle/>
          <a:p>
            <a:pPr indent="0" marL="0">
              <a:buNone/>
            </a:pPr>
            <a:r>
              <a:rPr lang="en-US" sz="2000" b="1" dirty="0">
                <a:solidFill>
                  <a:srgbClr val="FDA4AF"/>
                </a:solidFill>
                <a:latin typeface="Calibri" pitchFamily="34" charset="0"/>
                <a:ea typeface="Calibri" pitchFamily="34" charset="-122"/>
                <a:cs typeface="Calibri" pitchFamily="34" charset="-120"/>
              </a:rPr>
              <a:t>1 Lab</a:t>
            </a:r>
            <a:endParaRPr lang="en-US" sz="2000" dirty="0"/>
          </a:p>
        </p:txBody>
      </p:sp>
      <p:sp>
        <p:nvSpPr>
          <p:cNvPr id="29" name="Text 27"/>
          <p:cNvSpPr/>
          <p:nvPr/>
        </p:nvSpPr>
        <p:spPr>
          <a:xfrm>
            <a:off x="7415784" y="4187952"/>
            <a:ext cx="1554480" cy="201168"/>
          </a:xfrm>
          <a:prstGeom prst="rect">
            <a:avLst/>
          </a:prstGeom>
          <a:noFill/>
          <a:ln/>
        </p:spPr>
        <p:txBody>
          <a:bodyPr wrap="square" lIns="0" tIns="0" rIns="0" bIns="0" rtlCol="0" anchor="ctr">
            <a:normAutofit/>
          </a:bodyPr>
          <a:lstStyle/>
          <a:p>
            <a:pPr indent="0" marL="0">
              <a:buNone/>
            </a:pPr>
            <a:r>
              <a:rPr lang="en-US" sz="900" dirty="0">
                <a:solidFill>
                  <a:srgbClr val="A1A1AA"/>
                </a:solidFill>
                <a:latin typeface="Calibri" pitchFamily="34" charset="0"/>
                <a:ea typeface="Calibri" pitchFamily="34" charset="-122"/>
                <a:cs typeface="Calibri" pitchFamily="34" charset="-120"/>
              </a:rPr>
              <a:t>Readmission</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9F0"/>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1B3E"/>
          </a:solidFill>
          <a:ln w="12700">
            <a:solidFill>
              <a:srgbClr val="0D1B3E">
                <a:alpha val="0"/>
              </a:srgbClr>
            </a:solidFill>
            <a:prstDash val="solid"/>
          </a:ln>
        </p:spPr>
      </p:sp>
      <p:sp>
        <p:nvSpPr>
          <p:cNvPr id="3" name="Text 1"/>
          <p:cNvSpPr/>
          <p:nvPr/>
        </p:nvSpPr>
        <p:spPr>
          <a:xfrm>
            <a:off x="347472" y="0"/>
            <a:ext cx="8458200" cy="640080"/>
          </a:xfrm>
          <a:prstGeom prst="rect">
            <a:avLst/>
          </a:prstGeom>
          <a:noFill/>
          <a:ln/>
        </p:spPr>
        <p:txBody>
          <a:bodyPr wrap="square" lIns="0" tIns="0" rIns="0" bIns="0" rtlCol="0" anchor="ctr">
            <a:normAutofit/>
          </a:bodyPr>
          <a:lstStyle/>
          <a:p>
            <a:pPr indent="0" marL="0">
              <a:buNone/>
            </a:pPr>
            <a:r>
              <a:rPr lang="en-US" sz="1400" b="1" spc="100" kern="0" dirty="0">
                <a:solidFill>
                  <a:srgbClr val="FFFFFF"/>
                </a:solidFill>
                <a:latin typeface="Calibri" pitchFamily="34" charset="0"/>
                <a:ea typeface="Calibri" pitchFamily="34" charset="-122"/>
                <a:cs typeface="Calibri" pitchFamily="34" charset="-120"/>
              </a:rPr>
              <a:t>DAY 6 AGENDA — FULL SCHEDULE  |  70% THEORY · 30% PRACTICE</a:t>
            </a:r>
            <a:endParaRPr lang="en-US" sz="1400" dirty="0"/>
          </a:p>
        </p:txBody>
      </p:sp>
      <p:sp>
        <p:nvSpPr>
          <p:cNvPr id="4" name="Shape 2"/>
          <p:cNvSpPr/>
          <p:nvPr/>
        </p:nvSpPr>
        <p:spPr>
          <a:xfrm>
            <a:off x="256032" y="749808"/>
            <a:ext cx="1371600" cy="347472"/>
          </a:xfrm>
          <a:prstGeom prst="rect">
            <a:avLst/>
          </a:prstGeom>
          <a:solidFill>
            <a:srgbClr val="7C3AED"/>
          </a:solidFill>
          <a:ln w="12700">
            <a:solidFill>
              <a:srgbClr val="7C3AED">
                <a:alpha val="0"/>
              </a:srgbClr>
            </a:solidFill>
            <a:prstDash val="solid"/>
          </a:ln>
        </p:spPr>
      </p:sp>
      <p:sp>
        <p:nvSpPr>
          <p:cNvPr id="5" name="Text 3"/>
          <p:cNvSpPr/>
          <p:nvPr/>
        </p:nvSpPr>
        <p:spPr>
          <a:xfrm>
            <a:off x="256032" y="749808"/>
            <a:ext cx="1371600" cy="347472"/>
          </a:xfrm>
          <a:prstGeom prst="rect">
            <a:avLst/>
          </a:prstGeom>
          <a:noFill/>
          <a:ln/>
        </p:spPr>
        <p:txBody>
          <a:bodyPr wrap="square" lIns="0" tIns="0" rIns="0" bIns="0" rtlCol="0" anchor="ctr">
            <a:normAutofit/>
          </a:bodyPr>
          <a:lstStyle/>
          <a:p>
            <a:pPr algn="ctr" indent="0" marL="0">
              <a:buNone/>
            </a:pPr>
            <a:r>
              <a:rPr lang="en-US" sz="750" b="1" dirty="0">
                <a:solidFill>
                  <a:srgbClr val="FFFFFF"/>
                </a:solidFill>
                <a:latin typeface="Calibri" pitchFamily="34" charset="0"/>
                <a:ea typeface="Calibri" pitchFamily="34" charset="-122"/>
                <a:cs typeface="Calibri" pitchFamily="34" charset="-120"/>
              </a:rPr>
              <a:t>9:00–9:20</a:t>
            </a:r>
            <a:endParaRPr lang="en-US" sz="750" dirty="0"/>
          </a:p>
        </p:txBody>
      </p:sp>
      <p:sp>
        <p:nvSpPr>
          <p:cNvPr id="6" name="Shape 4"/>
          <p:cNvSpPr/>
          <p:nvPr/>
        </p:nvSpPr>
        <p:spPr>
          <a:xfrm>
            <a:off x="1700784" y="749808"/>
            <a:ext cx="960120" cy="347472"/>
          </a:xfrm>
          <a:prstGeom prst="rect">
            <a:avLst/>
          </a:prstGeom>
          <a:solidFill>
            <a:srgbClr val="7C3AED">
              <a:alpha val="78000"/>
            </a:srgbClr>
          </a:solidFill>
          <a:ln w="12700">
            <a:solidFill>
              <a:srgbClr val="7C3AED">
                <a:alpha val="0"/>
              </a:srgbClr>
            </a:solidFill>
            <a:prstDash val="solid"/>
          </a:ln>
        </p:spPr>
      </p:sp>
      <p:sp>
        <p:nvSpPr>
          <p:cNvPr id="7" name="Text 5"/>
          <p:cNvSpPr/>
          <p:nvPr/>
        </p:nvSpPr>
        <p:spPr>
          <a:xfrm>
            <a:off x="1700784" y="749808"/>
            <a:ext cx="960120" cy="347472"/>
          </a:xfrm>
          <a:prstGeom prst="rect">
            <a:avLst/>
          </a:prstGeom>
          <a:noFill/>
          <a:ln/>
        </p:spPr>
        <p:txBody>
          <a:bodyPr wrap="square" lIns="0" tIns="0" rIns="0" bIns="0" rtlCol="0" anchor="ctr">
            <a:normAutofit/>
          </a:bodyPr>
          <a:lstStyle/>
          <a:p>
            <a:pPr algn="ctr" indent="0" marL="0">
              <a:buNone/>
            </a:pPr>
            <a:r>
              <a:rPr lang="en-US" sz="750" b="1" dirty="0">
                <a:solidFill>
                  <a:srgbClr val="FFFFFF"/>
                </a:solidFill>
                <a:latin typeface="Calibri" pitchFamily="34" charset="0"/>
                <a:ea typeface="Calibri" pitchFamily="34" charset="-122"/>
                <a:cs typeface="Calibri" pitchFamily="34" charset="-120"/>
              </a:rPr>
              <a:t>BRIDGE</a:t>
            </a:r>
            <a:endParaRPr lang="en-US" sz="750" dirty="0"/>
          </a:p>
        </p:txBody>
      </p:sp>
      <p:sp>
        <p:nvSpPr>
          <p:cNvPr id="8" name="Shape 6"/>
          <p:cNvSpPr/>
          <p:nvPr/>
        </p:nvSpPr>
        <p:spPr>
          <a:xfrm>
            <a:off x="2734056" y="749808"/>
            <a:ext cx="6080760" cy="347472"/>
          </a:xfrm>
          <a:prstGeom prst="rect">
            <a:avLst/>
          </a:prstGeom>
          <a:solidFill>
            <a:srgbClr val="FFFFFF"/>
          </a:solidFill>
          <a:ln w="6350">
            <a:solidFill>
              <a:srgbClr val="E2E8F0"/>
            </a:solidFill>
            <a:prstDash val="solid"/>
          </a:ln>
        </p:spPr>
      </p:sp>
      <p:sp>
        <p:nvSpPr>
          <p:cNvPr id="9" name="Text 7"/>
          <p:cNvSpPr/>
          <p:nvPr/>
        </p:nvSpPr>
        <p:spPr>
          <a:xfrm>
            <a:off x="2852928" y="749808"/>
            <a:ext cx="5687568" cy="347472"/>
          </a:xfrm>
          <a:prstGeom prst="rect">
            <a:avLst/>
          </a:prstGeom>
          <a:noFill/>
          <a:ln/>
        </p:spPr>
        <p:txBody>
          <a:bodyPr wrap="square" lIns="0" tIns="0" rIns="0" bIns="0" rtlCol="0" anchor="ctr">
            <a:normAutofit/>
          </a:bodyPr>
          <a:lstStyle/>
          <a:p>
            <a:pPr indent="0" marL="0">
              <a:buNone/>
            </a:pPr>
            <a:r>
              <a:rPr lang="en-US" sz="980" dirty="0">
                <a:solidFill>
                  <a:srgbClr val="1E293B"/>
                </a:solidFill>
                <a:latin typeface="Calibri" pitchFamily="34" charset="0"/>
                <a:ea typeface="Calibri" pitchFamily="34" charset="-122"/>
                <a:cs typeface="Calibri" pitchFamily="34" charset="-120"/>
              </a:rPr>
              <a:t>Day 5 recap · LR &amp; DT limitations · Why we need ensemble methods · Quick debrief on Lab 5 models</a:t>
            </a:r>
            <a:endParaRPr lang="en-US" sz="980" dirty="0"/>
          </a:p>
        </p:txBody>
      </p:sp>
      <p:sp>
        <p:nvSpPr>
          <p:cNvPr id="10" name="Shape 8"/>
          <p:cNvSpPr/>
          <p:nvPr/>
        </p:nvSpPr>
        <p:spPr>
          <a:xfrm>
            <a:off x="256032" y="1129284"/>
            <a:ext cx="1371600" cy="347472"/>
          </a:xfrm>
          <a:prstGeom prst="rect">
            <a:avLst/>
          </a:prstGeom>
          <a:solidFill>
            <a:srgbClr val="0D1B3E"/>
          </a:solidFill>
          <a:ln w="12700">
            <a:solidFill>
              <a:srgbClr val="0D1B3E">
                <a:alpha val="0"/>
              </a:srgbClr>
            </a:solidFill>
            <a:prstDash val="solid"/>
          </a:ln>
        </p:spPr>
      </p:sp>
      <p:sp>
        <p:nvSpPr>
          <p:cNvPr id="11" name="Text 9"/>
          <p:cNvSpPr/>
          <p:nvPr/>
        </p:nvSpPr>
        <p:spPr>
          <a:xfrm>
            <a:off x="256032" y="1129284"/>
            <a:ext cx="1371600" cy="347472"/>
          </a:xfrm>
          <a:prstGeom prst="rect">
            <a:avLst/>
          </a:prstGeom>
          <a:noFill/>
          <a:ln/>
        </p:spPr>
        <p:txBody>
          <a:bodyPr wrap="square" lIns="0" tIns="0" rIns="0" bIns="0" rtlCol="0" anchor="ctr">
            <a:normAutofit/>
          </a:bodyPr>
          <a:lstStyle/>
          <a:p>
            <a:pPr algn="ctr" indent="0" marL="0">
              <a:buNone/>
            </a:pPr>
            <a:r>
              <a:rPr lang="en-US" sz="750" b="1" dirty="0">
                <a:solidFill>
                  <a:srgbClr val="FFFFFF"/>
                </a:solidFill>
                <a:latin typeface="Calibri" pitchFamily="34" charset="0"/>
                <a:ea typeface="Calibri" pitchFamily="34" charset="-122"/>
                <a:cs typeface="Calibri" pitchFamily="34" charset="-120"/>
              </a:rPr>
              <a:t>9:20–10:15</a:t>
            </a:r>
            <a:endParaRPr lang="en-US" sz="750" dirty="0"/>
          </a:p>
        </p:txBody>
      </p:sp>
      <p:sp>
        <p:nvSpPr>
          <p:cNvPr id="12" name="Shape 10"/>
          <p:cNvSpPr/>
          <p:nvPr/>
        </p:nvSpPr>
        <p:spPr>
          <a:xfrm>
            <a:off x="1700784" y="1129284"/>
            <a:ext cx="960120" cy="347472"/>
          </a:xfrm>
          <a:prstGeom prst="rect">
            <a:avLst/>
          </a:prstGeom>
          <a:solidFill>
            <a:srgbClr val="0D1B3E">
              <a:alpha val="78000"/>
            </a:srgbClr>
          </a:solidFill>
          <a:ln w="12700">
            <a:solidFill>
              <a:srgbClr val="0D1B3E">
                <a:alpha val="0"/>
              </a:srgbClr>
            </a:solidFill>
            <a:prstDash val="solid"/>
          </a:ln>
        </p:spPr>
      </p:sp>
      <p:sp>
        <p:nvSpPr>
          <p:cNvPr id="13" name="Text 11"/>
          <p:cNvSpPr/>
          <p:nvPr/>
        </p:nvSpPr>
        <p:spPr>
          <a:xfrm>
            <a:off x="1700784" y="1129284"/>
            <a:ext cx="960120" cy="347472"/>
          </a:xfrm>
          <a:prstGeom prst="rect">
            <a:avLst/>
          </a:prstGeom>
          <a:noFill/>
          <a:ln/>
        </p:spPr>
        <p:txBody>
          <a:bodyPr wrap="square" lIns="0" tIns="0" rIns="0" bIns="0" rtlCol="0" anchor="ctr">
            <a:normAutofit/>
          </a:bodyPr>
          <a:lstStyle/>
          <a:p>
            <a:pPr algn="ctr" indent="0" marL="0">
              <a:buNone/>
            </a:pPr>
            <a:r>
              <a:rPr lang="en-US" sz="750" b="1" dirty="0">
                <a:solidFill>
                  <a:srgbClr val="FFFFFF"/>
                </a:solidFill>
                <a:latin typeface="Calibri" pitchFamily="34" charset="0"/>
                <a:ea typeface="Calibri" pitchFamily="34" charset="-122"/>
                <a:cs typeface="Calibri" pitchFamily="34" charset="-120"/>
              </a:rPr>
              <a:t>THEORY</a:t>
            </a:r>
            <a:endParaRPr lang="en-US" sz="750" dirty="0"/>
          </a:p>
        </p:txBody>
      </p:sp>
      <p:sp>
        <p:nvSpPr>
          <p:cNvPr id="14" name="Shape 12"/>
          <p:cNvSpPr/>
          <p:nvPr/>
        </p:nvSpPr>
        <p:spPr>
          <a:xfrm>
            <a:off x="2734056" y="1129284"/>
            <a:ext cx="6080760" cy="347472"/>
          </a:xfrm>
          <a:prstGeom prst="rect">
            <a:avLst/>
          </a:prstGeom>
          <a:solidFill>
            <a:srgbClr val="FFFFFF"/>
          </a:solidFill>
          <a:ln w="6350">
            <a:solidFill>
              <a:srgbClr val="E2E8F0"/>
            </a:solidFill>
            <a:prstDash val="solid"/>
          </a:ln>
        </p:spPr>
      </p:sp>
      <p:sp>
        <p:nvSpPr>
          <p:cNvPr id="15" name="Text 13"/>
          <p:cNvSpPr/>
          <p:nvPr/>
        </p:nvSpPr>
        <p:spPr>
          <a:xfrm>
            <a:off x="2852928" y="1129284"/>
            <a:ext cx="5687568" cy="347472"/>
          </a:xfrm>
          <a:prstGeom prst="rect">
            <a:avLst/>
          </a:prstGeom>
          <a:noFill/>
          <a:ln/>
        </p:spPr>
        <p:txBody>
          <a:bodyPr wrap="square" lIns="0" tIns="0" rIns="0" bIns="0" rtlCol="0" anchor="ctr">
            <a:normAutofit/>
          </a:bodyPr>
          <a:lstStyle/>
          <a:p>
            <a:pPr indent="0" marL="0">
              <a:buNone/>
            </a:pPr>
            <a:r>
              <a:rPr lang="en-US" sz="980" dirty="0">
                <a:solidFill>
                  <a:srgbClr val="1E293B"/>
                </a:solidFill>
                <a:latin typeface="Calibri" pitchFamily="34" charset="0"/>
                <a:ea typeface="Calibri" pitchFamily="34" charset="-122"/>
                <a:cs typeface="Calibri" pitchFamily="34" charset="-120"/>
              </a:rPr>
              <a:t>Ensemble Methods — Bagging vs Boosting vs Stacking · Why ensembles outperform single models · Wisdom of crowds</a:t>
            </a:r>
            <a:endParaRPr lang="en-US" sz="980" dirty="0"/>
          </a:p>
        </p:txBody>
      </p:sp>
      <p:sp>
        <p:nvSpPr>
          <p:cNvPr id="16" name="Shape 14"/>
          <p:cNvSpPr/>
          <p:nvPr/>
        </p:nvSpPr>
        <p:spPr>
          <a:xfrm>
            <a:off x="256032" y="1508760"/>
            <a:ext cx="1371600" cy="347472"/>
          </a:xfrm>
          <a:prstGeom prst="rect">
            <a:avLst/>
          </a:prstGeom>
          <a:solidFill>
            <a:srgbClr val="9F1239"/>
          </a:solidFill>
          <a:ln w="12700">
            <a:solidFill>
              <a:srgbClr val="9F1239">
                <a:alpha val="0"/>
              </a:srgbClr>
            </a:solidFill>
            <a:prstDash val="solid"/>
          </a:ln>
        </p:spPr>
      </p:sp>
      <p:sp>
        <p:nvSpPr>
          <p:cNvPr id="17" name="Text 15"/>
          <p:cNvSpPr/>
          <p:nvPr/>
        </p:nvSpPr>
        <p:spPr>
          <a:xfrm>
            <a:off x="256032" y="1508760"/>
            <a:ext cx="1371600" cy="347472"/>
          </a:xfrm>
          <a:prstGeom prst="rect">
            <a:avLst/>
          </a:prstGeom>
          <a:noFill/>
          <a:ln/>
        </p:spPr>
        <p:txBody>
          <a:bodyPr wrap="square" lIns="0" tIns="0" rIns="0" bIns="0" rtlCol="0" anchor="ctr">
            <a:normAutofit/>
          </a:bodyPr>
          <a:lstStyle/>
          <a:p>
            <a:pPr algn="ctr" indent="0" marL="0">
              <a:buNone/>
            </a:pPr>
            <a:r>
              <a:rPr lang="en-US" sz="750" b="1" dirty="0">
                <a:solidFill>
                  <a:srgbClr val="FFFFFF"/>
                </a:solidFill>
                <a:latin typeface="Calibri" pitchFamily="34" charset="0"/>
                <a:ea typeface="Calibri" pitchFamily="34" charset="-122"/>
                <a:cs typeface="Calibri" pitchFamily="34" charset="-120"/>
              </a:rPr>
              <a:t>10:15–11:00</a:t>
            </a:r>
            <a:endParaRPr lang="en-US" sz="750" dirty="0"/>
          </a:p>
        </p:txBody>
      </p:sp>
      <p:sp>
        <p:nvSpPr>
          <p:cNvPr id="18" name="Shape 16"/>
          <p:cNvSpPr/>
          <p:nvPr/>
        </p:nvSpPr>
        <p:spPr>
          <a:xfrm>
            <a:off x="1700784" y="1508760"/>
            <a:ext cx="960120" cy="347472"/>
          </a:xfrm>
          <a:prstGeom prst="rect">
            <a:avLst/>
          </a:prstGeom>
          <a:solidFill>
            <a:srgbClr val="9F1239">
              <a:alpha val="78000"/>
            </a:srgbClr>
          </a:solidFill>
          <a:ln w="12700">
            <a:solidFill>
              <a:srgbClr val="9F1239">
                <a:alpha val="0"/>
              </a:srgbClr>
            </a:solidFill>
            <a:prstDash val="solid"/>
          </a:ln>
        </p:spPr>
      </p:sp>
      <p:sp>
        <p:nvSpPr>
          <p:cNvPr id="19" name="Text 17"/>
          <p:cNvSpPr/>
          <p:nvPr/>
        </p:nvSpPr>
        <p:spPr>
          <a:xfrm>
            <a:off x="1700784" y="1508760"/>
            <a:ext cx="960120" cy="347472"/>
          </a:xfrm>
          <a:prstGeom prst="rect">
            <a:avLst/>
          </a:prstGeom>
          <a:noFill/>
          <a:ln/>
        </p:spPr>
        <p:txBody>
          <a:bodyPr wrap="square" lIns="0" tIns="0" rIns="0" bIns="0" rtlCol="0" anchor="ctr">
            <a:normAutofit/>
          </a:bodyPr>
          <a:lstStyle/>
          <a:p>
            <a:pPr algn="ctr" indent="0" marL="0">
              <a:buNone/>
            </a:pPr>
            <a:r>
              <a:rPr lang="en-US" sz="750" b="1" dirty="0">
                <a:solidFill>
                  <a:srgbClr val="FFFFFF"/>
                </a:solidFill>
                <a:latin typeface="Calibri" pitchFamily="34" charset="0"/>
                <a:ea typeface="Calibri" pitchFamily="34" charset="-122"/>
                <a:cs typeface="Calibri" pitchFamily="34" charset="-120"/>
              </a:rPr>
              <a:t>THEORY</a:t>
            </a:r>
            <a:endParaRPr lang="en-US" sz="750" dirty="0"/>
          </a:p>
        </p:txBody>
      </p:sp>
      <p:sp>
        <p:nvSpPr>
          <p:cNvPr id="20" name="Shape 18"/>
          <p:cNvSpPr/>
          <p:nvPr/>
        </p:nvSpPr>
        <p:spPr>
          <a:xfrm>
            <a:off x="2734056" y="1508760"/>
            <a:ext cx="6080760" cy="347472"/>
          </a:xfrm>
          <a:prstGeom prst="rect">
            <a:avLst/>
          </a:prstGeom>
          <a:solidFill>
            <a:srgbClr val="FFFFFF"/>
          </a:solidFill>
          <a:ln w="6350">
            <a:solidFill>
              <a:srgbClr val="E2E8F0"/>
            </a:solidFill>
            <a:prstDash val="solid"/>
          </a:ln>
        </p:spPr>
      </p:sp>
      <p:sp>
        <p:nvSpPr>
          <p:cNvPr id="21" name="Text 19"/>
          <p:cNvSpPr/>
          <p:nvPr/>
        </p:nvSpPr>
        <p:spPr>
          <a:xfrm>
            <a:off x="2852928" y="1508760"/>
            <a:ext cx="5687568" cy="347472"/>
          </a:xfrm>
          <a:prstGeom prst="rect">
            <a:avLst/>
          </a:prstGeom>
          <a:noFill/>
          <a:ln/>
        </p:spPr>
        <p:txBody>
          <a:bodyPr wrap="square" lIns="0" tIns="0" rIns="0" bIns="0" rtlCol="0" anchor="ctr">
            <a:normAutofit/>
          </a:bodyPr>
          <a:lstStyle/>
          <a:p>
            <a:pPr indent="0" marL="0">
              <a:buNone/>
            </a:pPr>
            <a:r>
              <a:rPr lang="en-US" sz="980" dirty="0">
                <a:solidFill>
                  <a:srgbClr val="1E293B"/>
                </a:solidFill>
                <a:latin typeface="Calibri" pitchFamily="34" charset="0"/>
                <a:ea typeface="Calibri" pitchFamily="34" charset="-122"/>
                <a:cs typeface="Calibri" pitchFamily="34" charset="-120"/>
              </a:rPr>
              <a:t>Random Forest — deep dive: how trees are decorrelated, OOB error, hyperparameters, when it fails</a:t>
            </a:r>
            <a:endParaRPr lang="en-US" sz="980" dirty="0"/>
          </a:p>
        </p:txBody>
      </p:sp>
      <p:sp>
        <p:nvSpPr>
          <p:cNvPr id="22" name="Shape 20"/>
          <p:cNvSpPr/>
          <p:nvPr/>
        </p:nvSpPr>
        <p:spPr>
          <a:xfrm>
            <a:off x="256032" y="1888236"/>
            <a:ext cx="1371600" cy="347472"/>
          </a:xfrm>
          <a:prstGeom prst="rect">
            <a:avLst/>
          </a:prstGeom>
          <a:solidFill>
            <a:srgbClr val="64748B"/>
          </a:solidFill>
          <a:ln w="12700">
            <a:solidFill>
              <a:srgbClr val="64748B">
                <a:alpha val="0"/>
              </a:srgbClr>
            </a:solidFill>
            <a:prstDash val="solid"/>
          </a:ln>
        </p:spPr>
      </p:sp>
      <p:sp>
        <p:nvSpPr>
          <p:cNvPr id="23" name="Text 21"/>
          <p:cNvSpPr/>
          <p:nvPr/>
        </p:nvSpPr>
        <p:spPr>
          <a:xfrm>
            <a:off x="256032" y="1888236"/>
            <a:ext cx="1371600" cy="347472"/>
          </a:xfrm>
          <a:prstGeom prst="rect">
            <a:avLst/>
          </a:prstGeom>
          <a:noFill/>
          <a:ln/>
        </p:spPr>
        <p:txBody>
          <a:bodyPr wrap="square" lIns="0" tIns="0" rIns="0" bIns="0" rtlCol="0" anchor="ctr">
            <a:normAutofit/>
          </a:bodyPr>
          <a:lstStyle/>
          <a:p>
            <a:pPr algn="ctr" indent="0" marL="0">
              <a:buNone/>
            </a:pPr>
            <a:r>
              <a:rPr lang="en-US" sz="750" b="1" dirty="0">
                <a:solidFill>
                  <a:srgbClr val="FFFFFF"/>
                </a:solidFill>
                <a:latin typeface="Calibri" pitchFamily="34" charset="0"/>
                <a:ea typeface="Calibri" pitchFamily="34" charset="-122"/>
                <a:cs typeface="Calibri" pitchFamily="34" charset="-120"/>
              </a:rPr>
              <a:t>11:00–11:15</a:t>
            </a:r>
            <a:endParaRPr lang="en-US" sz="750" dirty="0"/>
          </a:p>
        </p:txBody>
      </p:sp>
      <p:sp>
        <p:nvSpPr>
          <p:cNvPr id="24" name="Shape 22"/>
          <p:cNvSpPr/>
          <p:nvPr/>
        </p:nvSpPr>
        <p:spPr>
          <a:xfrm>
            <a:off x="1700784" y="1888236"/>
            <a:ext cx="960120" cy="347472"/>
          </a:xfrm>
          <a:prstGeom prst="rect">
            <a:avLst/>
          </a:prstGeom>
          <a:solidFill>
            <a:srgbClr val="64748B">
              <a:alpha val="78000"/>
            </a:srgbClr>
          </a:solidFill>
          <a:ln w="12700">
            <a:solidFill>
              <a:srgbClr val="64748B">
                <a:alpha val="0"/>
              </a:srgbClr>
            </a:solidFill>
            <a:prstDash val="solid"/>
          </a:ln>
        </p:spPr>
      </p:sp>
      <p:sp>
        <p:nvSpPr>
          <p:cNvPr id="25" name="Text 23"/>
          <p:cNvSpPr/>
          <p:nvPr/>
        </p:nvSpPr>
        <p:spPr>
          <a:xfrm>
            <a:off x="1700784" y="1888236"/>
            <a:ext cx="960120" cy="347472"/>
          </a:xfrm>
          <a:prstGeom prst="rect">
            <a:avLst/>
          </a:prstGeom>
          <a:noFill/>
          <a:ln/>
        </p:spPr>
        <p:txBody>
          <a:bodyPr wrap="square" lIns="0" tIns="0" rIns="0" bIns="0" rtlCol="0" anchor="ctr">
            <a:normAutofit/>
          </a:bodyPr>
          <a:lstStyle/>
          <a:p>
            <a:pPr algn="ctr" indent="0" marL="0">
              <a:buNone/>
            </a:pPr>
            <a:r>
              <a:rPr lang="en-US" sz="750" b="1" dirty="0">
                <a:solidFill>
                  <a:srgbClr val="FFFFFF"/>
                </a:solidFill>
                <a:latin typeface="Calibri" pitchFamily="34" charset="0"/>
                <a:ea typeface="Calibri" pitchFamily="34" charset="-122"/>
                <a:cs typeface="Calibri" pitchFamily="34" charset="-120"/>
              </a:rPr>
              <a:t>BREAK</a:t>
            </a:r>
            <a:endParaRPr lang="en-US" sz="750" dirty="0"/>
          </a:p>
        </p:txBody>
      </p:sp>
      <p:sp>
        <p:nvSpPr>
          <p:cNvPr id="26" name="Shape 24"/>
          <p:cNvSpPr/>
          <p:nvPr/>
        </p:nvSpPr>
        <p:spPr>
          <a:xfrm>
            <a:off x="2734056" y="1888236"/>
            <a:ext cx="6080760" cy="347472"/>
          </a:xfrm>
          <a:prstGeom prst="rect">
            <a:avLst/>
          </a:prstGeom>
          <a:solidFill>
            <a:srgbClr val="E2E8F0"/>
          </a:solidFill>
          <a:ln w="6350">
            <a:solidFill>
              <a:srgbClr val="E2E8F0"/>
            </a:solidFill>
            <a:prstDash val="solid"/>
          </a:ln>
        </p:spPr>
      </p:sp>
      <p:sp>
        <p:nvSpPr>
          <p:cNvPr id="27" name="Text 25"/>
          <p:cNvSpPr/>
          <p:nvPr/>
        </p:nvSpPr>
        <p:spPr>
          <a:xfrm>
            <a:off x="2852928" y="1888236"/>
            <a:ext cx="5687568" cy="347472"/>
          </a:xfrm>
          <a:prstGeom prst="rect">
            <a:avLst/>
          </a:prstGeom>
          <a:noFill/>
          <a:ln/>
        </p:spPr>
        <p:txBody>
          <a:bodyPr wrap="square" lIns="0" tIns="0" rIns="0" bIns="0" rtlCol="0" anchor="ctr">
            <a:normAutofit/>
          </a:bodyPr>
          <a:lstStyle/>
          <a:p>
            <a:pPr indent="0" marL="0">
              <a:buNone/>
            </a:pPr>
            <a:r>
              <a:rPr lang="en-US" sz="980" dirty="0">
                <a:solidFill>
                  <a:srgbClr val="1E293B"/>
                </a:solidFill>
                <a:latin typeface="Calibri" pitchFamily="34" charset="0"/>
                <a:ea typeface="Calibri" pitchFamily="34" charset="-122"/>
                <a:cs typeface="Calibri" pitchFamily="34" charset="-120"/>
              </a:rPr>
              <a:t>☕ Short break</a:t>
            </a:r>
            <a:endParaRPr lang="en-US" sz="980" dirty="0"/>
          </a:p>
        </p:txBody>
      </p:sp>
      <p:sp>
        <p:nvSpPr>
          <p:cNvPr id="28" name="Shape 26"/>
          <p:cNvSpPr/>
          <p:nvPr/>
        </p:nvSpPr>
        <p:spPr>
          <a:xfrm>
            <a:off x="256032" y="2267712"/>
            <a:ext cx="1371600" cy="347472"/>
          </a:xfrm>
          <a:prstGeom prst="rect">
            <a:avLst/>
          </a:prstGeom>
          <a:solidFill>
            <a:srgbClr val="3730A3"/>
          </a:solidFill>
          <a:ln w="12700">
            <a:solidFill>
              <a:srgbClr val="3730A3">
                <a:alpha val="0"/>
              </a:srgbClr>
            </a:solidFill>
            <a:prstDash val="solid"/>
          </a:ln>
        </p:spPr>
      </p:sp>
      <p:sp>
        <p:nvSpPr>
          <p:cNvPr id="29" name="Text 27"/>
          <p:cNvSpPr/>
          <p:nvPr/>
        </p:nvSpPr>
        <p:spPr>
          <a:xfrm>
            <a:off x="256032" y="2267712"/>
            <a:ext cx="1371600" cy="347472"/>
          </a:xfrm>
          <a:prstGeom prst="rect">
            <a:avLst/>
          </a:prstGeom>
          <a:noFill/>
          <a:ln/>
        </p:spPr>
        <p:txBody>
          <a:bodyPr wrap="square" lIns="0" tIns="0" rIns="0" bIns="0" rtlCol="0" anchor="ctr">
            <a:normAutofit/>
          </a:bodyPr>
          <a:lstStyle/>
          <a:p>
            <a:pPr algn="ctr" indent="0" marL="0">
              <a:buNone/>
            </a:pPr>
            <a:r>
              <a:rPr lang="en-US" sz="750" b="1" dirty="0">
                <a:solidFill>
                  <a:srgbClr val="FFFFFF"/>
                </a:solidFill>
                <a:latin typeface="Calibri" pitchFamily="34" charset="0"/>
                <a:ea typeface="Calibri" pitchFamily="34" charset="-122"/>
                <a:cs typeface="Calibri" pitchFamily="34" charset="-120"/>
              </a:rPr>
              <a:t>11:15–12:00</a:t>
            </a:r>
            <a:endParaRPr lang="en-US" sz="750" dirty="0"/>
          </a:p>
        </p:txBody>
      </p:sp>
      <p:sp>
        <p:nvSpPr>
          <p:cNvPr id="30" name="Shape 28"/>
          <p:cNvSpPr/>
          <p:nvPr/>
        </p:nvSpPr>
        <p:spPr>
          <a:xfrm>
            <a:off x="1700784" y="2267712"/>
            <a:ext cx="960120" cy="347472"/>
          </a:xfrm>
          <a:prstGeom prst="rect">
            <a:avLst/>
          </a:prstGeom>
          <a:solidFill>
            <a:srgbClr val="3730A3">
              <a:alpha val="78000"/>
            </a:srgbClr>
          </a:solidFill>
          <a:ln w="12700">
            <a:solidFill>
              <a:srgbClr val="3730A3">
                <a:alpha val="0"/>
              </a:srgbClr>
            </a:solidFill>
            <a:prstDash val="solid"/>
          </a:ln>
        </p:spPr>
      </p:sp>
      <p:sp>
        <p:nvSpPr>
          <p:cNvPr id="31" name="Text 29"/>
          <p:cNvSpPr/>
          <p:nvPr/>
        </p:nvSpPr>
        <p:spPr>
          <a:xfrm>
            <a:off x="1700784" y="2267712"/>
            <a:ext cx="960120" cy="347472"/>
          </a:xfrm>
          <a:prstGeom prst="rect">
            <a:avLst/>
          </a:prstGeom>
          <a:noFill/>
          <a:ln/>
        </p:spPr>
        <p:txBody>
          <a:bodyPr wrap="square" lIns="0" tIns="0" rIns="0" bIns="0" rtlCol="0" anchor="ctr">
            <a:normAutofit/>
          </a:bodyPr>
          <a:lstStyle/>
          <a:p>
            <a:pPr algn="ctr" indent="0" marL="0">
              <a:buNone/>
            </a:pPr>
            <a:r>
              <a:rPr lang="en-US" sz="750" b="1" dirty="0">
                <a:solidFill>
                  <a:srgbClr val="FFFFFF"/>
                </a:solidFill>
                <a:latin typeface="Calibri" pitchFamily="34" charset="0"/>
                <a:ea typeface="Calibri" pitchFamily="34" charset="-122"/>
                <a:cs typeface="Calibri" pitchFamily="34" charset="-120"/>
              </a:rPr>
              <a:t>THEORY</a:t>
            </a:r>
            <a:endParaRPr lang="en-US" sz="750" dirty="0"/>
          </a:p>
        </p:txBody>
      </p:sp>
      <p:sp>
        <p:nvSpPr>
          <p:cNvPr id="32" name="Shape 30"/>
          <p:cNvSpPr/>
          <p:nvPr/>
        </p:nvSpPr>
        <p:spPr>
          <a:xfrm>
            <a:off x="2734056" y="2267712"/>
            <a:ext cx="6080760" cy="347472"/>
          </a:xfrm>
          <a:prstGeom prst="rect">
            <a:avLst/>
          </a:prstGeom>
          <a:solidFill>
            <a:srgbClr val="FFFFFF"/>
          </a:solidFill>
          <a:ln w="6350">
            <a:solidFill>
              <a:srgbClr val="E2E8F0"/>
            </a:solidFill>
            <a:prstDash val="solid"/>
          </a:ln>
        </p:spPr>
      </p:sp>
      <p:sp>
        <p:nvSpPr>
          <p:cNvPr id="33" name="Text 31"/>
          <p:cNvSpPr/>
          <p:nvPr/>
        </p:nvSpPr>
        <p:spPr>
          <a:xfrm>
            <a:off x="2852928" y="2267712"/>
            <a:ext cx="5687568" cy="347472"/>
          </a:xfrm>
          <a:prstGeom prst="rect">
            <a:avLst/>
          </a:prstGeom>
          <a:noFill/>
          <a:ln/>
        </p:spPr>
        <p:txBody>
          <a:bodyPr wrap="square" lIns="0" tIns="0" rIns="0" bIns="0" rtlCol="0" anchor="ctr">
            <a:normAutofit/>
          </a:bodyPr>
          <a:lstStyle/>
          <a:p>
            <a:pPr indent="0" marL="0">
              <a:buNone/>
            </a:pPr>
            <a:r>
              <a:rPr lang="en-US" sz="980" dirty="0">
                <a:solidFill>
                  <a:srgbClr val="1E293B"/>
                </a:solidFill>
                <a:latin typeface="Calibri" pitchFamily="34" charset="0"/>
                <a:ea typeface="Calibri" pitchFamily="34" charset="-122"/>
                <a:cs typeface="Calibri" pitchFamily="34" charset="-120"/>
              </a:rPr>
              <a:t>Gradient Boosting theory — residuals, learning rate, shrinkage, XGBoost architecture and key params</a:t>
            </a:r>
            <a:endParaRPr lang="en-US" sz="980" dirty="0"/>
          </a:p>
        </p:txBody>
      </p:sp>
      <p:sp>
        <p:nvSpPr>
          <p:cNvPr id="34" name="Shape 32"/>
          <p:cNvSpPr/>
          <p:nvPr/>
        </p:nvSpPr>
        <p:spPr>
          <a:xfrm>
            <a:off x="256032" y="2647188"/>
            <a:ext cx="1371600" cy="347472"/>
          </a:xfrm>
          <a:prstGeom prst="rect">
            <a:avLst/>
          </a:prstGeom>
          <a:solidFill>
            <a:srgbClr val="0D1B3E"/>
          </a:solidFill>
          <a:ln w="12700">
            <a:solidFill>
              <a:srgbClr val="0D1B3E">
                <a:alpha val="0"/>
              </a:srgbClr>
            </a:solidFill>
            <a:prstDash val="solid"/>
          </a:ln>
        </p:spPr>
      </p:sp>
      <p:sp>
        <p:nvSpPr>
          <p:cNvPr id="35" name="Text 33"/>
          <p:cNvSpPr/>
          <p:nvPr/>
        </p:nvSpPr>
        <p:spPr>
          <a:xfrm>
            <a:off x="256032" y="2647188"/>
            <a:ext cx="1371600" cy="347472"/>
          </a:xfrm>
          <a:prstGeom prst="rect">
            <a:avLst/>
          </a:prstGeom>
          <a:noFill/>
          <a:ln/>
        </p:spPr>
        <p:txBody>
          <a:bodyPr wrap="square" lIns="0" tIns="0" rIns="0" bIns="0" rtlCol="0" anchor="ctr">
            <a:normAutofit/>
          </a:bodyPr>
          <a:lstStyle/>
          <a:p>
            <a:pPr algn="ctr" indent="0" marL="0">
              <a:buNone/>
            </a:pPr>
            <a:r>
              <a:rPr lang="en-US" sz="750" b="1" dirty="0">
                <a:solidFill>
                  <a:srgbClr val="FFFFFF"/>
                </a:solidFill>
                <a:latin typeface="Calibri" pitchFamily="34" charset="0"/>
                <a:ea typeface="Calibri" pitchFamily="34" charset="-122"/>
                <a:cs typeface="Calibri" pitchFamily="34" charset="-120"/>
              </a:rPr>
              <a:t>12:00–12:45</a:t>
            </a:r>
            <a:endParaRPr lang="en-US" sz="750" dirty="0"/>
          </a:p>
        </p:txBody>
      </p:sp>
      <p:sp>
        <p:nvSpPr>
          <p:cNvPr id="36" name="Shape 34"/>
          <p:cNvSpPr/>
          <p:nvPr/>
        </p:nvSpPr>
        <p:spPr>
          <a:xfrm>
            <a:off x="1700784" y="2647188"/>
            <a:ext cx="960120" cy="347472"/>
          </a:xfrm>
          <a:prstGeom prst="rect">
            <a:avLst/>
          </a:prstGeom>
          <a:solidFill>
            <a:srgbClr val="0D1B3E">
              <a:alpha val="78000"/>
            </a:srgbClr>
          </a:solidFill>
          <a:ln w="12700">
            <a:solidFill>
              <a:srgbClr val="0D1B3E">
                <a:alpha val="0"/>
              </a:srgbClr>
            </a:solidFill>
            <a:prstDash val="solid"/>
          </a:ln>
        </p:spPr>
      </p:sp>
      <p:sp>
        <p:nvSpPr>
          <p:cNvPr id="37" name="Text 35"/>
          <p:cNvSpPr/>
          <p:nvPr/>
        </p:nvSpPr>
        <p:spPr>
          <a:xfrm>
            <a:off x="1700784" y="2647188"/>
            <a:ext cx="960120" cy="347472"/>
          </a:xfrm>
          <a:prstGeom prst="rect">
            <a:avLst/>
          </a:prstGeom>
          <a:noFill/>
          <a:ln/>
        </p:spPr>
        <p:txBody>
          <a:bodyPr wrap="square" lIns="0" tIns="0" rIns="0" bIns="0" rtlCol="0" anchor="ctr">
            <a:normAutofit/>
          </a:bodyPr>
          <a:lstStyle/>
          <a:p>
            <a:pPr algn="ctr" indent="0" marL="0">
              <a:buNone/>
            </a:pPr>
            <a:r>
              <a:rPr lang="en-US" sz="750" b="1" dirty="0">
                <a:solidFill>
                  <a:srgbClr val="FFFFFF"/>
                </a:solidFill>
                <a:latin typeface="Calibri" pitchFamily="34" charset="0"/>
                <a:ea typeface="Calibri" pitchFamily="34" charset="-122"/>
                <a:cs typeface="Calibri" pitchFamily="34" charset="-120"/>
              </a:rPr>
              <a:t>THEORY</a:t>
            </a:r>
            <a:endParaRPr lang="en-US" sz="750" dirty="0"/>
          </a:p>
        </p:txBody>
      </p:sp>
      <p:sp>
        <p:nvSpPr>
          <p:cNvPr id="38" name="Shape 36"/>
          <p:cNvSpPr/>
          <p:nvPr/>
        </p:nvSpPr>
        <p:spPr>
          <a:xfrm>
            <a:off x="2734056" y="2647188"/>
            <a:ext cx="6080760" cy="347472"/>
          </a:xfrm>
          <a:prstGeom prst="rect">
            <a:avLst/>
          </a:prstGeom>
          <a:solidFill>
            <a:srgbClr val="FFFFFF"/>
          </a:solidFill>
          <a:ln w="6350">
            <a:solidFill>
              <a:srgbClr val="E2E8F0"/>
            </a:solidFill>
            <a:prstDash val="solid"/>
          </a:ln>
        </p:spPr>
      </p:sp>
      <p:sp>
        <p:nvSpPr>
          <p:cNvPr id="39" name="Text 37"/>
          <p:cNvSpPr/>
          <p:nvPr/>
        </p:nvSpPr>
        <p:spPr>
          <a:xfrm>
            <a:off x="2852928" y="2647188"/>
            <a:ext cx="5687568" cy="347472"/>
          </a:xfrm>
          <a:prstGeom prst="rect">
            <a:avLst/>
          </a:prstGeom>
          <a:noFill/>
          <a:ln/>
        </p:spPr>
        <p:txBody>
          <a:bodyPr wrap="square" lIns="0" tIns="0" rIns="0" bIns="0" rtlCol="0" anchor="ctr">
            <a:normAutofit/>
          </a:bodyPr>
          <a:lstStyle/>
          <a:p>
            <a:pPr indent="0" marL="0">
              <a:buNone/>
            </a:pPr>
            <a:r>
              <a:rPr lang="en-US" sz="980" dirty="0">
                <a:solidFill>
                  <a:srgbClr val="1E293B"/>
                </a:solidFill>
                <a:latin typeface="Calibri" pitchFamily="34" charset="0"/>
                <a:ea typeface="Calibri" pitchFamily="34" charset="-122"/>
                <a:cs typeface="Calibri" pitchFamily="34" charset="-120"/>
              </a:rPr>
              <a:t>Feature Engineering for ML — encoding, scaling, interaction terms, binning, target encoding, leakage</a:t>
            </a:r>
            <a:endParaRPr lang="en-US" sz="980" dirty="0"/>
          </a:p>
        </p:txBody>
      </p:sp>
      <p:sp>
        <p:nvSpPr>
          <p:cNvPr id="40" name="Shape 38"/>
          <p:cNvSpPr/>
          <p:nvPr/>
        </p:nvSpPr>
        <p:spPr>
          <a:xfrm>
            <a:off x="256032" y="3026664"/>
            <a:ext cx="1371600" cy="347472"/>
          </a:xfrm>
          <a:prstGeom prst="rect">
            <a:avLst/>
          </a:prstGeom>
          <a:solidFill>
            <a:srgbClr val="64748B"/>
          </a:solidFill>
          <a:ln w="12700">
            <a:solidFill>
              <a:srgbClr val="64748B">
                <a:alpha val="0"/>
              </a:srgbClr>
            </a:solidFill>
            <a:prstDash val="solid"/>
          </a:ln>
        </p:spPr>
      </p:sp>
      <p:sp>
        <p:nvSpPr>
          <p:cNvPr id="41" name="Text 39"/>
          <p:cNvSpPr/>
          <p:nvPr/>
        </p:nvSpPr>
        <p:spPr>
          <a:xfrm>
            <a:off x="256032" y="3026664"/>
            <a:ext cx="1371600" cy="347472"/>
          </a:xfrm>
          <a:prstGeom prst="rect">
            <a:avLst/>
          </a:prstGeom>
          <a:noFill/>
          <a:ln/>
        </p:spPr>
        <p:txBody>
          <a:bodyPr wrap="square" lIns="0" tIns="0" rIns="0" bIns="0" rtlCol="0" anchor="ctr">
            <a:normAutofit/>
          </a:bodyPr>
          <a:lstStyle/>
          <a:p>
            <a:pPr algn="ctr" indent="0" marL="0">
              <a:buNone/>
            </a:pPr>
            <a:r>
              <a:rPr lang="en-US" sz="750" b="1" dirty="0">
                <a:solidFill>
                  <a:srgbClr val="FFFFFF"/>
                </a:solidFill>
                <a:latin typeface="Calibri" pitchFamily="34" charset="0"/>
                <a:ea typeface="Calibri" pitchFamily="34" charset="-122"/>
                <a:cs typeface="Calibri" pitchFamily="34" charset="-120"/>
              </a:rPr>
              <a:t>12:45–1:30</a:t>
            </a:r>
            <a:endParaRPr lang="en-US" sz="750" dirty="0"/>
          </a:p>
        </p:txBody>
      </p:sp>
      <p:sp>
        <p:nvSpPr>
          <p:cNvPr id="42" name="Shape 40"/>
          <p:cNvSpPr/>
          <p:nvPr/>
        </p:nvSpPr>
        <p:spPr>
          <a:xfrm>
            <a:off x="1700784" y="3026664"/>
            <a:ext cx="960120" cy="347472"/>
          </a:xfrm>
          <a:prstGeom prst="rect">
            <a:avLst/>
          </a:prstGeom>
          <a:solidFill>
            <a:srgbClr val="64748B">
              <a:alpha val="78000"/>
            </a:srgbClr>
          </a:solidFill>
          <a:ln w="12700">
            <a:solidFill>
              <a:srgbClr val="64748B">
                <a:alpha val="0"/>
              </a:srgbClr>
            </a:solidFill>
            <a:prstDash val="solid"/>
          </a:ln>
        </p:spPr>
      </p:sp>
      <p:sp>
        <p:nvSpPr>
          <p:cNvPr id="43" name="Text 41"/>
          <p:cNvSpPr/>
          <p:nvPr/>
        </p:nvSpPr>
        <p:spPr>
          <a:xfrm>
            <a:off x="1700784" y="3026664"/>
            <a:ext cx="960120" cy="347472"/>
          </a:xfrm>
          <a:prstGeom prst="rect">
            <a:avLst/>
          </a:prstGeom>
          <a:noFill/>
          <a:ln/>
        </p:spPr>
        <p:txBody>
          <a:bodyPr wrap="square" lIns="0" tIns="0" rIns="0" bIns="0" rtlCol="0" anchor="ctr">
            <a:normAutofit/>
          </a:bodyPr>
          <a:lstStyle/>
          <a:p>
            <a:pPr algn="ctr" indent="0" marL="0">
              <a:buNone/>
            </a:pPr>
            <a:r>
              <a:rPr lang="en-US" sz="750" b="1" dirty="0">
                <a:solidFill>
                  <a:srgbClr val="FFFFFF"/>
                </a:solidFill>
                <a:latin typeface="Calibri" pitchFamily="34" charset="0"/>
                <a:ea typeface="Calibri" pitchFamily="34" charset="-122"/>
                <a:cs typeface="Calibri" pitchFamily="34" charset="-120"/>
              </a:rPr>
              <a:t>LUNCH</a:t>
            </a:r>
            <a:endParaRPr lang="en-US" sz="750" dirty="0"/>
          </a:p>
        </p:txBody>
      </p:sp>
      <p:sp>
        <p:nvSpPr>
          <p:cNvPr id="44" name="Shape 42"/>
          <p:cNvSpPr/>
          <p:nvPr/>
        </p:nvSpPr>
        <p:spPr>
          <a:xfrm>
            <a:off x="2734056" y="3026664"/>
            <a:ext cx="6080760" cy="347472"/>
          </a:xfrm>
          <a:prstGeom prst="rect">
            <a:avLst/>
          </a:prstGeom>
          <a:solidFill>
            <a:srgbClr val="E2E8F0"/>
          </a:solidFill>
          <a:ln w="6350">
            <a:solidFill>
              <a:srgbClr val="E2E8F0"/>
            </a:solidFill>
            <a:prstDash val="solid"/>
          </a:ln>
        </p:spPr>
      </p:sp>
      <p:sp>
        <p:nvSpPr>
          <p:cNvPr id="45" name="Text 43"/>
          <p:cNvSpPr/>
          <p:nvPr/>
        </p:nvSpPr>
        <p:spPr>
          <a:xfrm>
            <a:off x="2852928" y="3026664"/>
            <a:ext cx="5687568" cy="347472"/>
          </a:xfrm>
          <a:prstGeom prst="rect">
            <a:avLst/>
          </a:prstGeom>
          <a:noFill/>
          <a:ln/>
        </p:spPr>
        <p:txBody>
          <a:bodyPr wrap="square" lIns="0" tIns="0" rIns="0" bIns="0" rtlCol="0" anchor="ctr">
            <a:normAutofit/>
          </a:bodyPr>
          <a:lstStyle/>
          <a:p>
            <a:pPr indent="0" marL="0">
              <a:buNone/>
            </a:pPr>
            <a:r>
              <a:rPr lang="en-US" sz="980" dirty="0">
                <a:solidFill>
                  <a:srgbClr val="1E293B"/>
                </a:solidFill>
                <a:latin typeface="Calibri" pitchFamily="34" charset="0"/>
                <a:ea typeface="Calibri" pitchFamily="34" charset="-122"/>
                <a:cs typeface="Calibri" pitchFamily="34" charset="-120"/>
              </a:rPr>
              <a:t>🍱 Lunch break</a:t>
            </a:r>
            <a:endParaRPr lang="en-US" sz="980" dirty="0"/>
          </a:p>
        </p:txBody>
      </p:sp>
      <p:sp>
        <p:nvSpPr>
          <p:cNvPr id="46" name="Shape 44"/>
          <p:cNvSpPr/>
          <p:nvPr/>
        </p:nvSpPr>
        <p:spPr>
          <a:xfrm>
            <a:off x="256032" y="3406140"/>
            <a:ext cx="1371600" cy="347472"/>
          </a:xfrm>
          <a:prstGeom prst="rect">
            <a:avLst/>
          </a:prstGeom>
          <a:solidFill>
            <a:srgbClr val="9F1239"/>
          </a:solidFill>
          <a:ln w="12700">
            <a:solidFill>
              <a:srgbClr val="9F1239">
                <a:alpha val="0"/>
              </a:srgbClr>
            </a:solidFill>
            <a:prstDash val="solid"/>
          </a:ln>
        </p:spPr>
      </p:sp>
      <p:sp>
        <p:nvSpPr>
          <p:cNvPr id="47" name="Text 45"/>
          <p:cNvSpPr/>
          <p:nvPr/>
        </p:nvSpPr>
        <p:spPr>
          <a:xfrm>
            <a:off x="256032" y="3406140"/>
            <a:ext cx="1371600" cy="347472"/>
          </a:xfrm>
          <a:prstGeom prst="rect">
            <a:avLst/>
          </a:prstGeom>
          <a:noFill/>
          <a:ln/>
        </p:spPr>
        <p:txBody>
          <a:bodyPr wrap="square" lIns="0" tIns="0" rIns="0" bIns="0" rtlCol="0" anchor="ctr">
            <a:normAutofit/>
          </a:bodyPr>
          <a:lstStyle/>
          <a:p>
            <a:pPr algn="ctr" indent="0" marL="0">
              <a:buNone/>
            </a:pPr>
            <a:r>
              <a:rPr lang="en-US" sz="750" b="1" dirty="0">
                <a:solidFill>
                  <a:srgbClr val="FFFFFF"/>
                </a:solidFill>
                <a:latin typeface="Calibri" pitchFamily="34" charset="0"/>
                <a:ea typeface="Calibri" pitchFamily="34" charset="-122"/>
                <a:cs typeface="Calibri" pitchFamily="34" charset="-120"/>
              </a:rPr>
              <a:t>1:30–2:15</a:t>
            </a:r>
            <a:endParaRPr lang="en-US" sz="750" dirty="0"/>
          </a:p>
        </p:txBody>
      </p:sp>
      <p:sp>
        <p:nvSpPr>
          <p:cNvPr id="48" name="Shape 46"/>
          <p:cNvSpPr/>
          <p:nvPr/>
        </p:nvSpPr>
        <p:spPr>
          <a:xfrm>
            <a:off x="1700784" y="3406140"/>
            <a:ext cx="960120" cy="347472"/>
          </a:xfrm>
          <a:prstGeom prst="rect">
            <a:avLst/>
          </a:prstGeom>
          <a:solidFill>
            <a:srgbClr val="9F1239">
              <a:alpha val="78000"/>
            </a:srgbClr>
          </a:solidFill>
          <a:ln w="12700">
            <a:solidFill>
              <a:srgbClr val="9F1239">
                <a:alpha val="0"/>
              </a:srgbClr>
            </a:solidFill>
            <a:prstDash val="solid"/>
          </a:ln>
        </p:spPr>
      </p:sp>
      <p:sp>
        <p:nvSpPr>
          <p:cNvPr id="49" name="Text 47"/>
          <p:cNvSpPr/>
          <p:nvPr/>
        </p:nvSpPr>
        <p:spPr>
          <a:xfrm>
            <a:off x="1700784" y="3406140"/>
            <a:ext cx="960120" cy="347472"/>
          </a:xfrm>
          <a:prstGeom prst="rect">
            <a:avLst/>
          </a:prstGeom>
          <a:noFill/>
          <a:ln/>
        </p:spPr>
        <p:txBody>
          <a:bodyPr wrap="square" lIns="0" tIns="0" rIns="0" bIns="0" rtlCol="0" anchor="ctr">
            <a:normAutofit/>
          </a:bodyPr>
          <a:lstStyle/>
          <a:p>
            <a:pPr algn="ctr" indent="0" marL="0">
              <a:buNone/>
            </a:pPr>
            <a:r>
              <a:rPr lang="en-US" sz="750" b="1" dirty="0">
                <a:solidFill>
                  <a:srgbClr val="FFFFFF"/>
                </a:solidFill>
                <a:latin typeface="Calibri" pitchFamily="34" charset="0"/>
                <a:ea typeface="Calibri" pitchFamily="34" charset="-122"/>
                <a:cs typeface="Calibri" pitchFamily="34" charset="-120"/>
              </a:rPr>
              <a:t>THEORY</a:t>
            </a:r>
            <a:endParaRPr lang="en-US" sz="750" dirty="0"/>
          </a:p>
        </p:txBody>
      </p:sp>
      <p:sp>
        <p:nvSpPr>
          <p:cNvPr id="50" name="Shape 48"/>
          <p:cNvSpPr/>
          <p:nvPr/>
        </p:nvSpPr>
        <p:spPr>
          <a:xfrm>
            <a:off x="2734056" y="3406140"/>
            <a:ext cx="6080760" cy="347472"/>
          </a:xfrm>
          <a:prstGeom prst="rect">
            <a:avLst/>
          </a:prstGeom>
          <a:solidFill>
            <a:srgbClr val="FFFFFF"/>
          </a:solidFill>
          <a:ln w="6350">
            <a:solidFill>
              <a:srgbClr val="E2E8F0"/>
            </a:solidFill>
            <a:prstDash val="solid"/>
          </a:ln>
        </p:spPr>
      </p:sp>
      <p:sp>
        <p:nvSpPr>
          <p:cNvPr id="51" name="Text 49"/>
          <p:cNvSpPr/>
          <p:nvPr/>
        </p:nvSpPr>
        <p:spPr>
          <a:xfrm>
            <a:off x="2852928" y="3406140"/>
            <a:ext cx="5687568" cy="347472"/>
          </a:xfrm>
          <a:prstGeom prst="rect">
            <a:avLst/>
          </a:prstGeom>
          <a:noFill/>
          <a:ln/>
        </p:spPr>
        <p:txBody>
          <a:bodyPr wrap="square" lIns="0" tIns="0" rIns="0" bIns="0" rtlCol="0" anchor="ctr">
            <a:normAutofit/>
          </a:bodyPr>
          <a:lstStyle/>
          <a:p>
            <a:pPr indent="0" marL="0">
              <a:buNone/>
            </a:pPr>
            <a:r>
              <a:rPr lang="en-US" sz="980" dirty="0">
                <a:solidFill>
                  <a:srgbClr val="1E293B"/>
                </a:solidFill>
                <a:latin typeface="Calibri" pitchFamily="34" charset="0"/>
                <a:ea typeface="Calibri" pitchFamily="34" charset="-122"/>
                <a:cs typeface="Calibri" pitchFamily="34" charset="-120"/>
              </a:rPr>
              <a:t>Advanced Evaluation — ROC curve anatomy, Precision-Recall curve, calibration, class imbalance strategies</a:t>
            </a:r>
            <a:endParaRPr lang="en-US" sz="980" dirty="0"/>
          </a:p>
        </p:txBody>
      </p:sp>
      <p:sp>
        <p:nvSpPr>
          <p:cNvPr id="52" name="Shape 50"/>
          <p:cNvSpPr/>
          <p:nvPr/>
        </p:nvSpPr>
        <p:spPr>
          <a:xfrm>
            <a:off x="256032" y="3785616"/>
            <a:ext cx="1371600" cy="347472"/>
          </a:xfrm>
          <a:prstGeom prst="rect">
            <a:avLst/>
          </a:prstGeom>
          <a:solidFill>
            <a:srgbClr val="0891B2"/>
          </a:solidFill>
          <a:ln w="12700">
            <a:solidFill>
              <a:srgbClr val="0891B2">
                <a:alpha val="0"/>
              </a:srgbClr>
            </a:solidFill>
            <a:prstDash val="solid"/>
          </a:ln>
        </p:spPr>
      </p:sp>
      <p:sp>
        <p:nvSpPr>
          <p:cNvPr id="53" name="Text 51"/>
          <p:cNvSpPr/>
          <p:nvPr/>
        </p:nvSpPr>
        <p:spPr>
          <a:xfrm>
            <a:off x="256032" y="3785616"/>
            <a:ext cx="1371600" cy="347472"/>
          </a:xfrm>
          <a:prstGeom prst="rect">
            <a:avLst/>
          </a:prstGeom>
          <a:noFill/>
          <a:ln/>
        </p:spPr>
        <p:txBody>
          <a:bodyPr wrap="square" lIns="0" tIns="0" rIns="0" bIns="0" rtlCol="0" anchor="ctr">
            <a:normAutofit/>
          </a:bodyPr>
          <a:lstStyle/>
          <a:p>
            <a:pPr algn="ctr" indent="0" marL="0">
              <a:buNone/>
            </a:pPr>
            <a:r>
              <a:rPr lang="en-US" sz="750" b="1" dirty="0">
                <a:solidFill>
                  <a:srgbClr val="FFFFFF"/>
                </a:solidFill>
                <a:latin typeface="Calibri" pitchFamily="34" charset="0"/>
                <a:ea typeface="Calibri" pitchFamily="34" charset="-122"/>
                <a:cs typeface="Calibri" pitchFamily="34" charset="-120"/>
              </a:rPr>
              <a:t>2:15–3:00</a:t>
            </a:r>
            <a:endParaRPr lang="en-US" sz="750" dirty="0"/>
          </a:p>
        </p:txBody>
      </p:sp>
      <p:sp>
        <p:nvSpPr>
          <p:cNvPr id="54" name="Shape 52"/>
          <p:cNvSpPr/>
          <p:nvPr/>
        </p:nvSpPr>
        <p:spPr>
          <a:xfrm>
            <a:off x="1700784" y="3785616"/>
            <a:ext cx="960120" cy="347472"/>
          </a:xfrm>
          <a:prstGeom prst="rect">
            <a:avLst/>
          </a:prstGeom>
          <a:solidFill>
            <a:srgbClr val="0891B2">
              <a:alpha val="78000"/>
            </a:srgbClr>
          </a:solidFill>
          <a:ln w="12700">
            <a:solidFill>
              <a:srgbClr val="0891B2">
                <a:alpha val="0"/>
              </a:srgbClr>
            </a:solidFill>
            <a:prstDash val="solid"/>
          </a:ln>
        </p:spPr>
      </p:sp>
      <p:sp>
        <p:nvSpPr>
          <p:cNvPr id="55" name="Text 53"/>
          <p:cNvSpPr/>
          <p:nvPr/>
        </p:nvSpPr>
        <p:spPr>
          <a:xfrm>
            <a:off x="1700784" y="3785616"/>
            <a:ext cx="960120" cy="347472"/>
          </a:xfrm>
          <a:prstGeom prst="rect">
            <a:avLst/>
          </a:prstGeom>
          <a:noFill/>
          <a:ln/>
        </p:spPr>
        <p:txBody>
          <a:bodyPr wrap="square" lIns="0" tIns="0" rIns="0" bIns="0" rtlCol="0" anchor="ctr">
            <a:normAutofit/>
          </a:bodyPr>
          <a:lstStyle/>
          <a:p>
            <a:pPr algn="ctr" indent="0" marL="0">
              <a:buNone/>
            </a:pPr>
            <a:r>
              <a:rPr lang="en-US" sz="750" b="1" dirty="0">
                <a:solidFill>
                  <a:srgbClr val="FFFFFF"/>
                </a:solidFill>
                <a:latin typeface="Calibri" pitchFamily="34" charset="0"/>
                <a:ea typeface="Calibri" pitchFamily="34" charset="-122"/>
                <a:cs typeface="Calibri" pitchFamily="34" charset="-120"/>
              </a:rPr>
              <a:t>PRACTICE</a:t>
            </a:r>
            <a:endParaRPr lang="en-US" sz="750" dirty="0"/>
          </a:p>
        </p:txBody>
      </p:sp>
      <p:sp>
        <p:nvSpPr>
          <p:cNvPr id="56" name="Shape 54"/>
          <p:cNvSpPr/>
          <p:nvPr/>
        </p:nvSpPr>
        <p:spPr>
          <a:xfrm>
            <a:off x="2734056" y="3785616"/>
            <a:ext cx="6080760" cy="347472"/>
          </a:xfrm>
          <a:prstGeom prst="rect">
            <a:avLst/>
          </a:prstGeom>
          <a:solidFill>
            <a:srgbClr val="FFFFFF"/>
          </a:solidFill>
          <a:ln w="6350">
            <a:solidFill>
              <a:srgbClr val="E2E8F0"/>
            </a:solidFill>
            <a:prstDash val="solid"/>
          </a:ln>
        </p:spPr>
      </p:sp>
      <p:sp>
        <p:nvSpPr>
          <p:cNvPr id="57" name="Text 55"/>
          <p:cNvSpPr/>
          <p:nvPr/>
        </p:nvSpPr>
        <p:spPr>
          <a:xfrm>
            <a:off x="2852928" y="3785616"/>
            <a:ext cx="5687568" cy="347472"/>
          </a:xfrm>
          <a:prstGeom prst="rect">
            <a:avLst/>
          </a:prstGeom>
          <a:noFill/>
          <a:ln/>
        </p:spPr>
        <p:txBody>
          <a:bodyPr wrap="square" lIns="0" tIns="0" rIns="0" bIns="0" rtlCol="0" anchor="ctr">
            <a:normAutofit/>
          </a:bodyPr>
          <a:lstStyle/>
          <a:p>
            <a:pPr indent="0" marL="0">
              <a:buNone/>
            </a:pPr>
            <a:r>
              <a:rPr lang="en-US" sz="980" dirty="0">
                <a:solidFill>
                  <a:srgbClr val="1E293B"/>
                </a:solidFill>
                <a:latin typeface="Calibri" pitchFamily="34" charset="0"/>
                <a:ea typeface="Calibri" pitchFamily="34" charset="-122"/>
                <a:cs typeface="Calibri" pitchFamily="34" charset="-120"/>
              </a:rPr>
              <a:t>LIVE CODE: Train RF + XGBoost on healthcare data · Compare all 4 models · Feature importance analysis</a:t>
            </a:r>
            <a:endParaRPr lang="en-US" sz="980" dirty="0"/>
          </a:p>
        </p:txBody>
      </p:sp>
      <p:sp>
        <p:nvSpPr>
          <p:cNvPr id="58" name="Shape 56"/>
          <p:cNvSpPr/>
          <p:nvPr/>
        </p:nvSpPr>
        <p:spPr>
          <a:xfrm>
            <a:off x="256032" y="4165092"/>
            <a:ext cx="1371600" cy="347472"/>
          </a:xfrm>
          <a:prstGeom prst="rect">
            <a:avLst/>
          </a:prstGeom>
          <a:solidFill>
            <a:srgbClr val="059669"/>
          </a:solidFill>
          <a:ln w="12700">
            <a:solidFill>
              <a:srgbClr val="059669">
                <a:alpha val="0"/>
              </a:srgbClr>
            </a:solidFill>
            <a:prstDash val="solid"/>
          </a:ln>
        </p:spPr>
      </p:sp>
      <p:sp>
        <p:nvSpPr>
          <p:cNvPr id="59" name="Text 57"/>
          <p:cNvSpPr/>
          <p:nvPr/>
        </p:nvSpPr>
        <p:spPr>
          <a:xfrm>
            <a:off x="256032" y="4165092"/>
            <a:ext cx="1371600" cy="347472"/>
          </a:xfrm>
          <a:prstGeom prst="rect">
            <a:avLst/>
          </a:prstGeom>
          <a:noFill/>
          <a:ln/>
        </p:spPr>
        <p:txBody>
          <a:bodyPr wrap="square" lIns="0" tIns="0" rIns="0" bIns="0" rtlCol="0" anchor="ctr">
            <a:normAutofit/>
          </a:bodyPr>
          <a:lstStyle/>
          <a:p>
            <a:pPr algn="ctr" indent="0" marL="0">
              <a:buNone/>
            </a:pPr>
            <a:r>
              <a:rPr lang="en-US" sz="750" b="1" dirty="0">
                <a:solidFill>
                  <a:srgbClr val="FFFFFF"/>
                </a:solidFill>
                <a:latin typeface="Calibri" pitchFamily="34" charset="0"/>
                <a:ea typeface="Calibri" pitchFamily="34" charset="-122"/>
                <a:cs typeface="Calibri" pitchFamily="34" charset="-120"/>
              </a:rPr>
              <a:t>3:00–4:00</a:t>
            </a:r>
            <a:endParaRPr lang="en-US" sz="750" dirty="0"/>
          </a:p>
        </p:txBody>
      </p:sp>
      <p:sp>
        <p:nvSpPr>
          <p:cNvPr id="60" name="Shape 58"/>
          <p:cNvSpPr/>
          <p:nvPr/>
        </p:nvSpPr>
        <p:spPr>
          <a:xfrm>
            <a:off x="1700784" y="4165092"/>
            <a:ext cx="960120" cy="347472"/>
          </a:xfrm>
          <a:prstGeom prst="rect">
            <a:avLst/>
          </a:prstGeom>
          <a:solidFill>
            <a:srgbClr val="059669">
              <a:alpha val="78000"/>
            </a:srgbClr>
          </a:solidFill>
          <a:ln w="12700">
            <a:solidFill>
              <a:srgbClr val="059669">
                <a:alpha val="0"/>
              </a:srgbClr>
            </a:solidFill>
            <a:prstDash val="solid"/>
          </a:ln>
        </p:spPr>
      </p:sp>
      <p:sp>
        <p:nvSpPr>
          <p:cNvPr id="61" name="Text 59"/>
          <p:cNvSpPr/>
          <p:nvPr/>
        </p:nvSpPr>
        <p:spPr>
          <a:xfrm>
            <a:off x="1700784" y="4165092"/>
            <a:ext cx="960120" cy="347472"/>
          </a:xfrm>
          <a:prstGeom prst="rect">
            <a:avLst/>
          </a:prstGeom>
          <a:noFill/>
          <a:ln/>
        </p:spPr>
        <p:txBody>
          <a:bodyPr wrap="square" lIns="0" tIns="0" rIns="0" bIns="0" rtlCol="0" anchor="ctr">
            <a:normAutofit/>
          </a:bodyPr>
          <a:lstStyle/>
          <a:p>
            <a:pPr algn="ctr" indent="0" marL="0">
              <a:buNone/>
            </a:pPr>
            <a:r>
              <a:rPr lang="en-US" sz="750" b="1" dirty="0">
                <a:solidFill>
                  <a:srgbClr val="FFFFFF"/>
                </a:solidFill>
                <a:latin typeface="Calibri" pitchFamily="34" charset="0"/>
                <a:ea typeface="Calibri" pitchFamily="34" charset="-122"/>
                <a:cs typeface="Calibri" pitchFamily="34" charset="-120"/>
              </a:rPr>
              <a:t>LAB</a:t>
            </a:r>
            <a:endParaRPr lang="en-US" sz="750" dirty="0"/>
          </a:p>
        </p:txBody>
      </p:sp>
      <p:sp>
        <p:nvSpPr>
          <p:cNvPr id="62" name="Shape 60"/>
          <p:cNvSpPr/>
          <p:nvPr/>
        </p:nvSpPr>
        <p:spPr>
          <a:xfrm>
            <a:off x="2734056" y="4165092"/>
            <a:ext cx="6080760" cy="347472"/>
          </a:xfrm>
          <a:prstGeom prst="rect">
            <a:avLst/>
          </a:prstGeom>
          <a:solidFill>
            <a:srgbClr val="FFFFFF"/>
          </a:solidFill>
          <a:ln w="6350">
            <a:solidFill>
              <a:srgbClr val="E2E8F0"/>
            </a:solidFill>
            <a:prstDash val="solid"/>
          </a:ln>
        </p:spPr>
      </p:sp>
      <p:sp>
        <p:nvSpPr>
          <p:cNvPr id="63" name="Text 61"/>
          <p:cNvSpPr/>
          <p:nvPr/>
        </p:nvSpPr>
        <p:spPr>
          <a:xfrm>
            <a:off x="2852928" y="4165092"/>
            <a:ext cx="5687568" cy="347472"/>
          </a:xfrm>
          <a:prstGeom prst="rect">
            <a:avLst/>
          </a:prstGeom>
          <a:noFill/>
          <a:ln/>
        </p:spPr>
        <p:txBody>
          <a:bodyPr wrap="square" lIns="0" tIns="0" rIns="0" bIns="0" rtlCol="0" anchor="ctr">
            <a:normAutofit/>
          </a:bodyPr>
          <a:lstStyle/>
          <a:p>
            <a:pPr indent="0" marL="0">
              <a:buNone/>
            </a:pPr>
            <a:r>
              <a:rPr lang="en-US" sz="980" dirty="0">
                <a:solidFill>
                  <a:srgbClr val="1E293B"/>
                </a:solidFill>
                <a:latin typeface="Calibri" pitchFamily="34" charset="0"/>
                <a:ea typeface="Calibri" pitchFamily="34" charset="-122"/>
                <a:cs typeface="Calibri" pitchFamily="34" charset="-120"/>
              </a:rPr>
              <a:t>🧪 LAB 6: Patient Readmission Predictor — RF vs XGBoost + full evaluation + export best model</a:t>
            </a:r>
            <a:endParaRPr lang="en-US" sz="980" dirty="0"/>
          </a:p>
        </p:txBody>
      </p:sp>
      <p:sp>
        <p:nvSpPr>
          <p:cNvPr id="64" name="Shape 62"/>
          <p:cNvSpPr/>
          <p:nvPr/>
        </p:nvSpPr>
        <p:spPr>
          <a:xfrm>
            <a:off x="256032" y="4544568"/>
            <a:ext cx="1371600" cy="347472"/>
          </a:xfrm>
          <a:prstGeom prst="rect">
            <a:avLst/>
          </a:prstGeom>
          <a:solidFill>
            <a:srgbClr val="D97706"/>
          </a:solidFill>
          <a:ln w="12700">
            <a:solidFill>
              <a:srgbClr val="D97706">
                <a:alpha val="0"/>
              </a:srgbClr>
            </a:solidFill>
            <a:prstDash val="solid"/>
          </a:ln>
        </p:spPr>
      </p:sp>
      <p:sp>
        <p:nvSpPr>
          <p:cNvPr id="65" name="Text 63"/>
          <p:cNvSpPr/>
          <p:nvPr/>
        </p:nvSpPr>
        <p:spPr>
          <a:xfrm>
            <a:off x="256032" y="4544568"/>
            <a:ext cx="1371600" cy="347472"/>
          </a:xfrm>
          <a:prstGeom prst="rect">
            <a:avLst/>
          </a:prstGeom>
          <a:noFill/>
          <a:ln/>
        </p:spPr>
        <p:txBody>
          <a:bodyPr wrap="square" lIns="0" tIns="0" rIns="0" bIns="0" rtlCol="0" anchor="ctr">
            <a:normAutofit/>
          </a:bodyPr>
          <a:lstStyle/>
          <a:p>
            <a:pPr algn="ctr" indent="0" marL="0">
              <a:buNone/>
            </a:pPr>
            <a:r>
              <a:rPr lang="en-US" sz="750" b="1" dirty="0">
                <a:solidFill>
                  <a:srgbClr val="FFFFFF"/>
                </a:solidFill>
                <a:latin typeface="Calibri" pitchFamily="34" charset="0"/>
                <a:ea typeface="Calibri" pitchFamily="34" charset="-122"/>
                <a:cs typeface="Calibri" pitchFamily="34" charset="-120"/>
              </a:rPr>
              <a:t>4:00–4:15</a:t>
            </a:r>
            <a:endParaRPr lang="en-US" sz="750" dirty="0"/>
          </a:p>
        </p:txBody>
      </p:sp>
      <p:sp>
        <p:nvSpPr>
          <p:cNvPr id="66" name="Shape 64"/>
          <p:cNvSpPr/>
          <p:nvPr/>
        </p:nvSpPr>
        <p:spPr>
          <a:xfrm>
            <a:off x="1700784" y="4544568"/>
            <a:ext cx="960120" cy="347472"/>
          </a:xfrm>
          <a:prstGeom prst="rect">
            <a:avLst/>
          </a:prstGeom>
          <a:solidFill>
            <a:srgbClr val="D97706">
              <a:alpha val="78000"/>
            </a:srgbClr>
          </a:solidFill>
          <a:ln w="12700">
            <a:solidFill>
              <a:srgbClr val="D97706">
                <a:alpha val="0"/>
              </a:srgbClr>
            </a:solidFill>
            <a:prstDash val="solid"/>
          </a:ln>
        </p:spPr>
      </p:sp>
      <p:sp>
        <p:nvSpPr>
          <p:cNvPr id="67" name="Text 65"/>
          <p:cNvSpPr/>
          <p:nvPr/>
        </p:nvSpPr>
        <p:spPr>
          <a:xfrm>
            <a:off x="1700784" y="4544568"/>
            <a:ext cx="960120" cy="347472"/>
          </a:xfrm>
          <a:prstGeom prst="rect">
            <a:avLst/>
          </a:prstGeom>
          <a:noFill/>
          <a:ln/>
        </p:spPr>
        <p:txBody>
          <a:bodyPr wrap="square" lIns="0" tIns="0" rIns="0" bIns="0" rtlCol="0" anchor="ctr">
            <a:normAutofit/>
          </a:bodyPr>
          <a:lstStyle/>
          <a:p>
            <a:pPr algn="ctr" indent="0" marL="0">
              <a:buNone/>
            </a:pPr>
            <a:r>
              <a:rPr lang="en-US" sz="750" b="1" dirty="0">
                <a:solidFill>
                  <a:srgbClr val="FFFFFF"/>
                </a:solidFill>
                <a:latin typeface="Calibri" pitchFamily="34" charset="0"/>
                <a:ea typeface="Calibri" pitchFamily="34" charset="-122"/>
                <a:cs typeface="Calibri" pitchFamily="34" charset="-120"/>
              </a:rPr>
              <a:t>RECAP</a:t>
            </a:r>
            <a:endParaRPr lang="en-US" sz="750" dirty="0"/>
          </a:p>
        </p:txBody>
      </p:sp>
      <p:sp>
        <p:nvSpPr>
          <p:cNvPr id="68" name="Shape 66"/>
          <p:cNvSpPr/>
          <p:nvPr/>
        </p:nvSpPr>
        <p:spPr>
          <a:xfrm>
            <a:off x="2734056" y="4544568"/>
            <a:ext cx="6080760" cy="347472"/>
          </a:xfrm>
          <a:prstGeom prst="rect">
            <a:avLst/>
          </a:prstGeom>
          <a:solidFill>
            <a:srgbClr val="FFFFFF"/>
          </a:solidFill>
          <a:ln w="6350">
            <a:solidFill>
              <a:srgbClr val="E2E8F0"/>
            </a:solidFill>
            <a:prstDash val="solid"/>
          </a:ln>
        </p:spPr>
      </p:sp>
      <p:sp>
        <p:nvSpPr>
          <p:cNvPr id="69" name="Text 67"/>
          <p:cNvSpPr/>
          <p:nvPr/>
        </p:nvSpPr>
        <p:spPr>
          <a:xfrm>
            <a:off x="2852928" y="4544568"/>
            <a:ext cx="5687568" cy="347472"/>
          </a:xfrm>
          <a:prstGeom prst="rect">
            <a:avLst/>
          </a:prstGeom>
          <a:noFill/>
          <a:ln/>
        </p:spPr>
        <p:txBody>
          <a:bodyPr wrap="square" lIns="0" tIns="0" rIns="0" bIns="0" rtlCol="0" anchor="ctr">
            <a:normAutofit/>
          </a:bodyPr>
          <a:lstStyle/>
          <a:p>
            <a:pPr indent="0" marL="0">
              <a:buNone/>
            </a:pPr>
            <a:r>
              <a:rPr lang="en-US" sz="980" dirty="0">
                <a:solidFill>
                  <a:srgbClr val="1E293B"/>
                </a:solidFill>
                <a:latin typeface="Calibri" pitchFamily="34" charset="0"/>
                <a:ea typeface="Calibri" pitchFamily="34" charset="-122"/>
                <a:cs typeface="Calibri" pitchFamily="34" charset="-120"/>
              </a:rPr>
              <a:t>Walkthrough · GitHub commit · Day 7 preview: Unsupervised ML — Clustering + PCA</a:t>
            </a:r>
            <a:endParaRPr lang="en-US" sz="98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9F0"/>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7C3AED"/>
          </a:solidFill>
          <a:ln w="12700">
            <a:solidFill>
              <a:srgbClr val="7C3AED">
                <a:alpha val="0"/>
              </a:srgbClr>
            </a:solidFill>
            <a:prstDash val="solid"/>
          </a:ln>
        </p:spPr>
      </p:sp>
      <p:sp>
        <p:nvSpPr>
          <p:cNvPr id="3" name="Text 1"/>
          <p:cNvSpPr/>
          <p:nvPr/>
        </p:nvSpPr>
        <p:spPr>
          <a:xfrm>
            <a:off x="347472" y="0"/>
            <a:ext cx="8458200" cy="640080"/>
          </a:xfrm>
          <a:prstGeom prst="rect">
            <a:avLst/>
          </a:prstGeom>
          <a:noFill/>
          <a:ln/>
        </p:spPr>
        <p:txBody>
          <a:bodyPr wrap="square" lIns="0" tIns="0" rIns="0" bIns="0" rtlCol="0" anchor="ctr">
            <a:normAutofit/>
          </a:bodyPr>
          <a:lstStyle/>
          <a:p>
            <a:pPr indent="0" marL="0">
              <a:buNone/>
            </a:pPr>
            <a:r>
              <a:rPr lang="en-US" sz="1400" b="1" spc="100" kern="0" dirty="0">
                <a:solidFill>
                  <a:srgbClr val="FFFFFF"/>
                </a:solidFill>
                <a:latin typeface="Calibri" pitchFamily="34" charset="0"/>
                <a:ea typeface="Calibri" pitchFamily="34" charset="-122"/>
                <a:cs typeface="Calibri" pitchFamily="34" charset="-120"/>
              </a:rPr>
              <a:t>BRIDGE: WHY SINGLE MODELS AREN'T ENOUGH</a:t>
            </a:r>
            <a:endParaRPr lang="en-US" sz="1400" dirty="0"/>
          </a:p>
        </p:txBody>
      </p:sp>
      <p:sp>
        <p:nvSpPr>
          <p:cNvPr id="4" name="Text 2"/>
          <p:cNvSpPr/>
          <p:nvPr/>
        </p:nvSpPr>
        <p:spPr>
          <a:xfrm>
            <a:off x="347472" y="667512"/>
            <a:ext cx="8458200" cy="256032"/>
          </a:xfrm>
          <a:prstGeom prst="rect">
            <a:avLst/>
          </a:prstGeom>
          <a:noFill/>
          <a:ln/>
        </p:spPr>
        <p:txBody>
          <a:bodyPr wrap="square" lIns="0" tIns="0" rIns="0" bIns="0" rtlCol="0" anchor="ctr">
            <a:normAutofit/>
          </a:bodyPr>
          <a:lstStyle/>
          <a:p>
            <a:pPr indent="0" marL="0">
              <a:buNone/>
            </a:pPr>
            <a:r>
              <a:rPr lang="en-US" sz="1000" i="1" dirty="0">
                <a:solidFill>
                  <a:srgbClr val="64748B"/>
                </a:solidFill>
                <a:latin typeface="Calibri" pitchFamily="34" charset="0"/>
                <a:ea typeface="Calibri" pitchFamily="34" charset="-122"/>
                <a:cs typeface="Calibri" pitchFamily="34" charset="-120"/>
              </a:rPr>
              <a:t>Day 5 gave you LR and Decision Trees — powerful, but they have hard limits we need to understand before going further</a:t>
            </a:r>
            <a:endParaRPr lang="en-US" sz="1000" dirty="0"/>
          </a:p>
        </p:txBody>
      </p:sp>
      <p:sp>
        <p:nvSpPr>
          <p:cNvPr id="5" name="Shape 3"/>
          <p:cNvSpPr/>
          <p:nvPr/>
        </p:nvSpPr>
        <p:spPr>
          <a:xfrm>
            <a:off x="256032" y="969264"/>
            <a:ext cx="2816352" cy="3931920"/>
          </a:xfrm>
          <a:prstGeom prst="rect">
            <a:avLst/>
          </a:prstGeom>
          <a:solidFill>
            <a:srgbClr val="FFFFFF"/>
          </a:solidFill>
          <a:ln w="10160">
            <a:solidFill>
              <a:srgbClr val="E2E8F0"/>
            </a:solidFill>
            <a:prstDash val="solid"/>
          </a:ln>
          <a:effectLst>
            <a:outerShdw sx="100000" sy="100000" kx="0" ky="0" algn="bl" rotWithShape="0" blurRad="101600" dist="38100" dir="8100000">
              <a:srgbClr val="000000">
                <a:alpha val="10000"/>
              </a:srgbClr>
            </a:outerShdw>
          </a:effectLst>
        </p:spPr>
      </p:sp>
      <p:sp>
        <p:nvSpPr>
          <p:cNvPr id="6" name="Shape 4"/>
          <p:cNvSpPr/>
          <p:nvPr/>
        </p:nvSpPr>
        <p:spPr>
          <a:xfrm>
            <a:off x="256032" y="969264"/>
            <a:ext cx="2816352" cy="402336"/>
          </a:xfrm>
          <a:prstGeom prst="rect">
            <a:avLst/>
          </a:prstGeom>
          <a:solidFill>
            <a:srgbClr val="1A56DB"/>
          </a:solidFill>
          <a:ln w="12700">
            <a:solidFill>
              <a:srgbClr val="1A56DB">
                <a:alpha val="0"/>
              </a:srgbClr>
            </a:solidFill>
            <a:prstDash val="solid"/>
          </a:ln>
        </p:spPr>
      </p:sp>
      <p:sp>
        <p:nvSpPr>
          <p:cNvPr id="7" name="Text 5"/>
          <p:cNvSpPr/>
          <p:nvPr/>
        </p:nvSpPr>
        <p:spPr>
          <a:xfrm>
            <a:off x="365760" y="969264"/>
            <a:ext cx="2596896" cy="402336"/>
          </a:xfrm>
          <a:prstGeom prst="rect">
            <a:avLst/>
          </a:prstGeom>
          <a:noFill/>
          <a:ln/>
        </p:spPr>
        <p:txBody>
          <a:bodyPr wrap="square" lIns="0" tIns="0" rIns="0" bIns="0" rtlCol="0" anchor="ctr">
            <a:normAutofit/>
          </a:bodyPr>
          <a:lstStyle/>
          <a:p>
            <a:pPr indent="0" marL="0">
              <a:buNone/>
            </a:pPr>
            <a:r>
              <a:rPr lang="en-US" sz="1100" b="1" dirty="0">
                <a:solidFill>
                  <a:srgbClr val="FFFFFF"/>
                </a:solidFill>
                <a:latin typeface="Calibri" pitchFamily="34" charset="0"/>
                <a:ea typeface="Calibri" pitchFamily="34" charset="-122"/>
                <a:cs typeface="Calibri" pitchFamily="34" charset="-120"/>
              </a:rPr>
              <a:t>Logistic Regression Limits</a:t>
            </a:r>
            <a:endParaRPr lang="en-US" sz="1100" dirty="0"/>
          </a:p>
        </p:txBody>
      </p:sp>
      <p:sp>
        <p:nvSpPr>
          <p:cNvPr id="8" name="Shape 6"/>
          <p:cNvSpPr/>
          <p:nvPr/>
        </p:nvSpPr>
        <p:spPr>
          <a:xfrm>
            <a:off x="365760" y="1481328"/>
            <a:ext cx="128016" cy="128016"/>
          </a:xfrm>
          <a:prstGeom prst="ellipse">
            <a:avLst/>
          </a:prstGeom>
          <a:solidFill>
            <a:srgbClr val="1A56DB"/>
          </a:solidFill>
          <a:ln w="12700">
            <a:solidFill>
              <a:srgbClr val="1A56DB">
                <a:alpha val="0"/>
              </a:srgbClr>
            </a:solidFill>
            <a:prstDash val="solid"/>
          </a:ln>
        </p:spPr>
      </p:sp>
      <p:sp>
        <p:nvSpPr>
          <p:cNvPr id="9" name="Text 7"/>
          <p:cNvSpPr/>
          <p:nvPr/>
        </p:nvSpPr>
        <p:spPr>
          <a:xfrm>
            <a:off x="548640" y="1444752"/>
            <a:ext cx="2414016" cy="566928"/>
          </a:xfrm>
          <a:prstGeom prst="rect">
            <a:avLst/>
          </a:prstGeom>
          <a:noFill/>
          <a:ln/>
        </p:spPr>
        <p:txBody>
          <a:bodyPr wrap="square" lIns="0" tIns="0" rIns="0" bIns="0" rtlCol="0" anchor="ctr">
            <a:normAutofit/>
          </a:bodyPr>
          <a:lstStyle/>
          <a:p>
            <a:pPr indent="0" marL="0">
              <a:buNone/>
            </a:pPr>
            <a:r>
              <a:rPr lang="en-US" sz="950" dirty="0">
                <a:solidFill>
                  <a:srgbClr val="1E293B"/>
                </a:solidFill>
                <a:latin typeface="Calibri" pitchFamily="34" charset="0"/>
                <a:ea typeface="Calibri" pitchFamily="34" charset="-122"/>
                <a:cs typeface="Calibri" pitchFamily="34" charset="-120"/>
              </a:rPr>
              <a:t>Assumes linear decision boundary — fails on complex, non-linear patterns</a:t>
            </a:r>
            <a:endParaRPr lang="en-US" sz="950" dirty="0"/>
          </a:p>
        </p:txBody>
      </p:sp>
      <p:sp>
        <p:nvSpPr>
          <p:cNvPr id="10" name="Shape 8"/>
          <p:cNvSpPr/>
          <p:nvPr/>
        </p:nvSpPr>
        <p:spPr>
          <a:xfrm>
            <a:off x="365760" y="2139696"/>
            <a:ext cx="128016" cy="128016"/>
          </a:xfrm>
          <a:prstGeom prst="ellipse">
            <a:avLst/>
          </a:prstGeom>
          <a:solidFill>
            <a:srgbClr val="1A56DB"/>
          </a:solidFill>
          <a:ln w="12700">
            <a:solidFill>
              <a:srgbClr val="1A56DB">
                <a:alpha val="0"/>
              </a:srgbClr>
            </a:solidFill>
            <a:prstDash val="solid"/>
          </a:ln>
        </p:spPr>
      </p:sp>
      <p:sp>
        <p:nvSpPr>
          <p:cNvPr id="11" name="Text 9"/>
          <p:cNvSpPr/>
          <p:nvPr/>
        </p:nvSpPr>
        <p:spPr>
          <a:xfrm>
            <a:off x="548640" y="2103120"/>
            <a:ext cx="2414016" cy="566928"/>
          </a:xfrm>
          <a:prstGeom prst="rect">
            <a:avLst/>
          </a:prstGeom>
          <a:noFill/>
          <a:ln/>
        </p:spPr>
        <p:txBody>
          <a:bodyPr wrap="square" lIns="0" tIns="0" rIns="0" bIns="0" rtlCol="0" anchor="ctr">
            <a:normAutofit/>
          </a:bodyPr>
          <a:lstStyle/>
          <a:p>
            <a:pPr indent="0" marL="0">
              <a:buNone/>
            </a:pPr>
            <a:r>
              <a:rPr lang="en-US" sz="950" dirty="0">
                <a:solidFill>
                  <a:srgbClr val="1E293B"/>
                </a:solidFill>
                <a:latin typeface="Calibri" pitchFamily="34" charset="0"/>
                <a:ea typeface="Calibri" pitchFamily="34" charset="-122"/>
                <a:cs typeface="Calibri" pitchFamily="34" charset="-120"/>
              </a:rPr>
              <a:t>Feature interactions not captured automatically — must engineer them manually</a:t>
            </a:r>
            <a:endParaRPr lang="en-US" sz="950" dirty="0"/>
          </a:p>
        </p:txBody>
      </p:sp>
      <p:sp>
        <p:nvSpPr>
          <p:cNvPr id="12" name="Shape 10"/>
          <p:cNvSpPr/>
          <p:nvPr/>
        </p:nvSpPr>
        <p:spPr>
          <a:xfrm>
            <a:off x="365760" y="2798064"/>
            <a:ext cx="128016" cy="128016"/>
          </a:xfrm>
          <a:prstGeom prst="ellipse">
            <a:avLst/>
          </a:prstGeom>
          <a:solidFill>
            <a:srgbClr val="1A56DB"/>
          </a:solidFill>
          <a:ln w="12700">
            <a:solidFill>
              <a:srgbClr val="1A56DB">
                <a:alpha val="0"/>
              </a:srgbClr>
            </a:solidFill>
            <a:prstDash val="solid"/>
          </a:ln>
        </p:spPr>
      </p:sp>
      <p:sp>
        <p:nvSpPr>
          <p:cNvPr id="13" name="Text 11"/>
          <p:cNvSpPr/>
          <p:nvPr/>
        </p:nvSpPr>
        <p:spPr>
          <a:xfrm>
            <a:off x="548640" y="2761488"/>
            <a:ext cx="2414016" cy="566928"/>
          </a:xfrm>
          <a:prstGeom prst="rect">
            <a:avLst/>
          </a:prstGeom>
          <a:noFill/>
          <a:ln/>
        </p:spPr>
        <p:txBody>
          <a:bodyPr wrap="square" lIns="0" tIns="0" rIns="0" bIns="0" rtlCol="0" anchor="ctr">
            <a:normAutofit/>
          </a:bodyPr>
          <a:lstStyle/>
          <a:p>
            <a:pPr indent="0" marL="0">
              <a:buNone/>
            </a:pPr>
            <a:r>
              <a:rPr lang="en-US" sz="950" dirty="0">
                <a:solidFill>
                  <a:srgbClr val="1E293B"/>
                </a:solidFill>
                <a:latin typeface="Calibri" pitchFamily="34" charset="0"/>
                <a:ea typeface="Calibri" pitchFamily="34" charset="-122"/>
                <a:cs typeface="Calibri" pitchFamily="34" charset="-120"/>
              </a:rPr>
              <a:t>Cannot model XOR-type relationships in the feature space</a:t>
            </a:r>
            <a:endParaRPr lang="en-US" sz="950" dirty="0"/>
          </a:p>
        </p:txBody>
      </p:sp>
      <p:sp>
        <p:nvSpPr>
          <p:cNvPr id="14" name="Shape 12"/>
          <p:cNvSpPr/>
          <p:nvPr/>
        </p:nvSpPr>
        <p:spPr>
          <a:xfrm>
            <a:off x="365760" y="3456432"/>
            <a:ext cx="128016" cy="128016"/>
          </a:xfrm>
          <a:prstGeom prst="ellipse">
            <a:avLst/>
          </a:prstGeom>
          <a:solidFill>
            <a:srgbClr val="1A56DB"/>
          </a:solidFill>
          <a:ln w="12700">
            <a:solidFill>
              <a:srgbClr val="1A56DB">
                <a:alpha val="0"/>
              </a:srgbClr>
            </a:solidFill>
            <a:prstDash val="solid"/>
          </a:ln>
        </p:spPr>
      </p:sp>
      <p:sp>
        <p:nvSpPr>
          <p:cNvPr id="15" name="Text 13"/>
          <p:cNvSpPr/>
          <p:nvPr/>
        </p:nvSpPr>
        <p:spPr>
          <a:xfrm>
            <a:off x="548640" y="3419856"/>
            <a:ext cx="2414016" cy="566928"/>
          </a:xfrm>
          <a:prstGeom prst="rect">
            <a:avLst/>
          </a:prstGeom>
          <a:noFill/>
          <a:ln/>
        </p:spPr>
        <p:txBody>
          <a:bodyPr wrap="square" lIns="0" tIns="0" rIns="0" bIns="0" rtlCol="0" anchor="ctr">
            <a:normAutofit/>
          </a:bodyPr>
          <a:lstStyle/>
          <a:p>
            <a:pPr indent="0" marL="0">
              <a:buNone/>
            </a:pPr>
            <a:r>
              <a:rPr lang="en-US" sz="950" dirty="0">
                <a:solidFill>
                  <a:srgbClr val="1E293B"/>
                </a:solidFill>
                <a:latin typeface="Calibri" pitchFamily="34" charset="0"/>
                <a:ea typeface="Calibri" pitchFamily="34" charset="-122"/>
                <a:cs typeface="Calibri" pitchFamily="34" charset="-120"/>
              </a:rPr>
              <a:t>Requires careful feature scaling — magnitude-sensitive</a:t>
            </a:r>
            <a:endParaRPr lang="en-US" sz="950" dirty="0"/>
          </a:p>
        </p:txBody>
      </p:sp>
      <p:sp>
        <p:nvSpPr>
          <p:cNvPr id="16" name="Shape 14"/>
          <p:cNvSpPr/>
          <p:nvPr/>
        </p:nvSpPr>
        <p:spPr>
          <a:xfrm>
            <a:off x="3200400" y="969264"/>
            <a:ext cx="2816352" cy="3931920"/>
          </a:xfrm>
          <a:prstGeom prst="rect">
            <a:avLst/>
          </a:prstGeom>
          <a:solidFill>
            <a:srgbClr val="FFFFFF"/>
          </a:solidFill>
          <a:ln w="10160">
            <a:solidFill>
              <a:srgbClr val="E2E8F0"/>
            </a:solidFill>
            <a:prstDash val="solid"/>
          </a:ln>
          <a:effectLst>
            <a:outerShdw sx="100000" sy="100000" kx="0" ky="0" algn="bl" rotWithShape="0" blurRad="101600" dist="38100" dir="8100000">
              <a:srgbClr val="000000">
                <a:alpha val="10000"/>
              </a:srgbClr>
            </a:outerShdw>
          </a:effectLst>
        </p:spPr>
      </p:sp>
      <p:sp>
        <p:nvSpPr>
          <p:cNvPr id="17" name="Shape 15"/>
          <p:cNvSpPr/>
          <p:nvPr/>
        </p:nvSpPr>
        <p:spPr>
          <a:xfrm>
            <a:off x="3200400" y="969264"/>
            <a:ext cx="2816352" cy="402336"/>
          </a:xfrm>
          <a:prstGeom prst="rect">
            <a:avLst/>
          </a:prstGeom>
          <a:solidFill>
            <a:srgbClr val="D97706"/>
          </a:solidFill>
          <a:ln w="12700">
            <a:solidFill>
              <a:srgbClr val="D97706">
                <a:alpha val="0"/>
              </a:srgbClr>
            </a:solidFill>
            <a:prstDash val="solid"/>
          </a:ln>
        </p:spPr>
      </p:sp>
      <p:sp>
        <p:nvSpPr>
          <p:cNvPr id="18" name="Text 16"/>
          <p:cNvSpPr/>
          <p:nvPr/>
        </p:nvSpPr>
        <p:spPr>
          <a:xfrm>
            <a:off x="3310128" y="969264"/>
            <a:ext cx="2596896" cy="402336"/>
          </a:xfrm>
          <a:prstGeom prst="rect">
            <a:avLst/>
          </a:prstGeom>
          <a:noFill/>
          <a:ln/>
        </p:spPr>
        <p:txBody>
          <a:bodyPr wrap="square" lIns="0" tIns="0" rIns="0" bIns="0" rtlCol="0" anchor="ctr">
            <a:normAutofit/>
          </a:bodyPr>
          <a:lstStyle/>
          <a:p>
            <a:pPr indent="0" marL="0">
              <a:buNone/>
            </a:pPr>
            <a:r>
              <a:rPr lang="en-US" sz="1100" b="1" dirty="0">
                <a:solidFill>
                  <a:srgbClr val="FFFFFF"/>
                </a:solidFill>
                <a:latin typeface="Calibri" pitchFamily="34" charset="0"/>
                <a:ea typeface="Calibri" pitchFamily="34" charset="-122"/>
                <a:cs typeface="Calibri" pitchFamily="34" charset="-120"/>
              </a:rPr>
              <a:t>Decision Tree Limits</a:t>
            </a:r>
            <a:endParaRPr lang="en-US" sz="1100" dirty="0"/>
          </a:p>
        </p:txBody>
      </p:sp>
      <p:sp>
        <p:nvSpPr>
          <p:cNvPr id="19" name="Shape 17"/>
          <p:cNvSpPr/>
          <p:nvPr/>
        </p:nvSpPr>
        <p:spPr>
          <a:xfrm>
            <a:off x="3310128" y="1481328"/>
            <a:ext cx="128016" cy="128016"/>
          </a:xfrm>
          <a:prstGeom prst="ellipse">
            <a:avLst/>
          </a:prstGeom>
          <a:solidFill>
            <a:srgbClr val="D97706"/>
          </a:solidFill>
          <a:ln w="12700">
            <a:solidFill>
              <a:srgbClr val="D97706">
                <a:alpha val="0"/>
              </a:srgbClr>
            </a:solidFill>
            <a:prstDash val="solid"/>
          </a:ln>
        </p:spPr>
      </p:sp>
      <p:sp>
        <p:nvSpPr>
          <p:cNvPr id="20" name="Text 18"/>
          <p:cNvSpPr/>
          <p:nvPr/>
        </p:nvSpPr>
        <p:spPr>
          <a:xfrm>
            <a:off x="3493008" y="1444752"/>
            <a:ext cx="2414016" cy="566928"/>
          </a:xfrm>
          <a:prstGeom prst="rect">
            <a:avLst/>
          </a:prstGeom>
          <a:noFill/>
          <a:ln/>
        </p:spPr>
        <p:txBody>
          <a:bodyPr wrap="square" lIns="0" tIns="0" rIns="0" bIns="0" rtlCol="0" anchor="ctr">
            <a:normAutofit/>
          </a:bodyPr>
          <a:lstStyle/>
          <a:p>
            <a:pPr indent="0" marL="0">
              <a:buNone/>
            </a:pPr>
            <a:r>
              <a:rPr lang="en-US" sz="950" dirty="0">
                <a:solidFill>
                  <a:srgbClr val="1E293B"/>
                </a:solidFill>
                <a:latin typeface="Calibri" pitchFamily="34" charset="0"/>
                <a:ea typeface="Calibri" pitchFamily="34" charset="-122"/>
                <a:cs typeface="Calibri" pitchFamily="34" charset="-120"/>
              </a:rPr>
              <a:t>Extremely sensitive to training data — small change → completely different tree</a:t>
            </a:r>
            <a:endParaRPr lang="en-US" sz="950" dirty="0"/>
          </a:p>
        </p:txBody>
      </p:sp>
      <p:sp>
        <p:nvSpPr>
          <p:cNvPr id="21" name="Shape 19"/>
          <p:cNvSpPr/>
          <p:nvPr/>
        </p:nvSpPr>
        <p:spPr>
          <a:xfrm>
            <a:off x="3310128" y="2139696"/>
            <a:ext cx="128016" cy="128016"/>
          </a:xfrm>
          <a:prstGeom prst="ellipse">
            <a:avLst/>
          </a:prstGeom>
          <a:solidFill>
            <a:srgbClr val="D97706"/>
          </a:solidFill>
          <a:ln w="12700">
            <a:solidFill>
              <a:srgbClr val="D97706">
                <a:alpha val="0"/>
              </a:srgbClr>
            </a:solidFill>
            <a:prstDash val="solid"/>
          </a:ln>
        </p:spPr>
      </p:sp>
      <p:sp>
        <p:nvSpPr>
          <p:cNvPr id="22" name="Text 20"/>
          <p:cNvSpPr/>
          <p:nvPr/>
        </p:nvSpPr>
        <p:spPr>
          <a:xfrm>
            <a:off x="3493008" y="2103120"/>
            <a:ext cx="2414016" cy="566928"/>
          </a:xfrm>
          <a:prstGeom prst="rect">
            <a:avLst/>
          </a:prstGeom>
          <a:noFill/>
          <a:ln/>
        </p:spPr>
        <p:txBody>
          <a:bodyPr wrap="square" lIns="0" tIns="0" rIns="0" bIns="0" rtlCol="0" anchor="ctr">
            <a:normAutofit/>
          </a:bodyPr>
          <a:lstStyle/>
          <a:p>
            <a:pPr indent="0" marL="0">
              <a:buNone/>
            </a:pPr>
            <a:r>
              <a:rPr lang="en-US" sz="950" dirty="0">
                <a:solidFill>
                  <a:srgbClr val="1E293B"/>
                </a:solidFill>
                <a:latin typeface="Calibri" pitchFamily="34" charset="0"/>
                <a:ea typeface="Calibri" pitchFamily="34" charset="-122"/>
                <a:cs typeface="Calibri" pitchFamily="34" charset="-120"/>
              </a:rPr>
              <a:t>Unstable: high variance, low bias when deep</a:t>
            </a:r>
            <a:endParaRPr lang="en-US" sz="950" dirty="0"/>
          </a:p>
        </p:txBody>
      </p:sp>
      <p:sp>
        <p:nvSpPr>
          <p:cNvPr id="23" name="Shape 21"/>
          <p:cNvSpPr/>
          <p:nvPr/>
        </p:nvSpPr>
        <p:spPr>
          <a:xfrm>
            <a:off x="3310128" y="2798064"/>
            <a:ext cx="128016" cy="128016"/>
          </a:xfrm>
          <a:prstGeom prst="ellipse">
            <a:avLst/>
          </a:prstGeom>
          <a:solidFill>
            <a:srgbClr val="D97706"/>
          </a:solidFill>
          <a:ln w="12700">
            <a:solidFill>
              <a:srgbClr val="D97706">
                <a:alpha val="0"/>
              </a:srgbClr>
            </a:solidFill>
            <a:prstDash val="solid"/>
          </a:ln>
        </p:spPr>
      </p:sp>
      <p:sp>
        <p:nvSpPr>
          <p:cNvPr id="24" name="Text 22"/>
          <p:cNvSpPr/>
          <p:nvPr/>
        </p:nvSpPr>
        <p:spPr>
          <a:xfrm>
            <a:off x="3493008" y="2761488"/>
            <a:ext cx="2414016" cy="566928"/>
          </a:xfrm>
          <a:prstGeom prst="rect">
            <a:avLst/>
          </a:prstGeom>
          <a:noFill/>
          <a:ln/>
        </p:spPr>
        <p:txBody>
          <a:bodyPr wrap="square" lIns="0" tIns="0" rIns="0" bIns="0" rtlCol="0" anchor="ctr">
            <a:normAutofit/>
          </a:bodyPr>
          <a:lstStyle/>
          <a:p>
            <a:pPr indent="0" marL="0">
              <a:buNone/>
            </a:pPr>
            <a:r>
              <a:rPr lang="en-US" sz="950" dirty="0">
                <a:solidFill>
                  <a:srgbClr val="1E293B"/>
                </a:solidFill>
                <a:latin typeface="Calibri" pitchFamily="34" charset="0"/>
                <a:ea typeface="Calibri" pitchFamily="34" charset="-122"/>
                <a:cs typeface="Calibri" pitchFamily="34" charset="-120"/>
              </a:rPr>
              <a:t>Tends to overfit unless heavily pruned — pruning hurts performance</a:t>
            </a:r>
            <a:endParaRPr lang="en-US" sz="950" dirty="0"/>
          </a:p>
        </p:txBody>
      </p:sp>
      <p:sp>
        <p:nvSpPr>
          <p:cNvPr id="25" name="Shape 23"/>
          <p:cNvSpPr/>
          <p:nvPr/>
        </p:nvSpPr>
        <p:spPr>
          <a:xfrm>
            <a:off x="3310128" y="3456432"/>
            <a:ext cx="128016" cy="128016"/>
          </a:xfrm>
          <a:prstGeom prst="ellipse">
            <a:avLst/>
          </a:prstGeom>
          <a:solidFill>
            <a:srgbClr val="D97706"/>
          </a:solidFill>
          <a:ln w="12700">
            <a:solidFill>
              <a:srgbClr val="D97706">
                <a:alpha val="0"/>
              </a:srgbClr>
            </a:solidFill>
            <a:prstDash val="solid"/>
          </a:ln>
        </p:spPr>
      </p:sp>
      <p:sp>
        <p:nvSpPr>
          <p:cNvPr id="26" name="Text 24"/>
          <p:cNvSpPr/>
          <p:nvPr/>
        </p:nvSpPr>
        <p:spPr>
          <a:xfrm>
            <a:off x="3493008" y="3419856"/>
            <a:ext cx="2414016" cy="566928"/>
          </a:xfrm>
          <a:prstGeom prst="rect">
            <a:avLst/>
          </a:prstGeom>
          <a:noFill/>
          <a:ln/>
        </p:spPr>
        <p:txBody>
          <a:bodyPr wrap="square" lIns="0" tIns="0" rIns="0" bIns="0" rtlCol="0" anchor="ctr">
            <a:normAutofit/>
          </a:bodyPr>
          <a:lstStyle/>
          <a:p>
            <a:pPr indent="0" marL="0">
              <a:buNone/>
            </a:pPr>
            <a:r>
              <a:rPr lang="en-US" sz="950" dirty="0">
                <a:solidFill>
                  <a:srgbClr val="1E293B"/>
                </a:solidFill>
                <a:latin typeface="Calibri" pitchFamily="34" charset="0"/>
                <a:ea typeface="Calibri" pitchFamily="34" charset="-122"/>
                <a:cs typeface="Calibri" pitchFamily="34" charset="-120"/>
              </a:rPr>
              <a:t>Axis-aligned splits only — diagonal boundaries need many splits</a:t>
            </a:r>
            <a:endParaRPr lang="en-US" sz="950" dirty="0"/>
          </a:p>
        </p:txBody>
      </p:sp>
      <p:sp>
        <p:nvSpPr>
          <p:cNvPr id="27" name="Shape 25"/>
          <p:cNvSpPr/>
          <p:nvPr/>
        </p:nvSpPr>
        <p:spPr>
          <a:xfrm>
            <a:off x="6144768" y="969264"/>
            <a:ext cx="2816352" cy="3931920"/>
          </a:xfrm>
          <a:prstGeom prst="rect">
            <a:avLst/>
          </a:prstGeom>
          <a:solidFill>
            <a:srgbClr val="FFFFFF"/>
          </a:solidFill>
          <a:ln w="10160">
            <a:solidFill>
              <a:srgbClr val="E2E8F0"/>
            </a:solidFill>
            <a:prstDash val="solid"/>
          </a:ln>
          <a:effectLst>
            <a:outerShdw sx="100000" sy="100000" kx="0" ky="0" algn="bl" rotWithShape="0" blurRad="101600" dist="38100" dir="8100000">
              <a:srgbClr val="000000">
                <a:alpha val="10000"/>
              </a:srgbClr>
            </a:outerShdw>
          </a:effectLst>
        </p:spPr>
      </p:sp>
      <p:sp>
        <p:nvSpPr>
          <p:cNvPr id="28" name="Shape 26"/>
          <p:cNvSpPr/>
          <p:nvPr/>
        </p:nvSpPr>
        <p:spPr>
          <a:xfrm>
            <a:off x="6144768" y="969264"/>
            <a:ext cx="2816352" cy="402336"/>
          </a:xfrm>
          <a:prstGeom prst="rect">
            <a:avLst/>
          </a:prstGeom>
          <a:solidFill>
            <a:srgbClr val="059669"/>
          </a:solidFill>
          <a:ln w="12700">
            <a:solidFill>
              <a:srgbClr val="059669">
                <a:alpha val="0"/>
              </a:srgbClr>
            </a:solidFill>
            <a:prstDash val="solid"/>
          </a:ln>
        </p:spPr>
      </p:sp>
      <p:sp>
        <p:nvSpPr>
          <p:cNvPr id="29" name="Text 27"/>
          <p:cNvSpPr/>
          <p:nvPr/>
        </p:nvSpPr>
        <p:spPr>
          <a:xfrm>
            <a:off x="6254496" y="969264"/>
            <a:ext cx="2596896" cy="402336"/>
          </a:xfrm>
          <a:prstGeom prst="rect">
            <a:avLst/>
          </a:prstGeom>
          <a:noFill/>
          <a:ln/>
        </p:spPr>
        <p:txBody>
          <a:bodyPr wrap="square" lIns="0" tIns="0" rIns="0" bIns="0" rtlCol="0" anchor="ctr">
            <a:normAutofit/>
          </a:bodyPr>
          <a:lstStyle/>
          <a:p>
            <a:pPr indent="0" marL="0">
              <a:buNone/>
            </a:pPr>
            <a:r>
              <a:rPr lang="en-US" sz="1100" b="1" dirty="0">
                <a:solidFill>
                  <a:srgbClr val="FFFFFF"/>
                </a:solidFill>
                <a:latin typeface="Calibri" pitchFamily="34" charset="0"/>
                <a:ea typeface="Calibri" pitchFamily="34" charset="-122"/>
                <a:cs typeface="Calibri" pitchFamily="34" charset="-120"/>
              </a:rPr>
              <a:t>What We Need</a:t>
            </a:r>
            <a:endParaRPr lang="en-US" sz="1100" dirty="0"/>
          </a:p>
        </p:txBody>
      </p:sp>
      <p:sp>
        <p:nvSpPr>
          <p:cNvPr id="30" name="Shape 28"/>
          <p:cNvSpPr/>
          <p:nvPr/>
        </p:nvSpPr>
        <p:spPr>
          <a:xfrm>
            <a:off x="6254496" y="1481328"/>
            <a:ext cx="128016" cy="128016"/>
          </a:xfrm>
          <a:prstGeom prst="ellipse">
            <a:avLst/>
          </a:prstGeom>
          <a:solidFill>
            <a:srgbClr val="059669"/>
          </a:solidFill>
          <a:ln w="12700">
            <a:solidFill>
              <a:srgbClr val="059669">
                <a:alpha val="0"/>
              </a:srgbClr>
            </a:solidFill>
            <a:prstDash val="solid"/>
          </a:ln>
        </p:spPr>
      </p:sp>
      <p:sp>
        <p:nvSpPr>
          <p:cNvPr id="31" name="Text 29"/>
          <p:cNvSpPr/>
          <p:nvPr/>
        </p:nvSpPr>
        <p:spPr>
          <a:xfrm>
            <a:off x="6437376" y="1444752"/>
            <a:ext cx="2414016" cy="566928"/>
          </a:xfrm>
          <a:prstGeom prst="rect">
            <a:avLst/>
          </a:prstGeom>
          <a:noFill/>
          <a:ln/>
        </p:spPr>
        <p:txBody>
          <a:bodyPr wrap="square" lIns="0" tIns="0" rIns="0" bIns="0" rtlCol="0" anchor="ctr">
            <a:normAutofit/>
          </a:bodyPr>
          <a:lstStyle/>
          <a:p>
            <a:pPr indent="0" marL="0">
              <a:buNone/>
            </a:pPr>
            <a:r>
              <a:rPr lang="en-US" sz="950" dirty="0">
                <a:solidFill>
                  <a:srgbClr val="1E293B"/>
                </a:solidFill>
                <a:latin typeface="Calibri" pitchFamily="34" charset="0"/>
                <a:ea typeface="Calibri" pitchFamily="34" charset="-122"/>
                <a:cs typeface="Calibri" pitchFamily="34" charset="-120"/>
              </a:rPr>
              <a:t>A model that handles non-linearity automatically (no feature engineering)</a:t>
            </a:r>
            <a:endParaRPr lang="en-US" sz="950" dirty="0"/>
          </a:p>
        </p:txBody>
      </p:sp>
      <p:sp>
        <p:nvSpPr>
          <p:cNvPr id="32" name="Shape 30"/>
          <p:cNvSpPr/>
          <p:nvPr/>
        </p:nvSpPr>
        <p:spPr>
          <a:xfrm>
            <a:off x="6254496" y="2139696"/>
            <a:ext cx="128016" cy="128016"/>
          </a:xfrm>
          <a:prstGeom prst="ellipse">
            <a:avLst/>
          </a:prstGeom>
          <a:solidFill>
            <a:srgbClr val="059669"/>
          </a:solidFill>
          <a:ln w="12700">
            <a:solidFill>
              <a:srgbClr val="059669">
                <a:alpha val="0"/>
              </a:srgbClr>
            </a:solidFill>
            <a:prstDash val="solid"/>
          </a:ln>
        </p:spPr>
      </p:sp>
      <p:sp>
        <p:nvSpPr>
          <p:cNvPr id="33" name="Text 31"/>
          <p:cNvSpPr/>
          <p:nvPr/>
        </p:nvSpPr>
        <p:spPr>
          <a:xfrm>
            <a:off x="6437376" y="2103120"/>
            <a:ext cx="2414016" cy="566928"/>
          </a:xfrm>
          <a:prstGeom prst="rect">
            <a:avLst/>
          </a:prstGeom>
          <a:noFill/>
          <a:ln/>
        </p:spPr>
        <p:txBody>
          <a:bodyPr wrap="square" lIns="0" tIns="0" rIns="0" bIns="0" rtlCol="0" anchor="ctr">
            <a:normAutofit/>
          </a:bodyPr>
          <a:lstStyle/>
          <a:p>
            <a:pPr indent="0" marL="0">
              <a:buNone/>
            </a:pPr>
            <a:r>
              <a:rPr lang="en-US" sz="950" dirty="0">
                <a:solidFill>
                  <a:srgbClr val="1E293B"/>
                </a:solidFill>
                <a:latin typeface="Calibri" pitchFamily="34" charset="0"/>
                <a:ea typeface="Calibri" pitchFamily="34" charset="-122"/>
                <a:cs typeface="Calibri" pitchFamily="34" charset="-120"/>
              </a:rPr>
              <a:t>Stable predictions that don't change with small data variations</a:t>
            </a:r>
            <a:endParaRPr lang="en-US" sz="950" dirty="0"/>
          </a:p>
        </p:txBody>
      </p:sp>
      <p:sp>
        <p:nvSpPr>
          <p:cNvPr id="34" name="Shape 32"/>
          <p:cNvSpPr/>
          <p:nvPr/>
        </p:nvSpPr>
        <p:spPr>
          <a:xfrm>
            <a:off x="6254496" y="2798064"/>
            <a:ext cx="128016" cy="128016"/>
          </a:xfrm>
          <a:prstGeom prst="ellipse">
            <a:avLst/>
          </a:prstGeom>
          <a:solidFill>
            <a:srgbClr val="059669"/>
          </a:solidFill>
          <a:ln w="12700">
            <a:solidFill>
              <a:srgbClr val="059669">
                <a:alpha val="0"/>
              </a:srgbClr>
            </a:solidFill>
            <a:prstDash val="solid"/>
          </a:ln>
        </p:spPr>
      </p:sp>
      <p:sp>
        <p:nvSpPr>
          <p:cNvPr id="35" name="Text 33"/>
          <p:cNvSpPr/>
          <p:nvPr/>
        </p:nvSpPr>
        <p:spPr>
          <a:xfrm>
            <a:off x="6437376" y="2761488"/>
            <a:ext cx="2414016" cy="566928"/>
          </a:xfrm>
          <a:prstGeom prst="rect">
            <a:avLst/>
          </a:prstGeom>
          <a:noFill/>
          <a:ln/>
        </p:spPr>
        <p:txBody>
          <a:bodyPr wrap="square" lIns="0" tIns="0" rIns="0" bIns="0" rtlCol="0" anchor="ctr">
            <a:normAutofit/>
          </a:bodyPr>
          <a:lstStyle/>
          <a:p>
            <a:pPr indent="0" marL="0">
              <a:buNone/>
            </a:pPr>
            <a:r>
              <a:rPr lang="en-US" sz="950" dirty="0">
                <a:solidFill>
                  <a:srgbClr val="1E293B"/>
                </a:solidFill>
                <a:latin typeface="Calibri" pitchFamily="34" charset="0"/>
                <a:ea typeface="Calibri" pitchFamily="34" charset="-122"/>
                <a:cs typeface="Calibri" pitchFamily="34" charset="-120"/>
              </a:rPr>
              <a:t>Works well out-of-the-box without extensive hyperparameter tuning</a:t>
            </a:r>
            <a:endParaRPr lang="en-US" sz="950" dirty="0"/>
          </a:p>
        </p:txBody>
      </p:sp>
      <p:sp>
        <p:nvSpPr>
          <p:cNvPr id="36" name="Shape 34"/>
          <p:cNvSpPr/>
          <p:nvPr/>
        </p:nvSpPr>
        <p:spPr>
          <a:xfrm>
            <a:off x="6254496" y="3456432"/>
            <a:ext cx="128016" cy="128016"/>
          </a:xfrm>
          <a:prstGeom prst="ellipse">
            <a:avLst/>
          </a:prstGeom>
          <a:solidFill>
            <a:srgbClr val="059669"/>
          </a:solidFill>
          <a:ln w="12700">
            <a:solidFill>
              <a:srgbClr val="059669">
                <a:alpha val="0"/>
              </a:srgbClr>
            </a:solidFill>
            <a:prstDash val="solid"/>
          </a:ln>
        </p:spPr>
      </p:sp>
      <p:sp>
        <p:nvSpPr>
          <p:cNvPr id="37" name="Text 35"/>
          <p:cNvSpPr/>
          <p:nvPr/>
        </p:nvSpPr>
        <p:spPr>
          <a:xfrm>
            <a:off x="6437376" y="3419856"/>
            <a:ext cx="2414016" cy="566928"/>
          </a:xfrm>
          <a:prstGeom prst="rect">
            <a:avLst/>
          </a:prstGeom>
          <a:noFill/>
          <a:ln/>
        </p:spPr>
        <p:txBody>
          <a:bodyPr wrap="square" lIns="0" tIns="0" rIns="0" bIns="0" rtlCol="0" anchor="ctr">
            <a:normAutofit/>
          </a:bodyPr>
          <a:lstStyle/>
          <a:p>
            <a:pPr indent="0" marL="0">
              <a:buNone/>
            </a:pPr>
            <a:r>
              <a:rPr lang="en-US" sz="950" dirty="0">
                <a:solidFill>
                  <a:srgbClr val="1E293B"/>
                </a:solidFill>
                <a:latin typeface="Calibri" pitchFamily="34" charset="0"/>
                <a:ea typeface="Calibri" pitchFamily="34" charset="-122"/>
                <a:cs typeface="Calibri" pitchFamily="34" charset="-120"/>
              </a:rPr>
              <a:t>Interpretable enough to explain to business stakeholders</a:t>
            </a:r>
            <a:endParaRPr lang="en-US" sz="950" dirty="0"/>
          </a:p>
        </p:txBody>
      </p:sp>
      <p:sp>
        <p:nvSpPr>
          <p:cNvPr id="38" name="Shape 36"/>
          <p:cNvSpPr/>
          <p:nvPr/>
        </p:nvSpPr>
        <p:spPr>
          <a:xfrm>
            <a:off x="274320" y="4754880"/>
            <a:ext cx="8595360" cy="256032"/>
          </a:xfrm>
          <a:prstGeom prst="rect">
            <a:avLst/>
          </a:prstGeom>
          <a:solidFill>
            <a:srgbClr val="F5F3FF"/>
          </a:solidFill>
          <a:ln w="12700">
            <a:solidFill>
              <a:srgbClr val="7C3AED"/>
            </a:solidFill>
            <a:prstDash val="solid"/>
          </a:ln>
        </p:spPr>
      </p:sp>
      <p:sp>
        <p:nvSpPr>
          <p:cNvPr id="39" name="Text 37"/>
          <p:cNvSpPr/>
          <p:nvPr/>
        </p:nvSpPr>
        <p:spPr>
          <a:xfrm>
            <a:off x="457200" y="4754880"/>
            <a:ext cx="8321040" cy="256032"/>
          </a:xfrm>
          <a:prstGeom prst="rect">
            <a:avLst/>
          </a:prstGeom>
          <a:noFill/>
          <a:ln/>
        </p:spPr>
        <p:txBody>
          <a:bodyPr wrap="square" lIns="0" tIns="0" rIns="0" bIns="0" rtlCol="0" anchor="ctr">
            <a:normAutofit/>
          </a:bodyPr>
          <a:lstStyle/>
          <a:p>
            <a:pPr indent="0" marL="0">
              <a:buNone/>
            </a:pPr>
            <a:r>
              <a:rPr lang="en-US" sz="900" b="1" dirty="0">
                <a:solidFill>
                  <a:srgbClr val="7C3AED"/>
                </a:solidFill>
                <a:latin typeface="Calibri" pitchFamily="34" charset="0"/>
                <a:ea typeface="Calibri" pitchFamily="34" charset="-122"/>
                <a:cs typeface="Calibri" pitchFamily="34" charset="-120"/>
              </a:rPr>
              <a:t>Solution: Ensembles. Combine many weak models → one strong model. Two main strategies: Bagging (Random Forest) and Boosting (XGBoost). Today covers both deeply.</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9F0"/>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1B3E"/>
          </a:solidFill>
          <a:ln w="12700">
            <a:solidFill>
              <a:srgbClr val="0D1B3E">
                <a:alpha val="0"/>
              </a:srgbClr>
            </a:solidFill>
            <a:prstDash val="solid"/>
          </a:ln>
        </p:spPr>
      </p:sp>
      <p:sp>
        <p:nvSpPr>
          <p:cNvPr id="3" name="Text 1"/>
          <p:cNvSpPr/>
          <p:nvPr/>
        </p:nvSpPr>
        <p:spPr>
          <a:xfrm>
            <a:off x="347472" y="0"/>
            <a:ext cx="8458200" cy="640080"/>
          </a:xfrm>
          <a:prstGeom prst="rect">
            <a:avLst/>
          </a:prstGeom>
          <a:noFill/>
          <a:ln/>
        </p:spPr>
        <p:txBody>
          <a:bodyPr wrap="square" lIns="0" tIns="0" rIns="0" bIns="0" rtlCol="0" anchor="ctr">
            <a:normAutofit/>
          </a:bodyPr>
          <a:lstStyle/>
          <a:p>
            <a:pPr indent="0" marL="0">
              <a:buNone/>
            </a:pPr>
            <a:r>
              <a:rPr lang="en-US" sz="1400" b="1" spc="100" kern="0" dirty="0">
                <a:solidFill>
                  <a:srgbClr val="FFFFFF"/>
                </a:solidFill>
                <a:latin typeface="Calibri" pitchFamily="34" charset="0"/>
                <a:ea typeface="Calibri" pitchFamily="34" charset="-122"/>
                <a:cs typeface="Calibri" pitchFamily="34" charset="-120"/>
              </a:rPr>
              <a:t>ENSEMBLE METHODS — THEORY  (30 MIN)</a:t>
            </a:r>
            <a:endParaRPr lang="en-US" sz="1400" dirty="0"/>
          </a:p>
        </p:txBody>
      </p:sp>
      <p:sp>
        <p:nvSpPr>
          <p:cNvPr id="4" name="Shape 2"/>
          <p:cNvSpPr/>
          <p:nvPr/>
        </p:nvSpPr>
        <p:spPr>
          <a:xfrm>
            <a:off x="8229600" y="658368"/>
            <a:ext cx="1234440" cy="256032"/>
          </a:xfrm>
          <a:prstGeom prst="rect">
            <a:avLst/>
          </a:prstGeom>
          <a:solidFill>
            <a:srgbClr val="0D1B3E"/>
          </a:solidFill>
          <a:ln w="12700">
            <a:solidFill>
              <a:srgbClr val="0D1B3E">
                <a:alpha val="0"/>
              </a:srgbClr>
            </a:solidFill>
            <a:prstDash val="solid"/>
          </a:ln>
        </p:spPr>
      </p:sp>
      <p:sp>
        <p:nvSpPr>
          <p:cNvPr id="5" name="Text 3"/>
          <p:cNvSpPr/>
          <p:nvPr/>
        </p:nvSpPr>
        <p:spPr>
          <a:xfrm>
            <a:off x="8229600" y="658368"/>
            <a:ext cx="1234440" cy="256032"/>
          </a:xfrm>
          <a:prstGeom prst="rect">
            <a:avLst/>
          </a:prstGeom>
          <a:noFill/>
          <a:ln/>
        </p:spPr>
        <p:txBody>
          <a:bodyPr wrap="square" lIns="0" tIns="0" rIns="0" bIns="0" rtlCol="0" anchor="ctr">
            <a:normAutofit/>
          </a:bodyPr>
          <a:lstStyle/>
          <a:p>
            <a:pPr algn="ctr" indent="0" marL="0">
              <a:buNone/>
            </a:pPr>
            <a:r>
              <a:rPr lang="en-US" sz="800" b="1" dirty="0">
                <a:solidFill>
                  <a:srgbClr val="FFFFFF"/>
                </a:solidFill>
                <a:latin typeface="Calibri" pitchFamily="34" charset="0"/>
                <a:ea typeface="Calibri" pitchFamily="34" charset="-122"/>
                <a:cs typeface="Calibri" pitchFamily="34" charset="-120"/>
              </a:rPr>
              <a:t>THEORY</a:t>
            </a:r>
            <a:endParaRPr lang="en-US" sz="800" dirty="0"/>
          </a:p>
        </p:txBody>
      </p:sp>
      <p:sp>
        <p:nvSpPr>
          <p:cNvPr id="6" name="Text 4"/>
          <p:cNvSpPr/>
          <p:nvPr/>
        </p:nvSpPr>
        <p:spPr>
          <a:xfrm>
            <a:off x="347472" y="667512"/>
            <a:ext cx="8458200" cy="256032"/>
          </a:xfrm>
          <a:prstGeom prst="rect">
            <a:avLst/>
          </a:prstGeom>
          <a:noFill/>
          <a:ln/>
        </p:spPr>
        <p:txBody>
          <a:bodyPr wrap="square" lIns="0" tIns="0" rIns="0" bIns="0" rtlCol="0" anchor="ctr">
            <a:normAutofit/>
          </a:bodyPr>
          <a:lstStyle/>
          <a:p>
            <a:pPr indent="0" marL="0">
              <a:buNone/>
            </a:pPr>
            <a:r>
              <a:rPr lang="en-US" sz="1000" i="1" dirty="0">
                <a:solidFill>
                  <a:srgbClr val="64748B"/>
                </a:solidFill>
                <a:latin typeface="Calibri" pitchFamily="34" charset="0"/>
                <a:ea typeface="Calibri" pitchFamily="34" charset="-122"/>
                <a:cs typeface="Calibri" pitchFamily="34" charset="-120"/>
              </a:rPr>
              <a:t>The core insight: a crowd of imperfect experts, when combined correctly, outperforms any single expert — consistently</a:t>
            </a:r>
            <a:endParaRPr lang="en-US" sz="1000" dirty="0"/>
          </a:p>
        </p:txBody>
      </p:sp>
      <p:sp>
        <p:nvSpPr>
          <p:cNvPr id="7" name="Shape 5"/>
          <p:cNvSpPr/>
          <p:nvPr/>
        </p:nvSpPr>
        <p:spPr>
          <a:xfrm>
            <a:off x="256032" y="960120"/>
            <a:ext cx="8631936" cy="566928"/>
          </a:xfrm>
          <a:prstGeom prst="rect">
            <a:avLst/>
          </a:prstGeom>
          <a:solidFill>
            <a:srgbClr val="EEF2FF"/>
          </a:solidFill>
          <a:ln w="12700">
            <a:solidFill>
              <a:srgbClr val="3730A3"/>
            </a:solidFill>
            <a:prstDash val="solid"/>
          </a:ln>
        </p:spPr>
      </p:sp>
      <p:sp>
        <p:nvSpPr>
          <p:cNvPr id="8" name="Text 6"/>
          <p:cNvSpPr/>
          <p:nvPr/>
        </p:nvSpPr>
        <p:spPr>
          <a:xfrm>
            <a:off x="402336" y="996696"/>
            <a:ext cx="2011680" cy="201168"/>
          </a:xfrm>
          <a:prstGeom prst="rect">
            <a:avLst/>
          </a:prstGeom>
          <a:noFill/>
          <a:ln/>
        </p:spPr>
        <p:txBody>
          <a:bodyPr wrap="square" lIns="0" tIns="0" rIns="0" bIns="0" rtlCol="0" anchor="ctr">
            <a:normAutofit/>
          </a:bodyPr>
          <a:lstStyle/>
          <a:p>
            <a:pPr indent="0" marL="0">
              <a:buNone/>
            </a:pPr>
            <a:r>
              <a:rPr lang="en-US" sz="1000" b="1" dirty="0">
                <a:solidFill>
                  <a:srgbClr val="3730A3"/>
                </a:solidFill>
                <a:latin typeface="Calibri" pitchFamily="34" charset="0"/>
                <a:ea typeface="Calibri" pitchFamily="34" charset="-122"/>
                <a:cs typeface="Calibri" pitchFamily="34" charset="-120"/>
              </a:rPr>
              <a:t>THE WISDOM OF CROWDS:</a:t>
            </a:r>
            <a:endParaRPr lang="en-US" sz="1000" dirty="0"/>
          </a:p>
        </p:txBody>
      </p:sp>
      <p:sp>
        <p:nvSpPr>
          <p:cNvPr id="9" name="Text 7"/>
          <p:cNvSpPr/>
          <p:nvPr/>
        </p:nvSpPr>
        <p:spPr>
          <a:xfrm>
            <a:off x="2468880" y="996696"/>
            <a:ext cx="6309360" cy="475488"/>
          </a:xfrm>
          <a:prstGeom prst="rect">
            <a:avLst/>
          </a:prstGeom>
          <a:noFill/>
          <a:ln/>
        </p:spPr>
        <p:txBody>
          <a:bodyPr wrap="square" lIns="0" tIns="0" rIns="0" bIns="0" rtlCol="0" anchor="ctr">
            <a:normAutofit/>
          </a:bodyPr>
          <a:lstStyle/>
          <a:p>
            <a:pPr indent="0" marL="0">
              <a:buNone/>
            </a:pPr>
            <a:r>
              <a:rPr lang="en-US" sz="1000" dirty="0">
                <a:solidFill>
                  <a:srgbClr val="1E293B"/>
                </a:solidFill>
                <a:latin typeface="Calibri" pitchFamily="34" charset="0"/>
                <a:ea typeface="Calibri" pitchFamily="34" charset="-122"/>
                <a:cs typeface="Calibri" pitchFamily="34" charset="-120"/>
              </a:rPr>
              <a:t>If Model A is correct 70% of the time and Model B is correct 70% of the time, and their errors are UNCORRELATED, combining their votes gives correctness far above 70%. The key word is uncorrelated — ensembles work because individual models make different mistakes.</a:t>
            </a:r>
            <a:endParaRPr lang="en-US" sz="1000" dirty="0"/>
          </a:p>
        </p:txBody>
      </p:sp>
      <p:sp>
        <p:nvSpPr>
          <p:cNvPr id="10" name="Shape 8"/>
          <p:cNvSpPr/>
          <p:nvPr/>
        </p:nvSpPr>
        <p:spPr>
          <a:xfrm>
            <a:off x="256032" y="1600200"/>
            <a:ext cx="2816352" cy="3401568"/>
          </a:xfrm>
          <a:prstGeom prst="rect">
            <a:avLst/>
          </a:prstGeom>
          <a:solidFill>
            <a:srgbClr val="FFFFFF"/>
          </a:solidFill>
          <a:ln w="12700">
            <a:solidFill>
              <a:srgbClr val="0D1B3E"/>
            </a:solidFill>
            <a:prstDash val="solid"/>
          </a:ln>
          <a:effectLst>
            <a:outerShdw sx="100000" sy="100000" kx="0" ky="0" algn="bl" rotWithShape="0" blurRad="101600" dist="38100" dir="8100000">
              <a:srgbClr val="000000">
                <a:alpha val="10000"/>
              </a:srgbClr>
            </a:outerShdw>
          </a:effectLst>
        </p:spPr>
      </p:sp>
      <p:sp>
        <p:nvSpPr>
          <p:cNvPr id="11" name="Shape 9"/>
          <p:cNvSpPr/>
          <p:nvPr/>
        </p:nvSpPr>
        <p:spPr>
          <a:xfrm>
            <a:off x="256032" y="1600200"/>
            <a:ext cx="2816352" cy="438912"/>
          </a:xfrm>
          <a:prstGeom prst="rect">
            <a:avLst/>
          </a:prstGeom>
          <a:solidFill>
            <a:srgbClr val="0D1B3E"/>
          </a:solidFill>
          <a:ln w="12700">
            <a:solidFill>
              <a:srgbClr val="0D1B3E">
                <a:alpha val="0"/>
              </a:srgbClr>
            </a:solidFill>
            <a:prstDash val="solid"/>
          </a:ln>
        </p:spPr>
      </p:sp>
      <p:sp>
        <p:nvSpPr>
          <p:cNvPr id="12" name="Text 10"/>
          <p:cNvSpPr/>
          <p:nvPr/>
        </p:nvSpPr>
        <p:spPr>
          <a:xfrm>
            <a:off x="347472" y="1600200"/>
            <a:ext cx="2633472" cy="438912"/>
          </a:xfrm>
          <a:prstGeom prst="rect">
            <a:avLst/>
          </a:prstGeom>
          <a:noFill/>
          <a:ln/>
        </p:spPr>
        <p:txBody>
          <a:bodyPr wrap="square" lIns="0" tIns="0" rIns="0" bIns="0" rtlCol="0" anchor="ctr">
            <a:normAutofit/>
          </a:bodyPr>
          <a:lstStyle/>
          <a:p>
            <a:pPr indent="0" marL="0">
              <a:buNone/>
            </a:pPr>
            <a:r>
              <a:rPr lang="en-US" sz="1000" b="1" dirty="0">
                <a:solidFill>
                  <a:srgbClr val="FFFFFF"/>
                </a:solidFill>
                <a:latin typeface="Calibri" pitchFamily="34" charset="0"/>
                <a:ea typeface="Calibri" pitchFamily="34" charset="-122"/>
                <a:cs typeface="Calibri" pitchFamily="34" charset="-120"/>
              </a:rPr>
              <a:t>BAGGING</a:t>
            </a:r>
            <a:endParaRPr lang="en-US" sz="1000" dirty="0"/>
          </a:p>
          <a:p>
            <a:pPr indent="0" marL="0">
              <a:buNone/>
            </a:pPr>
            <a:r>
              <a:rPr lang="en-US" sz="1000" b="1" dirty="0">
                <a:solidFill>
                  <a:srgbClr val="FFFFFF"/>
                </a:solidFill>
                <a:latin typeface="Calibri" pitchFamily="34" charset="0"/>
                <a:ea typeface="Calibri" pitchFamily="34" charset="-122"/>
                <a:cs typeface="Calibri" pitchFamily="34" charset="-120"/>
              </a:rPr>
              <a:t>(Bootstrap Aggregating)</a:t>
            </a:r>
            <a:endParaRPr lang="en-US" sz="1000" dirty="0"/>
          </a:p>
        </p:txBody>
      </p:sp>
      <p:sp>
        <p:nvSpPr>
          <p:cNvPr id="13" name="Shape 11"/>
          <p:cNvSpPr/>
          <p:nvPr/>
        </p:nvSpPr>
        <p:spPr>
          <a:xfrm>
            <a:off x="347472" y="2121408"/>
            <a:ext cx="128016" cy="128016"/>
          </a:xfrm>
          <a:prstGeom prst="ellipse">
            <a:avLst/>
          </a:prstGeom>
          <a:solidFill>
            <a:srgbClr val="0D1B3E"/>
          </a:solidFill>
          <a:ln w="12700">
            <a:solidFill>
              <a:srgbClr val="0D1B3E">
                <a:alpha val="0"/>
              </a:srgbClr>
            </a:solidFill>
            <a:prstDash val="solid"/>
          </a:ln>
        </p:spPr>
      </p:sp>
      <p:sp>
        <p:nvSpPr>
          <p:cNvPr id="14" name="Text 12"/>
          <p:cNvSpPr/>
          <p:nvPr/>
        </p:nvSpPr>
        <p:spPr>
          <a:xfrm>
            <a:off x="530352" y="2084832"/>
            <a:ext cx="2432304" cy="402336"/>
          </a:xfrm>
          <a:prstGeom prst="rect">
            <a:avLst/>
          </a:prstGeom>
          <a:noFill/>
          <a:ln/>
        </p:spPr>
        <p:txBody>
          <a:bodyPr wrap="square" lIns="0" tIns="0" rIns="0" bIns="0" rtlCol="0" anchor="ctr">
            <a:normAutofit/>
          </a:bodyPr>
          <a:lstStyle/>
          <a:p>
            <a:pPr indent="0" marL="0">
              <a:buNone/>
            </a:pPr>
            <a:r>
              <a:rPr lang="en-US" sz="850" dirty="0">
                <a:solidFill>
                  <a:srgbClr val="1E293B"/>
                </a:solidFill>
                <a:latin typeface="Calibri" pitchFamily="34" charset="0"/>
                <a:ea typeface="Calibri" pitchFamily="34" charset="-122"/>
                <a:cs typeface="Calibri" pitchFamily="34" charset="-120"/>
              </a:rPr>
              <a:t>1. Create N bootstrap samples (sample with replacement) from training data</a:t>
            </a:r>
            <a:endParaRPr lang="en-US" sz="850" dirty="0"/>
          </a:p>
        </p:txBody>
      </p:sp>
      <p:sp>
        <p:nvSpPr>
          <p:cNvPr id="15" name="Shape 13"/>
          <p:cNvSpPr/>
          <p:nvPr/>
        </p:nvSpPr>
        <p:spPr>
          <a:xfrm>
            <a:off x="347472" y="2578608"/>
            <a:ext cx="128016" cy="128016"/>
          </a:xfrm>
          <a:prstGeom prst="ellipse">
            <a:avLst/>
          </a:prstGeom>
          <a:solidFill>
            <a:srgbClr val="0D1B3E"/>
          </a:solidFill>
          <a:ln w="12700">
            <a:solidFill>
              <a:srgbClr val="0D1B3E">
                <a:alpha val="0"/>
              </a:srgbClr>
            </a:solidFill>
            <a:prstDash val="solid"/>
          </a:ln>
        </p:spPr>
      </p:sp>
      <p:sp>
        <p:nvSpPr>
          <p:cNvPr id="16" name="Text 14"/>
          <p:cNvSpPr/>
          <p:nvPr/>
        </p:nvSpPr>
        <p:spPr>
          <a:xfrm>
            <a:off x="530352" y="2542032"/>
            <a:ext cx="2432304" cy="402336"/>
          </a:xfrm>
          <a:prstGeom prst="rect">
            <a:avLst/>
          </a:prstGeom>
          <a:noFill/>
          <a:ln/>
        </p:spPr>
        <p:txBody>
          <a:bodyPr wrap="square" lIns="0" tIns="0" rIns="0" bIns="0" rtlCol="0" anchor="ctr">
            <a:normAutofit/>
          </a:bodyPr>
          <a:lstStyle/>
          <a:p>
            <a:pPr indent="0" marL="0">
              <a:buNone/>
            </a:pPr>
            <a:r>
              <a:rPr lang="en-US" sz="850" dirty="0">
                <a:solidFill>
                  <a:srgbClr val="1E293B"/>
                </a:solidFill>
                <a:latin typeface="Calibri" pitchFamily="34" charset="0"/>
                <a:ea typeface="Calibri" pitchFamily="34" charset="-122"/>
                <a:cs typeface="Calibri" pitchFamily="34" charset="-120"/>
              </a:rPr>
              <a:t>2. Train one independent model on each bootstrap sample</a:t>
            </a:r>
            <a:endParaRPr lang="en-US" sz="850" dirty="0"/>
          </a:p>
        </p:txBody>
      </p:sp>
      <p:sp>
        <p:nvSpPr>
          <p:cNvPr id="17" name="Shape 15"/>
          <p:cNvSpPr/>
          <p:nvPr/>
        </p:nvSpPr>
        <p:spPr>
          <a:xfrm>
            <a:off x="347472" y="3035808"/>
            <a:ext cx="128016" cy="128016"/>
          </a:xfrm>
          <a:prstGeom prst="ellipse">
            <a:avLst/>
          </a:prstGeom>
          <a:solidFill>
            <a:srgbClr val="0D1B3E"/>
          </a:solidFill>
          <a:ln w="12700">
            <a:solidFill>
              <a:srgbClr val="0D1B3E">
                <a:alpha val="0"/>
              </a:srgbClr>
            </a:solidFill>
            <a:prstDash val="solid"/>
          </a:ln>
        </p:spPr>
      </p:sp>
      <p:sp>
        <p:nvSpPr>
          <p:cNvPr id="18" name="Text 16"/>
          <p:cNvSpPr/>
          <p:nvPr/>
        </p:nvSpPr>
        <p:spPr>
          <a:xfrm>
            <a:off x="530352" y="2999232"/>
            <a:ext cx="2432304" cy="402336"/>
          </a:xfrm>
          <a:prstGeom prst="rect">
            <a:avLst/>
          </a:prstGeom>
          <a:noFill/>
          <a:ln/>
        </p:spPr>
        <p:txBody>
          <a:bodyPr wrap="square" lIns="0" tIns="0" rIns="0" bIns="0" rtlCol="0" anchor="ctr">
            <a:normAutofit/>
          </a:bodyPr>
          <a:lstStyle/>
          <a:p>
            <a:pPr indent="0" marL="0">
              <a:buNone/>
            </a:pPr>
            <a:r>
              <a:rPr lang="en-US" sz="850" dirty="0">
                <a:solidFill>
                  <a:srgbClr val="1E293B"/>
                </a:solidFill>
                <a:latin typeface="Calibri" pitchFamily="34" charset="0"/>
                <a:ea typeface="Calibri" pitchFamily="34" charset="-122"/>
                <a:cs typeface="Calibri" pitchFamily="34" charset="-120"/>
              </a:rPr>
              <a:t>3. Aggregate predictions: MAJORITY VOTE for classification, MEAN for regression</a:t>
            </a:r>
            <a:endParaRPr lang="en-US" sz="850" dirty="0"/>
          </a:p>
        </p:txBody>
      </p:sp>
      <p:sp>
        <p:nvSpPr>
          <p:cNvPr id="19" name="Shape 17"/>
          <p:cNvSpPr/>
          <p:nvPr/>
        </p:nvSpPr>
        <p:spPr>
          <a:xfrm>
            <a:off x="347472" y="3493008"/>
            <a:ext cx="128016" cy="128016"/>
          </a:xfrm>
          <a:prstGeom prst="ellipse">
            <a:avLst/>
          </a:prstGeom>
          <a:solidFill>
            <a:srgbClr val="0D1B3E"/>
          </a:solidFill>
          <a:ln w="12700">
            <a:solidFill>
              <a:srgbClr val="0D1B3E">
                <a:alpha val="0"/>
              </a:srgbClr>
            </a:solidFill>
            <a:prstDash val="solid"/>
          </a:ln>
        </p:spPr>
      </p:sp>
      <p:sp>
        <p:nvSpPr>
          <p:cNvPr id="20" name="Text 18"/>
          <p:cNvSpPr/>
          <p:nvPr/>
        </p:nvSpPr>
        <p:spPr>
          <a:xfrm>
            <a:off x="530352" y="3456432"/>
            <a:ext cx="2432304" cy="402336"/>
          </a:xfrm>
          <a:prstGeom prst="rect">
            <a:avLst/>
          </a:prstGeom>
          <a:noFill/>
          <a:ln/>
        </p:spPr>
        <p:txBody>
          <a:bodyPr wrap="square" lIns="0" tIns="0" rIns="0" bIns="0" rtlCol="0" anchor="ctr">
            <a:normAutofit/>
          </a:bodyPr>
          <a:lstStyle/>
          <a:p>
            <a:pPr indent="0" marL="0">
              <a:buNone/>
            </a:pPr>
            <a:r>
              <a:rPr lang="en-US" sz="850" dirty="0">
                <a:solidFill>
                  <a:srgbClr val="1E293B"/>
                </a:solidFill>
                <a:latin typeface="Calibri" pitchFamily="34" charset="0"/>
                <a:ea typeface="Calibri" pitchFamily="34" charset="-122"/>
                <a:cs typeface="Calibri" pitchFamily="34" charset="-120"/>
              </a:rPr>
              <a:t>4. Models are trained in PARALLEL — fast</a:t>
            </a:r>
            <a:endParaRPr lang="en-US" sz="850" dirty="0"/>
          </a:p>
        </p:txBody>
      </p:sp>
      <p:sp>
        <p:nvSpPr>
          <p:cNvPr id="21" name="Shape 19"/>
          <p:cNvSpPr/>
          <p:nvPr/>
        </p:nvSpPr>
        <p:spPr>
          <a:xfrm>
            <a:off x="347472" y="3950208"/>
            <a:ext cx="128016" cy="128016"/>
          </a:xfrm>
          <a:prstGeom prst="ellipse">
            <a:avLst/>
          </a:prstGeom>
          <a:solidFill>
            <a:srgbClr val="0D1B3E"/>
          </a:solidFill>
          <a:ln w="12700">
            <a:solidFill>
              <a:srgbClr val="0D1B3E">
                <a:alpha val="0"/>
              </a:srgbClr>
            </a:solidFill>
            <a:prstDash val="solid"/>
          </a:ln>
        </p:spPr>
      </p:sp>
      <p:sp>
        <p:nvSpPr>
          <p:cNvPr id="22" name="Text 20"/>
          <p:cNvSpPr/>
          <p:nvPr/>
        </p:nvSpPr>
        <p:spPr>
          <a:xfrm>
            <a:off x="530352" y="3913632"/>
            <a:ext cx="2432304" cy="402336"/>
          </a:xfrm>
          <a:prstGeom prst="rect">
            <a:avLst/>
          </a:prstGeom>
          <a:noFill/>
          <a:ln/>
        </p:spPr>
        <p:txBody>
          <a:bodyPr wrap="square" lIns="0" tIns="0" rIns="0" bIns="0" rtlCol="0" anchor="ctr">
            <a:normAutofit/>
          </a:bodyPr>
          <a:lstStyle/>
          <a:p>
            <a:pPr indent="0" marL="0">
              <a:buNone/>
            </a:pPr>
            <a:r>
              <a:rPr lang="en-US" sz="850" dirty="0">
                <a:solidFill>
                  <a:srgbClr val="1E293B"/>
                </a:solidFill>
                <a:latin typeface="Calibri" pitchFamily="34" charset="0"/>
                <a:ea typeface="Calibri" pitchFamily="34" charset="-122"/>
                <a:cs typeface="Calibri" pitchFamily="34" charset="-120"/>
              </a:rPr>
              <a:t>Result: High variance of single model → LOW variance of ensemble</a:t>
            </a:r>
            <a:endParaRPr lang="en-US" sz="850" dirty="0"/>
          </a:p>
        </p:txBody>
      </p:sp>
      <p:sp>
        <p:nvSpPr>
          <p:cNvPr id="23" name="Shape 21"/>
          <p:cNvSpPr/>
          <p:nvPr/>
        </p:nvSpPr>
        <p:spPr>
          <a:xfrm>
            <a:off x="347472" y="4517136"/>
            <a:ext cx="2633472" cy="420624"/>
          </a:xfrm>
          <a:prstGeom prst="rect">
            <a:avLst/>
          </a:prstGeom>
          <a:solidFill>
            <a:srgbClr val="0D1B3E">
              <a:alpha val="12000"/>
            </a:srgbClr>
          </a:solidFill>
          <a:ln w="12700">
            <a:solidFill>
              <a:srgbClr val="0D1B3E">
                <a:alpha val="0"/>
              </a:srgbClr>
            </a:solidFill>
            <a:prstDash val="solid"/>
          </a:ln>
        </p:spPr>
      </p:sp>
      <p:sp>
        <p:nvSpPr>
          <p:cNvPr id="24" name="Text 22"/>
          <p:cNvSpPr/>
          <p:nvPr/>
        </p:nvSpPr>
        <p:spPr>
          <a:xfrm>
            <a:off x="384048" y="4535424"/>
            <a:ext cx="2560320" cy="365760"/>
          </a:xfrm>
          <a:prstGeom prst="rect">
            <a:avLst/>
          </a:prstGeom>
          <a:noFill/>
          <a:ln/>
        </p:spPr>
        <p:txBody>
          <a:bodyPr wrap="square" lIns="0" tIns="0" rIns="0" bIns="0" rtlCol="0" anchor="ctr">
            <a:normAutofit/>
          </a:bodyPr>
          <a:lstStyle/>
          <a:p>
            <a:pPr indent="0" marL="0">
              <a:buNone/>
            </a:pPr>
            <a:r>
              <a:rPr lang="en-US" sz="850" b="1" dirty="0">
                <a:solidFill>
                  <a:srgbClr val="0D1B3E"/>
                </a:solidFill>
                <a:latin typeface="Calibri" pitchFamily="34" charset="0"/>
                <a:ea typeface="Calibri" pitchFamily="34" charset="-122"/>
                <a:cs typeface="Calibri" pitchFamily="34" charset="-120"/>
              </a:rPr>
              <a:t>e.g. Random Forest = Bagging + Random Feature Subsets</a:t>
            </a:r>
            <a:endParaRPr lang="en-US" sz="850" dirty="0"/>
          </a:p>
        </p:txBody>
      </p:sp>
      <p:sp>
        <p:nvSpPr>
          <p:cNvPr id="25" name="Shape 23"/>
          <p:cNvSpPr/>
          <p:nvPr/>
        </p:nvSpPr>
        <p:spPr>
          <a:xfrm>
            <a:off x="3200400" y="1600200"/>
            <a:ext cx="2816352" cy="3401568"/>
          </a:xfrm>
          <a:prstGeom prst="rect">
            <a:avLst/>
          </a:prstGeom>
          <a:solidFill>
            <a:srgbClr val="FFFFFF"/>
          </a:solidFill>
          <a:ln w="12700">
            <a:solidFill>
              <a:srgbClr val="9F1239"/>
            </a:solidFill>
            <a:prstDash val="solid"/>
          </a:ln>
          <a:effectLst>
            <a:outerShdw sx="100000" sy="100000" kx="0" ky="0" algn="bl" rotWithShape="0" blurRad="101600" dist="38100" dir="8100000">
              <a:srgbClr val="000000">
                <a:alpha val="10000"/>
              </a:srgbClr>
            </a:outerShdw>
          </a:effectLst>
        </p:spPr>
      </p:sp>
      <p:sp>
        <p:nvSpPr>
          <p:cNvPr id="26" name="Shape 24"/>
          <p:cNvSpPr/>
          <p:nvPr/>
        </p:nvSpPr>
        <p:spPr>
          <a:xfrm>
            <a:off x="3200400" y="1600200"/>
            <a:ext cx="2816352" cy="438912"/>
          </a:xfrm>
          <a:prstGeom prst="rect">
            <a:avLst/>
          </a:prstGeom>
          <a:solidFill>
            <a:srgbClr val="9F1239"/>
          </a:solidFill>
          <a:ln w="12700">
            <a:solidFill>
              <a:srgbClr val="9F1239">
                <a:alpha val="0"/>
              </a:srgbClr>
            </a:solidFill>
            <a:prstDash val="solid"/>
          </a:ln>
        </p:spPr>
      </p:sp>
      <p:sp>
        <p:nvSpPr>
          <p:cNvPr id="27" name="Text 25"/>
          <p:cNvSpPr/>
          <p:nvPr/>
        </p:nvSpPr>
        <p:spPr>
          <a:xfrm>
            <a:off x="3291840" y="1600200"/>
            <a:ext cx="2633472" cy="438912"/>
          </a:xfrm>
          <a:prstGeom prst="rect">
            <a:avLst/>
          </a:prstGeom>
          <a:noFill/>
          <a:ln/>
        </p:spPr>
        <p:txBody>
          <a:bodyPr wrap="square" lIns="0" tIns="0" rIns="0" bIns="0" rtlCol="0" anchor="ctr">
            <a:normAutofit/>
          </a:bodyPr>
          <a:lstStyle/>
          <a:p>
            <a:pPr indent="0" marL="0">
              <a:buNone/>
            </a:pPr>
            <a:r>
              <a:rPr lang="en-US" sz="1000" b="1" dirty="0">
                <a:solidFill>
                  <a:srgbClr val="FFFFFF"/>
                </a:solidFill>
                <a:latin typeface="Calibri" pitchFamily="34" charset="0"/>
                <a:ea typeface="Calibri" pitchFamily="34" charset="-122"/>
                <a:cs typeface="Calibri" pitchFamily="34" charset="-120"/>
              </a:rPr>
              <a:t>BOOSTING</a:t>
            </a:r>
            <a:endParaRPr lang="en-US" sz="1000" dirty="0"/>
          </a:p>
          <a:p>
            <a:pPr indent="0" marL="0">
              <a:buNone/>
            </a:pPr>
            <a:r>
              <a:rPr lang="en-US" sz="1000" b="1" dirty="0">
                <a:solidFill>
                  <a:srgbClr val="FFFFFF"/>
                </a:solidFill>
                <a:latin typeface="Calibri" pitchFamily="34" charset="0"/>
                <a:ea typeface="Calibri" pitchFamily="34" charset="-122"/>
                <a:cs typeface="Calibri" pitchFamily="34" charset="-120"/>
              </a:rPr>
              <a:t>(Sequential Error Correction)</a:t>
            </a:r>
            <a:endParaRPr lang="en-US" sz="1000" dirty="0"/>
          </a:p>
        </p:txBody>
      </p:sp>
      <p:sp>
        <p:nvSpPr>
          <p:cNvPr id="28" name="Shape 26"/>
          <p:cNvSpPr/>
          <p:nvPr/>
        </p:nvSpPr>
        <p:spPr>
          <a:xfrm>
            <a:off x="3291840" y="2121408"/>
            <a:ext cx="128016" cy="128016"/>
          </a:xfrm>
          <a:prstGeom prst="ellipse">
            <a:avLst/>
          </a:prstGeom>
          <a:solidFill>
            <a:srgbClr val="9F1239"/>
          </a:solidFill>
          <a:ln w="12700">
            <a:solidFill>
              <a:srgbClr val="9F1239">
                <a:alpha val="0"/>
              </a:srgbClr>
            </a:solidFill>
            <a:prstDash val="solid"/>
          </a:ln>
        </p:spPr>
      </p:sp>
      <p:sp>
        <p:nvSpPr>
          <p:cNvPr id="29" name="Text 27"/>
          <p:cNvSpPr/>
          <p:nvPr/>
        </p:nvSpPr>
        <p:spPr>
          <a:xfrm>
            <a:off x="3474720" y="2084832"/>
            <a:ext cx="2432304" cy="402336"/>
          </a:xfrm>
          <a:prstGeom prst="rect">
            <a:avLst/>
          </a:prstGeom>
          <a:noFill/>
          <a:ln/>
        </p:spPr>
        <p:txBody>
          <a:bodyPr wrap="square" lIns="0" tIns="0" rIns="0" bIns="0" rtlCol="0" anchor="ctr">
            <a:normAutofit/>
          </a:bodyPr>
          <a:lstStyle/>
          <a:p>
            <a:pPr indent="0" marL="0">
              <a:buNone/>
            </a:pPr>
            <a:r>
              <a:rPr lang="en-US" sz="850" dirty="0">
                <a:solidFill>
                  <a:srgbClr val="1E293B"/>
                </a:solidFill>
                <a:latin typeface="Calibri" pitchFamily="34" charset="0"/>
                <a:ea typeface="Calibri" pitchFamily="34" charset="-122"/>
                <a:cs typeface="Calibri" pitchFamily="34" charset="-120"/>
              </a:rPr>
              <a:t>1. Train Model 1 on full training data</a:t>
            </a:r>
            <a:endParaRPr lang="en-US" sz="850" dirty="0"/>
          </a:p>
        </p:txBody>
      </p:sp>
      <p:sp>
        <p:nvSpPr>
          <p:cNvPr id="30" name="Shape 28"/>
          <p:cNvSpPr/>
          <p:nvPr/>
        </p:nvSpPr>
        <p:spPr>
          <a:xfrm>
            <a:off x="3291840" y="2578608"/>
            <a:ext cx="128016" cy="128016"/>
          </a:xfrm>
          <a:prstGeom prst="ellipse">
            <a:avLst/>
          </a:prstGeom>
          <a:solidFill>
            <a:srgbClr val="9F1239"/>
          </a:solidFill>
          <a:ln w="12700">
            <a:solidFill>
              <a:srgbClr val="9F1239">
                <a:alpha val="0"/>
              </a:srgbClr>
            </a:solidFill>
            <a:prstDash val="solid"/>
          </a:ln>
        </p:spPr>
      </p:sp>
      <p:sp>
        <p:nvSpPr>
          <p:cNvPr id="31" name="Text 29"/>
          <p:cNvSpPr/>
          <p:nvPr/>
        </p:nvSpPr>
        <p:spPr>
          <a:xfrm>
            <a:off x="3474720" y="2542032"/>
            <a:ext cx="2432304" cy="402336"/>
          </a:xfrm>
          <a:prstGeom prst="rect">
            <a:avLst/>
          </a:prstGeom>
          <a:noFill/>
          <a:ln/>
        </p:spPr>
        <p:txBody>
          <a:bodyPr wrap="square" lIns="0" tIns="0" rIns="0" bIns="0" rtlCol="0" anchor="ctr">
            <a:normAutofit/>
          </a:bodyPr>
          <a:lstStyle/>
          <a:p>
            <a:pPr indent="0" marL="0">
              <a:buNone/>
            </a:pPr>
            <a:r>
              <a:rPr lang="en-US" sz="850" dirty="0">
                <a:solidFill>
                  <a:srgbClr val="1E293B"/>
                </a:solidFill>
                <a:latin typeface="Calibri" pitchFamily="34" charset="0"/>
                <a:ea typeface="Calibri" pitchFamily="34" charset="-122"/>
                <a:cs typeface="Calibri" pitchFamily="34" charset="-120"/>
              </a:rPr>
              <a:t>2. Identify examples Model 1 got WRONG</a:t>
            </a:r>
            <a:endParaRPr lang="en-US" sz="850" dirty="0"/>
          </a:p>
        </p:txBody>
      </p:sp>
      <p:sp>
        <p:nvSpPr>
          <p:cNvPr id="32" name="Shape 30"/>
          <p:cNvSpPr/>
          <p:nvPr/>
        </p:nvSpPr>
        <p:spPr>
          <a:xfrm>
            <a:off x="3291840" y="3035808"/>
            <a:ext cx="128016" cy="128016"/>
          </a:xfrm>
          <a:prstGeom prst="ellipse">
            <a:avLst/>
          </a:prstGeom>
          <a:solidFill>
            <a:srgbClr val="9F1239"/>
          </a:solidFill>
          <a:ln w="12700">
            <a:solidFill>
              <a:srgbClr val="9F1239">
                <a:alpha val="0"/>
              </a:srgbClr>
            </a:solidFill>
            <a:prstDash val="solid"/>
          </a:ln>
        </p:spPr>
      </p:sp>
      <p:sp>
        <p:nvSpPr>
          <p:cNvPr id="33" name="Text 31"/>
          <p:cNvSpPr/>
          <p:nvPr/>
        </p:nvSpPr>
        <p:spPr>
          <a:xfrm>
            <a:off x="3474720" y="2999232"/>
            <a:ext cx="2432304" cy="402336"/>
          </a:xfrm>
          <a:prstGeom prst="rect">
            <a:avLst/>
          </a:prstGeom>
          <a:noFill/>
          <a:ln/>
        </p:spPr>
        <p:txBody>
          <a:bodyPr wrap="square" lIns="0" tIns="0" rIns="0" bIns="0" rtlCol="0" anchor="ctr">
            <a:normAutofit/>
          </a:bodyPr>
          <a:lstStyle/>
          <a:p>
            <a:pPr indent="0" marL="0">
              <a:buNone/>
            </a:pPr>
            <a:r>
              <a:rPr lang="en-US" sz="850" dirty="0">
                <a:solidFill>
                  <a:srgbClr val="1E293B"/>
                </a:solidFill>
                <a:latin typeface="Calibri" pitchFamily="34" charset="0"/>
                <a:ea typeface="Calibri" pitchFamily="34" charset="-122"/>
                <a:cs typeface="Calibri" pitchFamily="34" charset="-120"/>
              </a:rPr>
              <a:t>3. Train Model 2 with more weight on the difficult examples</a:t>
            </a:r>
            <a:endParaRPr lang="en-US" sz="850" dirty="0"/>
          </a:p>
        </p:txBody>
      </p:sp>
      <p:sp>
        <p:nvSpPr>
          <p:cNvPr id="34" name="Shape 32"/>
          <p:cNvSpPr/>
          <p:nvPr/>
        </p:nvSpPr>
        <p:spPr>
          <a:xfrm>
            <a:off x="3291840" y="3493008"/>
            <a:ext cx="128016" cy="128016"/>
          </a:xfrm>
          <a:prstGeom prst="ellipse">
            <a:avLst/>
          </a:prstGeom>
          <a:solidFill>
            <a:srgbClr val="9F1239"/>
          </a:solidFill>
          <a:ln w="12700">
            <a:solidFill>
              <a:srgbClr val="9F1239">
                <a:alpha val="0"/>
              </a:srgbClr>
            </a:solidFill>
            <a:prstDash val="solid"/>
          </a:ln>
        </p:spPr>
      </p:sp>
      <p:sp>
        <p:nvSpPr>
          <p:cNvPr id="35" name="Text 33"/>
          <p:cNvSpPr/>
          <p:nvPr/>
        </p:nvSpPr>
        <p:spPr>
          <a:xfrm>
            <a:off x="3474720" y="3456432"/>
            <a:ext cx="2432304" cy="402336"/>
          </a:xfrm>
          <a:prstGeom prst="rect">
            <a:avLst/>
          </a:prstGeom>
          <a:noFill/>
          <a:ln/>
        </p:spPr>
        <p:txBody>
          <a:bodyPr wrap="square" lIns="0" tIns="0" rIns="0" bIns="0" rtlCol="0" anchor="ctr">
            <a:normAutofit/>
          </a:bodyPr>
          <a:lstStyle/>
          <a:p>
            <a:pPr indent="0" marL="0">
              <a:buNone/>
            </a:pPr>
            <a:r>
              <a:rPr lang="en-US" sz="850" dirty="0">
                <a:solidFill>
                  <a:srgbClr val="1E293B"/>
                </a:solidFill>
                <a:latin typeface="Calibri" pitchFamily="34" charset="0"/>
                <a:ea typeface="Calibri" pitchFamily="34" charset="-122"/>
                <a:cs typeface="Calibri" pitchFamily="34" charset="-120"/>
              </a:rPr>
              <a:t>4. Repeat: each model corrects the RESIDUALS of the previous</a:t>
            </a:r>
            <a:endParaRPr lang="en-US" sz="850" dirty="0"/>
          </a:p>
        </p:txBody>
      </p:sp>
      <p:sp>
        <p:nvSpPr>
          <p:cNvPr id="36" name="Shape 34"/>
          <p:cNvSpPr/>
          <p:nvPr/>
        </p:nvSpPr>
        <p:spPr>
          <a:xfrm>
            <a:off x="3291840" y="3950208"/>
            <a:ext cx="128016" cy="128016"/>
          </a:xfrm>
          <a:prstGeom prst="ellipse">
            <a:avLst/>
          </a:prstGeom>
          <a:solidFill>
            <a:srgbClr val="9F1239"/>
          </a:solidFill>
          <a:ln w="12700">
            <a:solidFill>
              <a:srgbClr val="9F1239">
                <a:alpha val="0"/>
              </a:srgbClr>
            </a:solidFill>
            <a:prstDash val="solid"/>
          </a:ln>
        </p:spPr>
      </p:sp>
      <p:sp>
        <p:nvSpPr>
          <p:cNvPr id="37" name="Text 35"/>
          <p:cNvSpPr/>
          <p:nvPr/>
        </p:nvSpPr>
        <p:spPr>
          <a:xfrm>
            <a:off x="3474720" y="3913632"/>
            <a:ext cx="2432304" cy="402336"/>
          </a:xfrm>
          <a:prstGeom prst="rect">
            <a:avLst/>
          </a:prstGeom>
          <a:noFill/>
          <a:ln/>
        </p:spPr>
        <p:txBody>
          <a:bodyPr wrap="square" lIns="0" tIns="0" rIns="0" bIns="0" rtlCol="0" anchor="ctr">
            <a:normAutofit/>
          </a:bodyPr>
          <a:lstStyle/>
          <a:p>
            <a:pPr indent="0" marL="0">
              <a:buNone/>
            </a:pPr>
            <a:r>
              <a:rPr lang="en-US" sz="850" dirty="0">
                <a:solidFill>
                  <a:srgbClr val="1E293B"/>
                </a:solidFill>
                <a:latin typeface="Calibri" pitchFamily="34" charset="0"/>
                <a:ea typeface="Calibri" pitchFamily="34" charset="-122"/>
                <a:cs typeface="Calibri" pitchFamily="34" charset="-120"/>
              </a:rPr>
              <a:t>5. Final prediction: WEIGHTED SUM of all model outputs</a:t>
            </a:r>
            <a:endParaRPr lang="en-US" sz="850" dirty="0"/>
          </a:p>
        </p:txBody>
      </p:sp>
      <p:sp>
        <p:nvSpPr>
          <p:cNvPr id="38" name="Shape 36"/>
          <p:cNvSpPr/>
          <p:nvPr/>
        </p:nvSpPr>
        <p:spPr>
          <a:xfrm>
            <a:off x="3291840" y="4517136"/>
            <a:ext cx="2633472" cy="420624"/>
          </a:xfrm>
          <a:prstGeom prst="rect">
            <a:avLst/>
          </a:prstGeom>
          <a:solidFill>
            <a:srgbClr val="9F1239">
              <a:alpha val="12000"/>
            </a:srgbClr>
          </a:solidFill>
          <a:ln w="12700">
            <a:solidFill>
              <a:srgbClr val="9F1239">
                <a:alpha val="0"/>
              </a:srgbClr>
            </a:solidFill>
            <a:prstDash val="solid"/>
          </a:ln>
        </p:spPr>
      </p:sp>
      <p:sp>
        <p:nvSpPr>
          <p:cNvPr id="39" name="Text 37"/>
          <p:cNvSpPr/>
          <p:nvPr/>
        </p:nvSpPr>
        <p:spPr>
          <a:xfrm>
            <a:off x="3328416" y="4535424"/>
            <a:ext cx="2560320" cy="365760"/>
          </a:xfrm>
          <a:prstGeom prst="rect">
            <a:avLst/>
          </a:prstGeom>
          <a:noFill/>
          <a:ln/>
        </p:spPr>
        <p:txBody>
          <a:bodyPr wrap="square" lIns="0" tIns="0" rIns="0" bIns="0" rtlCol="0" anchor="ctr">
            <a:normAutofit/>
          </a:bodyPr>
          <a:lstStyle/>
          <a:p>
            <a:pPr indent="0" marL="0">
              <a:buNone/>
            </a:pPr>
            <a:r>
              <a:rPr lang="en-US" sz="850" b="1" dirty="0">
                <a:solidFill>
                  <a:srgbClr val="9F1239"/>
                </a:solidFill>
                <a:latin typeface="Calibri" pitchFamily="34" charset="0"/>
                <a:ea typeface="Calibri" pitchFamily="34" charset="-122"/>
                <a:cs typeface="Calibri" pitchFamily="34" charset="-120"/>
              </a:rPr>
              <a:t>e.g. XGBoost, LightGBM, AdaBoost = Boosting variants</a:t>
            </a:r>
            <a:endParaRPr lang="en-US" sz="850" dirty="0"/>
          </a:p>
        </p:txBody>
      </p:sp>
      <p:sp>
        <p:nvSpPr>
          <p:cNvPr id="40" name="Shape 38"/>
          <p:cNvSpPr/>
          <p:nvPr/>
        </p:nvSpPr>
        <p:spPr>
          <a:xfrm>
            <a:off x="6144768" y="1600200"/>
            <a:ext cx="2816352" cy="3401568"/>
          </a:xfrm>
          <a:prstGeom prst="rect">
            <a:avLst/>
          </a:prstGeom>
          <a:solidFill>
            <a:srgbClr val="FFFFFF"/>
          </a:solidFill>
          <a:ln w="12700">
            <a:solidFill>
              <a:srgbClr val="0891B2"/>
            </a:solidFill>
            <a:prstDash val="solid"/>
          </a:ln>
          <a:effectLst>
            <a:outerShdw sx="100000" sy="100000" kx="0" ky="0" algn="bl" rotWithShape="0" blurRad="101600" dist="38100" dir="8100000">
              <a:srgbClr val="000000">
                <a:alpha val="10000"/>
              </a:srgbClr>
            </a:outerShdw>
          </a:effectLst>
        </p:spPr>
      </p:sp>
      <p:sp>
        <p:nvSpPr>
          <p:cNvPr id="41" name="Shape 39"/>
          <p:cNvSpPr/>
          <p:nvPr/>
        </p:nvSpPr>
        <p:spPr>
          <a:xfrm>
            <a:off x="6144768" y="1600200"/>
            <a:ext cx="2816352" cy="438912"/>
          </a:xfrm>
          <a:prstGeom prst="rect">
            <a:avLst/>
          </a:prstGeom>
          <a:solidFill>
            <a:srgbClr val="0891B2"/>
          </a:solidFill>
          <a:ln w="12700">
            <a:solidFill>
              <a:srgbClr val="0891B2">
                <a:alpha val="0"/>
              </a:srgbClr>
            </a:solidFill>
            <a:prstDash val="solid"/>
          </a:ln>
        </p:spPr>
      </p:sp>
      <p:sp>
        <p:nvSpPr>
          <p:cNvPr id="42" name="Text 40"/>
          <p:cNvSpPr/>
          <p:nvPr/>
        </p:nvSpPr>
        <p:spPr>
          <a:xfrm>
            <a:off x="6236208" y="1600200"/>
            <a:ext cx="2633472" cy="438912"/>
          </a:xfrm>
          <a:prstGeom prst="rect">
            <a:avLst/>
          </a:prstGeom>
          <a:noFill/>
          <a:ln/>
        </p:spPr>
        <p:txBody>
          <a:bodyPr wrap="square" lIns="0" tIns="0" rIns="0" bIns="0" rtlCol="0" anchor="ctr">
            <a:normAutofit/>
          </a:bodyPr>
          <a:lstStyle/>
          <a:p>
            <a:pPr indent="0" marL="0">
              <a:buNone/>
            </a:pPr>
            <a:r>
              <a:rPr lang="en-US" sz="1000" b="1" dirty="0">
                <a:solidFill>
                  <a:srgbClr val="FFFFFF"/>
                </a:solidFill>
                <a:latin typeface="Calibri" pitchFamily="34" charset="0"/>
                <a:ea typeface="Calibri" pitchFamily="34" charset="-122"/>
                <a:cs typeface="Calibri" pitchFamily="34" charset="-120"/>
              </a:rPr>
              <a:t>STACKING</a:t>
            </a:r>
            <a:endParaRPr lang="en-US" sz="1000" dirty="0"/>
          </a:p>
          <a:p>
            <a:pPr indent="0" marL="0">
              <a:buNone/>
            </a:pPr>
            <a:r>
              <a:rPr lang="en-US" sz="1000" b="1" dirty="0">
                <a:solidFill>
                  <a:srgbClr val="FFFFFF"/>
                </a:solidFill>
                <a:latin typeface="Calibri" pitchFamily="34" charset="0"/>
                <a:ea typeface="Calibri" pitchFamily="34" charset="-122"/>
                <a:cs typeface="Calibri" pitchFamily="34" charset="-120"/>
              </a:rPr>
              <a:t>(Meta-Learning)</a:t>
            </a:r>
            <a:endParaRPr lang="en-US" sz="1000" dirty="0"/>
          </a:p>
        </p:txBody>
      </p:sp>
      <p:sp>
        <p:nvSpPr>
          <p:cNvPr id="43" name="Shape 41"/>
          <p:cNvSpPr/>
          <p:nvPr/>
        </p:nvSpPr>
        <p:spPr>
          <a:xfrm>
            <a:off x="6236208" y="2121408"/>
            <a:ext cx="128016" cy="128016"/>
          </a:xfrm>
          <a:prstGeom prst="ellipse">
            <a:avLst/>
          </a:prstGeom>
          <a:solidFill>
            <a:srgbClr val="0891B2"/>
          </a:solidFill>
          <a:ln w="12700">
            <a:solidFill>
              <a:srgbClr val="0891B2">
                <a:alpha val="0"/>
              </a:srgbClr>
            </a:solidFill>
            <a:prstDash val="solid"/>
          </a:ln>
        </p:spPr>
      </p:sp>
      <p:sp>
        <p:nvSpPr>
          <p:cNvPr id="44" name="Text 42"/>
          <p:cNvSpPr/>
          <p:nvPr/>
        </p:nvSpPr>
        <p:spPr>
          <a:xfrm>
            <a:off x="6419088" y="2084832"/>
            <a:ext cx="2432304" cy="402336"/>
          </a:xfrm>
          <a:prstGeom prst="rect">
            <a:avLst/>
          </a:prstGeom>
          <a:noFill/>
          <a:ln/>
        </p:spPr>
        <p:txBody>
          <a:bodyPr wrap="square" lIns="0" tIns="0" rIns="0" bIns="0" rtlCol="0" anchor="ctr">
            <a:normAutofit/>
          </a:bodyPr>
          <a:lstStyle/>
          <a:p>
            <a:pPr indent="0" marL="0">
              <a:buNone/>
            </a:pPr>
            <a:r>
              <a:rPr lang="en-US" sz="850" dirty="0">
                <a:solidFill>
                  <a:srgbClr val="1E293B"/>
                </a:solidFill>
                <a:latin typeface="Calibri" pitchFamily="34" charset="0"/>
                <a:ea typeface="Calibri" pitchFamily="34" charset="-122"/>
                <a:cs typeface="Calibri" pitchFamily="34" charset="-120"/>
              </a:rPr>
              <a:t>1. Train K diverse base models (LR, RF, XGBoost, SVM…)</a:t>
            </a:r>
            <a:endParaRPr lang="en-US" sz="850" dirty="0"/>
          </a:p>
        </p:txBody>
      </p:sp>
      <p:sp>
        <p:nvSpPr>
          <p:cNvPr id="45" name="Shape 43"/>
          <p:cNvSpPr/>
          <p:nvPr/>
        </p:nvSpPr>
        <p:spPr>
          <a:xfrm>
            <a:off x="6236208" y="2578608"/>
            <a:ext cx="128016" cy="128016"/>
          </a:xfrm>
          <a:prstGeom prst="ellipse">
            <a:avLst/>
          </a:prstGeom>
          <a:solidFill>
            <a:srgbClr val="0891B2"/>
          </a:solidFill>
          <a:ln w="12700">
            <a:solidFill>
              <a:srgbClr val="0891B2">
                <a:alpha val="0"/>
              </a:srgbClr>
            </a:solidFill>
            <a:prstDash val="solid"/>
          </a:ln>
        </p:spPr>
      </p:sp>
      <p:sp>
        <p:nvSpPr>
          <p:cNvPr id="46" name="Text 44"/>
          <p:cNvSpPr/>
          <p:nvPr/>
        </p:nvSpPr>
        <p:spPr>
          <a:xfrm>
            <a:off x="6419088" y="2542032"/>
            <a:ext cx="2432304" cy="402336"/>
          </a:xfrm>
          <a:prstGeom prst="rect">
            <a:avLst/>
          </a:prstGeom>
          <a:noFill/>
          <a:ln/>
        </p:spPr>
        <p:txBody>
          <a:bodyPr wrap="square" lIns="0" tIns="0" rIns="0" bIns="0" rtlCol="0" anchor="ctr">
            <a:normAutofit/>
          </a:bodyPr>
          <a:lstStyle/>
          <a:p>
            <a:pPr indent="0" marL="0">
              <a:buNone/>
            </a:pPr>
            <a:r>
              <a:rPr lang="en-US" sz="850" dirty="0">
                <a:solidFill>
                  <a:srgbClr val="1E293B"/>
                </a:solidFill>
                <a:latin typeface="Calibri" pitchFamily="34" charset="0"/>
                <a:ea typeface="Calibri" pitchFamily="34" charset="-122"/>
                <a:cs typeface="Calibri" pitchFamily="34" charset="-120"/>
              </a:rPr>
              <a:t>2. Use base model PREDICTIONS as input features for a meta-model</a:t>
            </a:r>
            <a:endParaRPr lang="en-US" sz="850" dirty="0"/>
          </a:p>
        </p:txBody>
      </p:sp>
      <p:sp>
        <p:nvSpPr>
          <p:cNvPr id="47" name="Shape 45"/>
          <p:cNvSpPr/>
          <p:nvPr/>
        </p:nvSpPr>
        <p:spPr>
          <a:xfrm>
            <a:off x="6236208" y="3035808"/>
            <a:ext cx="128016" cy="128016"/>
          </a:xfrm>
          <a:prstGeom prst="ellipse">
            <a:avLst/>
          </a:prstGeom>
          <a:solidFill>
            <a:srgbClr val="0891B2"/>
          </a:solidFill>
          <a:ln w="12700">
            <a:solidFill>
              <a:srgbClr val="0891B2">
                <a:alpha val="0"/>
              </a:srgbClr>
            </a:solidFill>
            <a:prstDash val="solid"/>
          </a:ln>
        </p:spPr>
      </p:sp>
      <p:sp>
        <p:nvSpPr>
          <p:cNvPr id="48" name="Text 46"/>
          <p:cNvSpPr/>
          <p:nvPr/>
        </p:nvSpPr>
        <p:spPr>
          <a:xfrm>
            <a:off x="6419088" y="2999232"/>
            <a:ext cx="2432304" cy="402336"/>
          </a:xfrm>
          <a:prstGeom prst="rect">
            <a:avLst/>
          </a:prstGeom>
          <a:noFill/>
          <a:ln/>
        </p:spPr>
        <p:txBody>
          <a:bodyPr wrap="square" lIns="0" tIns="0" rIns="0" bIns="0" rtlCol="0" anchor="ctr">
            <a:normAutofit/>
          </a:bodyPr>
          <a:lstStyle/>
          <a:p>
            <a:pPr indent="0" marL="0">
              <a:buNone/>
            </a:pPr>
            <a:r>
              <a:rPr lang="en-US" sz="850" dirty="0">
                <a:solidFill>
                  <a:srgbClr val="1E293B"/>
                </a:solidFill>
                <a:latin typeface="Calibri" pitchFamily="34" charset="0"/>
                <a:ea typeface="Calibri" pitchFamily="34" charset="-122"/>
                <a:cs typeface="Calibri" pitchFamily="34" charset="-120"/>
              </a:rPr>
              <a:t>3. Meta-model learns which base model to trust in which region</a:t>
            </a:r>
            <a:endParaRPr lang="en-US" sz="850" dirty="0"/>
          </a:p>
        </p:txBody>
      </p:sp>
      <p:sp>
        <p:nvSpPr>
          <p:cNvPr id="49" name="Shape 47"/>
          <p:cNvSpPr/>
          <p:nvPr/>
        </p:nvSpPr>
        <p:spPr>
          <a:xfrm>
            <a:off x="6236208" y="3493008"/>
            <a:ext cx="128016" cy="128016"/>
          </a:xfrm>
          <a:prstGeom prst="ellipse">
            <a:avLst/>
          </a:prstGeom>
          <a:solidFill>
            <a:srgbClr val="0891B2"/>
          </a:solidFill>
          <a:ln w="12700">
            <a:solidFill>
              <a:srgbClr val="0891B2">
                <a:alpha val="0"/>
              </a:srgbClr>
            </a:solidFill>
            <a:prstDash val="solid"/>
          </a:ln>
        </p:spPr>
      </p:sp>
      <p:sp>
        <p:nvSpPr>
          <p:cNvPr id="50" name="Text 48"/>
          <p:cNvSpPr/>
          <p:nvPr/>
        </p:nvSpPr>
        <p:spPr>
          <a:xfrm>
            <a:off x="6419088" y="3456432"/>
            <a:ext cx="2432304" cy="402336"/>
          </a:xfrm>
          <a:prstGeom prst="rect">
            <a:avLst/>
          </a:prstGeom>
          <a:noFill/>
          <a:ln/>
        </p:spPr>
        <p:txBody>
          <a:bodyPr wrap="square" lIns="0" tIns="0" rIns="0" bIns="0" rtlCol="0" anchor="ctr">
            <a:normAutofit/>
          </a:bodyPr>
          <a:lstStyle/>
          <a:p>
            <a:pPr indent="0" marL="0">
              <a:buNone/>
            </a:pPr>
            <a:r>
              <a:rPr lang="en-US" sz="850" dirty="0">
                <a:solidFill>
                  <a:srgbClr val="1E293B"/>
                </a:solidFill>
                <a:latin typeface="Calibri" pitchFamily="34" charset="0"/>
                <a:ea typeface="Calibri" pitchFamily="34" charset="-122"/>
                <a:cs typeface="Calibri" pitchFamily="34" charset="-120"/>
              </a:rPr>
              <a:t>4. Base models trained via cross-validation to avoid leakage</a:t>
            </a:r>
            <a:endParaRPr lang="en-US" sz="850" dirty="0"/>
          </a:p>
        </p:txBody>
      </p:sp>
      <p:sp>
        <p:nvSpPr>
          <p:cNvPr id="51" name="Shape 49"/>
          <p:cNvSpPr/>
          <p:nvPr/>
        </p:nvSpPr>
        <p:spPr>
          <a:xfrm>
            <a:off x="6236208" y="3950208"/>
            <a:ext cx="128016" cy="128016"/>
          </a:xfrm>
          <a:prstGeom prst="ellipse">
            <a:avLst/>
          </a:prstGeom>
          <a:solidFill>
            <a:srgbClr val="0891B2"/>
          </a:solidFill>
          <a:ln w="12700">
            <a:solidFill>
              <a:srgbClr val="0891B2">
                <a:alpha val="0"/>
              </a:srgbClr>
            </a:solidFill>
            <a:prstDash val="solid"/>
          </a:ln>
        </p:spPr>
      </p:sp>
      <p:sp>
        <p:nvSpPr>
          <p:cNvPr id="52" name="Text 50"/>
          <p:cNvSpPr/>
          <p:nvPr/>
        </p:nvSpPr>
        <p:spPr>
          <a:xfrm>
            <a:off x="6419088" y="3913632"/>
            <a:ext cx="2432304" cy="402336"/>
          </a:xfrm>
          <a:prstGeom prst="rect">
            <a:avLst/>
          </a:prstGeom>
          <a:noFill/>
          <a:ln/>
        </p:spPr>
        <p:txBody>
          <a:bodyPr wrap="square" lIns="0" tIns="0" rIns="0" bIns="0" rtlCol="0" anchor="ctr">
            <a:normAutofit/>
          </a:bodyPr>
          <a:lstStyle/>
          <a:p>
            <a:pPr indent="0" marL="0">
              <a:buNone/>
            </a:pPr>
            <a:r>
              <a:rPr lang="en-US" sz="850" dirty="0">
                <a:solidFill>
                  <a:srgbClr val="1E293B"/>
                </a:solidFill>
                <a:latin typeface="Calibri" pitchFamily="34" charset="0"/>
                <a:ea typeface="Calibri" pitchFamily="34" charset="-122"/>
                <a:cs typeface="Calibri" pitchFamily="34" charset="-120"/>
              </a:rPr>
              <a:t>5. Final prediction: meta-model output</a:t>
            </a:r>
            <a:endParaRPr lang="en-US" sz="850" dirty="0"/>
          </a:p>
        </p:txBody>
      </p:sp>
      <p:sp>
        <p:nvSpPr>
          <p:cNvPr id="53" name="Shape 51"/>
          <p:cNvSpPr/>
          <p:nvPr/>
        </p:nvSpPr>
        <p:spPr>
          <a:xfrm>
            <a:off x="6236208" y="4517136"/>
            <a:ext cx="2633472" cy="420624"/>
          </a:xfrm>
          <a:prstGeom prst="rect">
            <a:avLst/>
          </a:prstGeom>
          <a:solidFill>
            <a:srgbClr val="0891B2">
              <a:alpha val="12000"/>
            </a:srgbClr>
          </a:solidFill>
          <a:ln w="12700">
            <a:solidFill>
              <a:srgbClr val="0891B2">
                <a:alpha val="0"/>
              </a:srgbClr>
            </a:solidFill>
            <a:prstDash val="solid"/>
          </a:ln>
        </p:spPr>
      </p:sp>
      <p:sp>
        <p:nvSpPr>
          <p:cNvPr id="54" name="Text 52"/>
          <p:cNvSpPr/>
          <p:nvPr/>
        </p:nvSpPr>
        <p:spPr>
          <a:xfrm>
            <a:off x="6272784" y="4535424"/>
            <a:ext cx="2560320" cy="365760"/>
          </a:xfrm>
          <a:prstGeom prst="rect">
            <a:avLst/>
          </a:prstGeom>
          <a:noFill/>
          <a:ln/>
        </p:spPr>
        <p:txBody>
          <a:bodyPr wrap="square" lIns="0" tIns="0" rIns="0" bIns="0" rtlCol="0" anchor="ctr">
            <a:normAutofit/>
          </a:bodyPr>
          <a:lstStyle/>
          <a:p>
            <a:pPr indent="0" marL="0">
              <a:buNone/>
            </a:pPr>
            <a:r>
              <a:rPr lang="en-US" sz="850" b="1" dirty="0">
                <a:solidFill>
                  <a:srgbClr val="0891B2"/>
                </a:solidFill>
                <a:latin typeface="Calibri" pitchFamily="34" charset="0"/>
                <a:ea typeface="Calibri" pitchFamily="34" charset="-122"/>
                <a:cs typeface="Calibri" pitchFamily="34" charset="-120"/>
              </a:rPr>
              <a:t>e.g. Competition winners almost always use stacking</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9F0"/>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9F1239"/>
          </a:solidFill>
          <a:ln w="12700">
            <a:solidFill>
              <a:srgbClr val="9F1239">
                <a:alpha val="0"/>
              </a:srgbClr>
            </a:solidFill>
            <a:prstDash val="solid"/>
          </a:ln>
        </p:spPr>
      </p:sp>
      <p:sp>
        <p:nvSpPr>
          <p:cNvPr id="3" name="Text 1"/>
          <p:cNvSpPr/>
          <p:nvPr/>
        </p:nvSpPr>
        <p:spPr>
          <a:xfrm>
            <a:off x="347472" y="0"/>
            <a:ext cx="8458200" cy="640080"/>
          </a:xfrm>
          <a:prstGeom prst="rect">
            <a:avLst/>
          </a:prstGeom>
          <a:noFill/>
          <a:ln/>
        </p:spPr>
        <p:txBody>
          <a:bodyPr wrap="square" lIns="0" tIns="0" rIns="0" bIns="0" rtlCol="0" anchor="ctr">
            <a:normAutofit/>
          </a:bodyPr>
          <a:lstStyle/>
          <a:p>
            <a:pPr indent="0" marL="0">
              <a:buNone/>
            </a:pPr>
            <a:r>
              <a:rPr lang="en-US" sz="1400" b="1" spc="100" kern="0" dirty="0">
                <a:solidFill>
                  <a:srgbClr val="FFFFFF"/>
                </a:solidFill>
                <a:latin typeface="Calibri" pitchFamily="34" charset="0"/>
                <a:ea typeface="Calibri" pitchFamily="34" charset="-122"/>
                <a:cs typeface="Calibri" pitchFamily="34" charset="-120"/>
              </a:rPr>
              <a:t>RANDOM FOREST — DEEP DIVE THEORY  (30 MIN)</a:t>
            </a:r>
            <a:endParaRPr lang="en-US" sz="1400" dirty="0"/>
          </a:p>
        </p:txBody>
      </p:sp>
      <p:sp>
        <p:nvSpPr>
          <p:cNvPr id="4" name="Shape 2"/>
          <p:cNvSpPr/>
          <p:nvPr/>
        </p:nvSpPr>
        <p:spPr>
          <a:xfrm>
            <a:off x="8229600" y="658368"/>
            <a:ext cx="1234440" cy="256032"/>
          </a:xfrm>
          <a:prstGeom prst="rect">
            <a:avLst/>
          </a:prstGeom>
          <a:solidFill>
            <a:srgbClr val="9F1239"/>
          </a:solidFill>
          <a:ln w="12700">
            <a:solidFill>
              <a:srgbClr val="9F1239">
                <a:alpha val="0"/>
              </a:srgbClr>
            </a:solidFill>
            <a:prstDash val="solid"/>
          </a:ln>
        </p:spPr>
      </p:sp>
      <p:sp>
        <p:nvSpPr>
          <p:cNvPr id="5" name="Text 3"/>
          <p:cNvSpPr/>
          <p:nvPr/>
        </p:nvSpPr>
        <p:spPr>
          <a:xfrm>
            <a:off x="8229600" y="658368"/>
            <a:ext cx="1234440" cy="256032"/>
          </a:xfrm>
          <a:prstGeom prst="rect">
            <a:avLst/>
          </a:prstGeom>
          <a:noFill/>
          <a:ln/>
        </p:spPr>
        <p:txBody>
          <a:bodyPr wrap="square" lIns="0" tIns="0" rIns="0" bIns="0" rtlCol="0" anchor="ctr">
            <a:normAutofit/>
          </a:bodyPr>
          <a:lstStyle/>
          <a:p>
            <a:pPr algn="ctr" indent="0" marL="0">
              <a:buNone/>
            </a:pPr>
            <a:r>
              <a:rPr lang="en-US" sz="800" b="1" dirty="0">
                <a:solidFill>
                  <a:srgbClr val="FFFFFF"/>
                </a:solidFill>
                <a:latin typeface="Calibri" pitchFamily="34" charset="0"/>
                <a:ea typeface="Calibri" pitchFamily="34" charset="-122"/>
                <a:cs typeface="Calibri" pitchFamily="34" charset="-120"/>
              </a:rPr>
              <a:t>THEORY</a:t>
            </a:r>
            <a:endParaRPr lang="en-US" sz="800" dirty="0"/>
          </a:p>
        </p:txBody>
      </p:sp>
      <p:sp>
        <p:nvSpPr>
          <p:cNvPr id="6" name="Text 4"/>
          <p:cNvSpPr/>
          <p:nvPr/>
        </p:nvSpPr>
        <p:spPr>
          <a:xfrm>
            <a:off x="347472" y="667512"/>
            <a:ext cx="8458200" cy="256032"/>
          </a:xfrm>
          <a:prstGeom prst="rect">
            <a:avLst/>
          </a:prstGeom>
          <a:noFill/>
          <a:ln/>
        </p:spPr>
        <p:txBody>
          <a:bodyPr wrap="square" lIns="0" tIns="0" rIns="0" bIns="0" rtlCol="0" anchor="ctr">
            <a:normAutofit/>
          </a:bodyPr>
          <a:lstStyle/>
          <a:p>
            <a:pPr indent="0" marL="0">
              <a:buNone/>
            </a:pPr>
            <a:r>
              <a:rPr lang="en-US" sz="1000" i="1" dirty="0">
                <a:solidFill>
                  <a:srgbClr val="64748B"/>
                </a:solidFill>
                <a:latin typeface="Calibri" pitchFamily="34" charset="0"/>
                <a:ea typeface="Calibri" pitchFamily="34" charset="-122"/>
                <a:cs typeface="Calibri" pitchFamily="34" charset="-120"/>
              </a:rPr>
              <a:t>Random Forest adds one critical trick on top of Bagging: random feature subsets at each split — this is what makes it great</a:t>
            </a:r>
            <a:endParaRPr lang="en-US" sz="1000" dirty="0"/>
          </a:p>
        </p:txBody>
      </p:sp>
      <p:sp>
        <p:nvSpPr>
          <p:cNvPr id="7" name="Text 5"/>
          <p:cNvSpPr/>
          <p:nvPr/>
        </p:nvSpPr>
        <p:spPr>
          <a:xfrm>
            <a:off x="256032" y="960120"/>
            <a:ext cx="5029200" cy="237744"/>
          </a:xfrm>
          <a:prstGeom prst="rect">
            <a:avLst/>
          </a:prstGeom>
          <a:noFill/>
          <a:ln/>
        </p:spPr>
        <p:txBody>
          <a:bodyPr wrap="square" lIns="0" tIns="0" rIns="0" bIns="0" rtlCol="0" anchor="ctr">
            <a:normAutofit/>
          </a:bodyPr>
          <a:lstStyle/>
          <a:p>
            <a:pPr indent="0" marL="0">
              <a:buNone/>
            </a:pPr>
            <a:r>
              <a:rPr lang="en-US" sz="1100" b="1" dirty="0">
                <a:solidFill>
                  <a:srgbClr val="0D1B3E"/>
                </a:solidFill>
                <a:latin typeface="Calibri" pitchFamily="34" charset="0"/>
                <a:ea typeface="Calibri" pitchFamily="34" charset="-122"/>
                <a:cs typeface="Calibri" pitchFamily="34" charset="-120"/>
              </a:rPr>
              <a:t>How Random Forest is built — step by step:</a:t>
            </a:r>
            <a:endParaRPr lang="en-US" sz="1100" dirty="0"/>
          </a:p>
        </p:txBody>
      </p:sp>
      <p:sp>
        <p:nvSpPr>
          <p:cNvPr id="8" name="Shape 6"/>
          <p:cNvSpPr/>
          <p:nvPr/>
        </p:nvSpPr>
        <p:spPr>
          <a:xfrm>
            <a:off x="256032" y="1243584"/>
            <a:ext cx="5029200" cy="621792"/>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0000"/>
              </a:srgbClr>
            </a:outerShdw>
          </a:effectLst>
        </p:spPr>
      </p:sp>
      <p:sp>
        <p:nvSpPr>
          <p:cNvPr id="9" name="Shape 7"/>
          <p:cNvSpPr/>
          <p:nvPr/>
        </p:nvSpPr>
        <p:spPr>
          <a:xfrm>
            <a:off x="256032" y="1243584"/>
            <a:ext cx="384048" cy="621792"/>
          </a:xfrm>
          <a:prstGeom prst="rect">
            <a:avLst/>
          </a:prstGeom>
          <a:solidFill>
            <a:srgbClr val="0D1B3E"/>
          </a:solidFill>
          <a:ln w="12700">
            <a:solidFill>
              <a:srgbClr val="0D1B3E">
                <a:alpha val="0"/>
              </a:srgbClr>
            </a:solidFill>
            <a:prstDash val="solid"/>
          </a:ln>
        </p:spPr>
      </p:sp>
      <p:sp>
        <p:nvSpPr>
          <p:cNvPr id="10" name="Text 8"/>
          <p:cNvSpPr/>
          <p:nvPr/>
        </p:nvSpPr>
        <p:spPr>
          <a:xfrm>
            <a:off x="256032" y="1243584"/>
            <a:ext cx="384048" cy="621792"/>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1" name="Text 9"/>
          <p:cNvSpPr/>
          <p:nvPr/>
        </p:nvSpPr>
        <p:spPr>
          <a:xfrm>
            <a:off x="713232" y="1280160"/>
            <a:ext cx="1920240" cy="219456"/>
          </a:xfrm>
          <a:prstGeom prst="rect">
            <a:avLst/>
          </a:prstGeom>
          <a:noFill/>
          <a:ln/>
        </p:spPr>
        <p:txBody>
          <a:bodyPr wrap="square" lIns="0" tIns="0" rIns="0" bIns="0" rtlCol="0" anchor="ctr">
            <a:normAutofit/>
          </a:bodyPr>
          <a:lstStyle/>
          <a:p>
            <a:pPr indent="0" marL="0">
              <a:buNone/>
            </a:pPr>
            <a:r>
              <a:rPr lang="en-US" sz="1000" b="1" dirty="0">
                <a:solidFill>
                  <a:srgbClr val="0D1B3E"/>
                </a:solidFill>
                <a:latin typeface="Calibri" pitchFamily="34" charset="0"/>
                <a:ea typeface="Calibri" pitchFamily="34" charset="-122"/>
                <a:cs typeface="Calibri" pitchFamily="34" charset="-120"/>
              </a:rPr>
              <a:t>Bootstrap Sample</a:t>
            </a:r>
            <a:endParaRPr lang="en-US" sz="1000" dirty="0"/>
          </a:p>
        </p:txBody>
      </p:sp>
      <p:sp>
        <p:nvSpPr>
          <p:cNvPr id="12" name="Text 10"/>
          <p:cNvSpPr/>
          <p:nvPr/>
        </p:nvSpPr>
        <p:spPr>
          <a:xfrm>
            <a:off x="713232" y="1508760"/>
            <a:ext cx="4462272" cy="329184"/>
          </a:xfrm>
          <a:prstGeom prst="rect">
            <a:avLst/>
          </a:prstGeom>
          <a:noFill/>
          <a:ln/>
        </p:spPr>
        <p:txBody>
          <a:bodyPr wrap="square" lIns="0" tIns="0" rIns="0" bIns="0" rtlCol="0" anchor="ctr">
            <a:normAutofit/>
          </a:bodyPr>
          <a:lstStyle/>
          <a:p>
            <a:pPr indent="0" marL="0">
              <a:buNone/>
            </a:pPr>
            <a:r>
              <a:rPr lang="en-US" sz="880" dirty="0">
                <a:solidFill>
                  <a:srgbClr val="1E293B"/>
                </a:solidFill>
                <a:latin typeface="Calibri" pitchFamily="34" charset="0"/>
                <a:ea typeface="Calibri" pitchFamily="34" charset="-122"/>
                <a:cs typeface="Calibri" pitchFamily="34" charset="-120"/>
              </a:rPr>
              <a:t>Randomly sample N rows WITH replacement from training set. Each tree sees ~63% unique samples. The remaining 37% = Out-of-Bag (OOB) samples.</a:t>
            </a:r>
            <a:endParaRPr lang="en-US" sz="880" dirty="0"/>
          </a:p>
        </p:txBody>
      </p:sp>
      <p:sp>
        <p:nvSpPr>
          <p:cNvPr id="13" name="Shape 11"/>
          <p:cNvSpPr/>
          <p:nvPr/>
        </p:nvSpPr>
        <p:spPr>
          <a:xfrm>
            <a:off x="256032" y="1929384"/>
            <a:ext cx="5029200" cy="621792"/>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0000"/>
              </a:srgbClr>
            </a:outerShdw>
          </a:effectLst>
        </p:spPr>
      </p:sp>
      <p:sp>
        <p:nvSpPr>
          <p:cNvPr id="14" name="Shape 12"/>
          <p:cNvSpPr/>
          <p:nvPr/>
        </p:nvSpPr>
        <p:spPr>
          <a:xfrm>
            <a:off x="256032" y="1929384"/>
            <a:ext cx="384048" cy="621792"/>
          </a:xfrm>
          <a:prstGeom prst="rect">
            <a:avLst/>
          </a:prstGeom>
          <a:solidFill>
            <a:srgbClr val="9F1239"/>
          </a:solidFill>
          <a:ln w="12700">
            <a:solidFill>
              <a:srgbClr val="9F1239">
                <a:alpha val="0"/>
              </a:srgbClr>
            </a:solidFill>
            <a:prstDash val="solid"/>
          </a:ln>
        </p:spPr>
      </p:sp>
      <p:sp>
        <p:nvSpPr>
          <p:cNvPr id="15" name="Text 13"/>
          <p:cNvSpPr/>
          <p:nvPr/>
        </p:nvSpPr>
        <p:spPr>
          <a:xfrm>
            <a:off x="256032" y="1929384"/>
            <a:ext cx="384048" cy="621792"/>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Text 14"/>
          <p:cNvSpPr/>
          <p:nvPr/>
        </p:nvSpPr>
        <p:spPr>
          <a:xfrm>
            <a:off x="713232" y="1965960"/>
            <a:ext cx="1920240" cy="219456"/>
          </a:xfrm>
          <a:prstGeom prst="rect">
            <a:avLst/>
          </a:prstGeom>
          <a:noFill/>
          <a:ln/>
        </p:spPr>
        <p:txBody>
          <a:bodyPr wrap="square" lIns="0" tIns="0" rIns="0" bIns="0" rtlCol="0" anchor="ctr">
            <a:normAutofit/>
          </a:bodyPr>
          <a:lstStyle/>
          <a:p>
            <a:pPr indent="0" marL="0">
              <a:buNone/>
            </a:pPr>
            <a:r>
              <a:rPr lang="en-US" sz="1000" b="1" dirty="0">
                <a:solidFill>
                  <a:srgbClr val="9F1239"/>
                </a:solidFill>
                <a:latin typeface="Calibri" pitchFamily="34" charset="0"/>
                <a:ea typeface="Calibri" pitchFamily="34" charset="-122"/>
                <a:cs typeface="Calibri" pitchFamily="34" charset="-120"/>
              </a:rPr>
              <a:t>Random Feature Subset</a:t>
            </a:r>
            <a:endParaRPr lang="en-US" sz="1000" dirty="0"/>
          </a:p>
        </p:txBody>
      </p:sp>
      <p:sp>
        <p:nvSpPr>
          <p:cNvPr id="17" name="Text 15"/>
          <p:cNvSpPr/>
          <p:nvPr/>
        </p:nvSpPr>
        <p:spPr>
          <a:xfrm>
            <a:off x="713232" y="2194560"/>
            <a:ext cx="4462272" cy="329184"/>
          </a:xfrm>
          <a:prstGeom prst="rect">
            <a:avLst/>
          </a:prstGeom>
          <a:noFill/>
          <a:ln/>
        </p:spPr>
        <p:txBody>
          <a:bodyPr wrap="square" lIns="0" tIns="0" rIns="0" bIns="0" rtlCol="0" anchor="ctr">
            <a:normAutofit/>
          </a:bodyPr>
          <a:lstStyle/>
          <a:p>
            <a:pPr indent="0" marL="0">
              <a:buNone/>
            </a:pPr>
            <a:r>
              <a:rPr lang="en-US" sz="880" dirty="0">
                <a:solidFill>
                  <a:srgbClr val="1E293B"/>
                </a:solidFill>
                <a:latin typeface="Calibri" pitchFamily="34" charset="0"/>
                <a:ea typeface="Calibri" pitchFamily="34" charset="-122"/>
                <a:cs typeface="Calibri" pitchFamily="34" charset="-120"/>
              </a:rPr>
              <a:t>At EVERY split in EVERY tree: consider only √p features (p = total features). This is what makes trees DECORRELATED — they can't all pick the same dominant feature.</a:t>
            </a:r>
            <a:endParaRPr lang="en-US" sz="880" dirty="0"/>
          </a:p>
        </p:txBody>
      </p:sp>
      <p:sp>
        <p:nvSpPr>
          <p:cNvPr id="18" name="Shape 16"/>
          <p:cNvSpPr/>
          <p:nvPr/>
        </p:nvSpPr>
        <p:spPr>
          <a:xfrm>
            <a:off x="256032" y="2615184"/>
            <a:ext cx="5029200" cy="621792"/>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0000"/>
              </a:srgbClr>
            </a:outerShdw>
          </a:effectLst>
        </p:spPr>
      </p:sp>
      <p:sp>
        <p:nvSpPr>
          <p:cNvPr id="19" name="Shape 17"/>
          <p:cNvSpPr/>
          <p:nvPr/>
        </p:nvSpPr>
        <p:spPr>
          <a:xfrm>
            <a:off x="256032" y="2615184"/>
            <a:ext cx="384048" cy="621792"/>
          </a:xfrm>
          <a:prstGeom prst="rect">
            <a:avLst/>
          </a:prstGeom>
          <a:solidFill>
            <a:srgbClr val="0891B2"/>
          </a:solidFill>
          <a:ln w="12700">
            <a:solidFill>
              <a:srgbClr val="0891B2">
                <a:alpha val="0"/>
              </a:srgbClr>
            </a:solidFill>
            <a:prstDash val="solid"/>
          </a:ln>
        </p:spPr>
      </p:sp>
      <p:sp>
        <p:nvSpPr>
          <p:cNvPr id="20" name="Text 18"/>
          <p:cNvSpPr/>
          <p:nvPr/>
        </p:nvSpPr>
        <p:spPr>
          <a:xfrm>
            <a:off x="256032" y="2615184"/>
            <a:ext cx="384048" cy="621792"/>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1" name="Text 19"/>
          <p:cNvSpPr/>
          <p:nvPr/>
        </p:nvSpPr>
        <p:spPr>
          <a:xfrm>
            <a:off x="713232" y="2651760"/>
            <a:ext cx="1920240" cy="219456"/>
          </a:xfrm>
          <a:prstGeom prst="rect">
            <a:avLst/>
          </a:prstGeom>
          <a:noFill/>
          <a:ln/>
        </p:spPr>
        <p:txBody>
          <a:bodyPr wrap="square" lIns="0" tIns="0" rIns="0" bIns="0" rtlCol="0" anchor="ctr">
            <a:normAutofit/>
          </a:bodyPr>
          <a:lstStyle/>
          <a:p>
            <a:pPr indent="0" marL="0">
              <a:buNone/>
            </a:pPr>
            <a:r>
              <a:rPr lang="en-US" sz="1000" b="1" dirty="0">
                <a:solidFill>
                  <a:srgbClr val="0891B2"/>
                </a:solidFill>
                <a:latin typeface="Calibri" pitchFamily="34" charset="0"/>
                <a:ea typeface="Calibri" pitchFamily="34" charset="-122"/>
                <a:cs typeface="Calibri" pitchFamily="34" charset="-120"/>
              </a:rPr>
              <a:t>Grow Full Tree</a:t>
            </a:r>
            <a:endParaRPr lang="en-US" sz="1000" dirty="0"/>
          </a:p>
        </p:txBody>
      </p:sp>
      <p:sp>
        <p:nvSpPr>
          <p:cNvPr id="22" name="Text 20"/>
          <p:cNvSpPr/>
          <p:nvPr/>
        </p:nvSpPr>
        <p:spPr>
          <a:xfrm>
            <a:off x="713232" y="2880360"/>
            <a:ext cx="4462272" cy="329184"/>
          </a:xfrm>
          <a:prstGeom prst="rect">
            <a:avLst/>
          </a:prstGeom>
          <a:noFill/>
          <a:ln/>
        </p:spPr>
        <p:txBody>
          <a:bodyPr wrap="square" lIns="0" tIns="0" rIns="0" bIns="0" rtlCol="0" anchor="ctr">
            <a:normAutofit/>
          </a:bodyPr>
          <a:lstStyle/>
          <a:p>
            <a:pPr indent="0" marL="0">
              <a:buNone/>
            </a:pPr>
            <a:r>
              <a:rPr lang="en-US" sz="880" dirty="0">
                <a:solidFill>
                  <a:srgbClr val="1E293B"/>
                </a:solidFill>
                <a:latin typeface="Calibri" pitchFamily="34" charset="0"/>
                <a:ea typeface="Calibri" pitchFamily="34" charset="-122"/>
                <a:cs typeface="Calibri" pitchFamily="34" charset="-120"/>
              </a:rPr>
              <a:t>Grow the tree fully (no pruning). Deep trees have high variance — but the ensemble average cancels this out. Key insight: bias stays low, variance collapses.</a:t>
            </a:r>
            <a:endParaRPr lang="en-US" sz="880" dirty="0"/>
          </a:p>
        </p:txBody>
      </p:sp>
      <p:sp>
        <p:nvSpPr>
          <p:cNvPr id="23" name="Shape 21"/>
          <p:cNvSpPr/>
          <p:nvPr/>
        </p:nvSpPr>
        <p:spPr>
          <a:xfrm>
            <a:off x="256032" y="3300984"/>
            <a:ext cx="5029200" cy="621792"/>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0000"/>
              </a:srgbClr>
            </a:outerShdw>
          </a:effectLst>
        </p:spPr>
      </p:sp>
      <p:sp>
        <p:nvSpPr>
          <p:cNvPr id="24" name="Shape 22"/>
          <p:cNvSpPr/>
          <p:nvPr/>
        </p:nvSpPr>
        <p:spPr>
          <a:xfrm>
            <a:off x="256032" y="3300984"/>
            <a:ext cx="384048" cy="621792"/>
          </a:xfrm>
          <a:prstGeom prst="rect">
            <a:avLst/>
          </a:prstGeom>
          <a:solidFill>
            <a:srgbClr val="7C3AED"/>
          </a:solidFill>
          <a:ln w="12700">
            <a:solidFill>
              <a:srgbClr val="7C3AED">
                <a:alpha val="0"/>
              </a:srgbClr>
            </a:solidFill>
            <a:prstDash val="solid"/>
          </a:ln>
        </p:spPr>
      </p:sp>
      <p:sp>
        <p:nvSpPr>
          <p:cNvPr id="25" name="Text 23"/>
          <p:cNvSpPr/>
          <p:nvPr/>
        </p:nvSpPr>
        <p:spPr>
          <a:xfrm>
            <a:off x="256032" y="3300984"/>
            <a:ext cx="384048" cy="621792"/>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6" name="Text 24"/>
          <p:cNvSpPr/>
          <p:nvPr/>
        </p:nvSpPr>
        <p:spPr>
          <a:xfrm>
            <a:off x="713232" y="3337560"/>
            <a:ext cx="1920240" cy="219456"/>
          </a:xfrm>
          <a:prstGeom prst="rect">
            <a:avLst/>
          </a:prstGeom>
          <a:noFill/>
          <a:ln/>
        </p:spPr>
        <p:txBody>
          <a:bodyPr wrap="square" lIns="0" tIns="0" rIns="0" bIns="0" rtlCol="0" anchor="ctr">
            <a:normAutofit/>
          </a:bodyPr>
          <a:lstStyle/>
          <a:p>
            <a:pPr indent="0" marL="0">
              <a:buNone/>
            </a:pPr>
            <a:r>
              <a:rPr lang="en-US" sz="1000" b="1" dirty="0">
                <a:solidFill>
                  <a:srgbClr val="7C3AED"/>
                </a:solidFill>
                <a:latin typeface="Calibri" pitchFamily="34" charset="0"/>
                <a:ea typeface="Calibri" pitchFamily="34" charset="-122"/>
                <a:cs typeface="Calibri" pitchFamily="34" charset="-120"/>
              </a:rPr>
              <a:t>Repeat × n_estimators</a:t>
            </a:r>
            <a:endParaRPr lang="en-US" sz="1000" dirty="0"/>
          </a:p>
        </p:txBody>
      </p:sp>
      <p:sp>
        <p:nvSpPr>
          <p:cNvPr id="27" name="Text 25"/>
          <p:cNvSpPr/>
          <p:nvPr/>
        </p:nvSpPr>
        <p:spPr>
          <a:xfrm>
            <a:off x="713232" y="3566160"/>
            <a:ext cx="4462272" cy="329184"/>
          </a:xfrm>
          <a:prstGeom prst="rect">
            <a:avLst/>
          </a:prstGeom>
          <a:noFill/>
          <a:ln/>
        </p:spPr>
        <p:txBody>
          <a:bodyPr wrap="square" lIns="0" tIns="0" rIns="0" bIns="0" rtlCol="0" anchor="ctr">
            <a:normAutofit/>
          </a:bodyPr>
          <a:lstStyle/>
          <a:p>
            <a:pPr indent="0" marL="0">
              <a:buNone/>
            </a:pPr>
            <a:r>
              <a:rPr lang="en-US" sz="880" dirty="0">
                <a:solidFill>
                  <a:srgbClr val="1E293B"/>
                </a:solidFill>
                <a:latin typeface="Calibri" pitchFamily="34" charset="0"/>
                <a:ea typeface="Calibri" pitchFamily="34" charset="-122"/>
                <a:cs typeface="Calibri" pitchFamily="34" charset="-120"/>
              </a:rPr>
              <a:t>Typically 100–500 trees. Each sees different data, different features at each split → makes different mistakes → ensemble is more accurate.</a:t>
            </a:r>
            <a:endParaRPr lang="en-US" sz="880" dirty="0"/>
          </a:p>
        </p:txBody>
      </p:sp>
      <p:sp>
        <p:nvSpPr>
          <p:cNvPr id="28" name="Shape 26"/>
          <p:cNvSpPr/>
          <p:nvPr/>
        </p:nvSpPr>
        <p:spPr>
          <a:xfrm>
            <a:off x="256032" y="3986784"/>
            <a:ext cx="5029200" cy="621792"/>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0000"/>
              </a:srgbClr>
            </a:outerShdw>
          </a:effectLst>
        </p:spPr>
      </p:sp>
      <p:sp>
        <p:nvSpPr>
          <p:cNvPr id="29" name="Shape 27"/>
          <p:cNvSpPr/>
          <p:nvPr/>
        </p:nvSpPr>
        <p:spPr>
          <a:xfrm>
            <a:off x="256032" y="3986784"/>
            <a:ext cx="384048" cy="621792"/>
          </a:xfrm>
          <a:prstGeom prst="rect">
            <a:avLst/>
          </a:prstGeom>
          <a:solidFill>
            <a:srgbClr val="059669"/>
          </a:solidFill>
          <a:ln w="12700">
            <a:solidFill>
              <a:srgbClr val="059669">
                <a:alpha val="0"/>
              </a:srgbClr>
            </a:solidFill>
            <a:prstDash val="solid"/>
          </a:ln>
        </p:spPr>
      </p:sp>
      <p:sp>
        <p:nvSpPr>
          <p:cNvPr id="30" name="Text 28"/>
          <p:cNvSpPr/>
          <p:nvPr/>
        </p:nvSpPr>
        <p:spPr>
          <a:xfrm>
            <a:off x="256032" y="3986784"/>
            <a:ext cx="384048" cy="621792"/>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31" name="Text 29"/>
          <p:cNvSpPr/>
          <p:nvPr/>
        </p:nvSpPr>
        <p:spPr>
          <a:xfrm>
            <a:off x="713232" y="4023360"/>
            <a:ext cx="1920240" cy="219456"/>
          </a:xfrm>
          <a:prstGeom prst="rect">
            <a:avLst/>
          </a:prstGeom>
          <a:noFill/>
          <a:ln/>
        </p:spPr>
        <p:txBody>
          <a:bodyPr wrap="square" lIns="0" tIns="0" rIns="0" bIns="0" rtlCol="0" anchor="ctr">
            <a:normAutofit/>
          </a:bodyPr>
          <a:lstStyle/>
          <a:p>
            <a:pPr indent="0" marL="0">
              <a:buNone/>
            </a:pPr>
            <a:r>
              <a:rPr lang="en-US" sz="1000" b="1" dirty="0">
                <a:solidFill>
                  <a:srgbClr val="059669"/>
                </a:solidFill>
                <a:latin typeface="Calibri" pitchFamily="34" charset="0"/>
                <a:ea typeface="Calibri" pitchFamily="34" charset="-122"/>
                <a:cs typeface="Calibri" pitchFamily="34" charset="-120"/>
              </a:rPr>
              <a:t>Aggregate Predictions</a:t>
            </a:r>
            <a:endParaRPr lang="en-US" sz="1000" dirty="0"/>
          </a:p>
        </p:txBody>
      </p:sp>
      <p:sp>
        <p:nvSpPr>
          <p:cNvPr id="32" name="Text 30"/>
          <p:cNvSpPr/>
          <p:nvPr/>
        </p:nvSpPr>
        <p:spPr>
          <a:xfrm>
            <a:off x="713232" y="4251960"/>
            <a:ext cx="4462272" cy="329184"/>
          </a:xfrm>
          <a:prstGeom prst="rect">
            <a:avLst/>
          </a:prstGeom>
          <a:noFill/>
          <a:ln/>
        </p:spPr>
        <p:txBody>
          <a:bodyPr wrap="square" lIns="0" tIns="0" rIns="0" bIns="0" rtlCol="0" anchor="ctr">
            <a:normAutofit/>
          </a:bodyPr>
          <a:lstStyle/>
          <a:p>
            <a:pPr indent="0" marL="0">
              <a:buNone/>
            </a:pPr>
            <a:r>
              <a:rPr lang="en-US" sz="880" dirty="0">
                <a:solidFill>
                  <a:srgbClr val="1E293B"/>
                </a:solidFill>
                <a:latin typeface="Calibri" pitchFamily="34" charset="0"/>
                <a:ea typeface="Calibri" pitchFamily="34" charset="-122"/>
                <a:cs typeface="Calibri" pitchFamily="34" charset="-120"/>
              </a:rPr>
              <a:t>Classification: MAJORITY VOTE across all trees. Regression: MEAN of all trees. predict_proba(): fraction of trees voting for each class.</a:t>
            </a:r>
            <a:endParaRPr lang="en-US" sz="880" dirty="0"/>
          </a:p>
        </p:txBody>
      </p:sp>
      <p:sp>
        <p:nvSpPr>
          <p:cNvPr id="33" name="Text 31"/>
          <p:cNvSpPr/>
          <p:nvPr/>
        </p:nvSpPr>
        <p:spPr>
          <a:xfrm>
            <a:off x="5468112" y="960120"/>
            <a:ext cx="3401568" cy="237744"/>
          </a:xfrm>
          <a:prstGeom prst="rect">
            <a:avLst/>
          </a:prstGeom>
          <a:noFill/>
          <a:ln/>
        </p:spPr>
        <p:txBody>
          <a:bodyPr wrap="square" lIns="0" tIns="0" rIns="0" bIns="0" rtlCol="0" anchor="ctr">
            <a:normAutofit/>
          </a:bodyPr>
          <a:lstStyle/>
          <a:p>
            <a:pPr indent="0" marL="0">
              <a:buNone/>
            </a:pPr>
            <a:r>
              <a:rPr lang="en-US" sz="1100" b="1" dirty="0">
                <a:solidFill>
                  <a:srgbClr val="0D1B3E"/>
                </a:solidFill>
                <a:latin typeface="Calibri" pitchFamily="34" charset="0"/>
                <a:ea typeface="Calibri" pitchFamily="34" charset="-122"/>
                <a:cs typeface="Calibri" pitchFamily="34" charset="-120"/>
              </a:rPr>
              <a:t>Key Hyperparameters:</a:t>
            </a:r>
            <a:endParaRPr lang="en-US" sz="1100" dirty="0"/>
          </a:p>
        </p:txBody>
      </p:sp>
      <p:sp>
        <p:nvSpPr>
          <p:cNvPr id="34" name="Shape 32"/>
          <p:cNvSpPr/>
          <p:nvPr/>
        </p:nvSpPr>
        <p:spPr>
          <a:xfrm>
            <a:off x="5468112" y="1243584"/>
            <a:ext cx="3401568" cy="521208"/>
          </a:xfrm>
          <a:prstGeom prst="rect">
            <a:avLst/>
          </a:prstGeom>
          <a:solidFill>
            <a:srgbClr val="FFFFFF"/>
          </a:solidFill>
          <a:ln w="6350">
            <a:solidFill>
              <a:srgbClr val="E2E8F0"/>
            </a:solidFill>
            <a:prstDash val="solid"/>
          </a:ln>
        </p:spPr>
      </p:sp>
      <p:sp>
        <p:nvSpPr>
          <p:cNvPr id="35" name="Shape 33"/>
          <p:cNvSpPr/>
          <p:nvPr/>
        </p:nvSpPr>
        <p:spPr>
          <a:xfrm>
            <a:off x="5468112" y="1243584"/>
            <a:ext cx="54864" cy="521208"/>
          </a:xfrm>
          <a:prstGeom prst="rect">
            <a:avLst/>
          </a:prstGeom>
          <a:solidFill>
            <a:srgbClr val="9F1239"/>
          </a:solidFill>
          <a:ln w="12700">
            <a:solidFill>
              <a:srgbClr val="9F1239">
                <a:alpha val="0"/>
              </a:srgbClr>
            </a:solidFill>
            <a:prstDash val="solid"/>
          </a:ln>
        </p:spPr>
      </p:sp>
      <p:sp>
        <p:nvSpPr>
          <p:cNvPr id="36" name="Text 34"/>
          <p:cNvSpPr/>
          <p:nvPr/>
        </p:nvSpPr>
        <p:spPr>
          <a:xfrm>
            <a:off x="5577840" y="1280160"/>
            <a:ext cx="1508760" cy="182880"/>
          </a:xfrm>
          <a:prstGeom prst="rect">
            <a:avLst/>
          </a:prstGeom>
          <a:noFill/>
          <a:ln/>
        </p:spPr>
        <p:txBody>
          <a:bodyPr wrap="square" lIns="0" tIns="0" rIns="0" bIns="0" rtlCol="0" anchor="ctr">
            <a:normAutofit/>
          </a:bodyPr>
          <a:lstStyle/>
          <a:p>
            <a:pPr indent="0" marL="0">
              <a:buNone/>
            </a:pPr>
            <a:r>
              <a:rPr lang="en-US" sz="920" b="1" dirty="0">
                <a:solidFill>
                  <a:srgbClr val="9F1239"/>
                </a:solidFill>
                <a:latin typeface="Courier New" pitchFamily="34" charset="0"/>
                <a:ea typeface="Courier New" pitchFamily="34" charset="-122"/>
                <a:cs typeface="Courier New" pitchFamily="34" charset="-120"/>
              </a:rPr>
              <a:t>n_estimators</a:t>
            </a:r>
            <a:endParaRPr lang="en-US" sz="920" dirty="0"/>
          </a:p>
        </p:txBody>
      </p:sp>
      <p:sp>
        <p:nvSpPr>
          <p:cNvPr id="37" name="Text 35"/>
          <p:cNvSpPr/>
          <p:nvPr/>
        </p:nvSpPr>
        <p:spPr>
          <a:xfrm>
            <a:off x="7132320" y="1280160"/>
            <a:ext cx="1664208" cy="182880"/>
          </a:xfrm>
          <a:prstGeom prst="rect">
            <a:avLst/>
          </a:prstGeom>
          <a:noFill/>
          <a:ln/>
        </p:spPr>
        <p:txBody>
          <a:bodyPr wrap="square" lIns="0" tIns="0" rIns="0" bIns="0" rtlCol="0" anchor="ctr">
            <a:normAutofit/>
          </a:bodyPr>
          <a:lstStyle/>
          <a:p>
            <a:pPr indent="0" marL="0">
              <a:buNone/>
            </a:pPr>
            <a:r>
              <a:rPr lang="en-US" sz="820" dirty="0">
                <a:solidFill>
                  <a:srgbClr val="64748B"/>
                </a:solidFill>
                <a:latin typeface="Calibri" pitchFamily="34" charset="0"/>
                <a:ea typeface="Calibri" pitchFamily="34" charset="-122"/>
                <a:cs typeface="Calibri" pitchFamily="34" charset="-120"/>
              </a:rPr>
              <a:t>default: 100–500</a:t>
            </a:r>
            <a:endParaRPr lang="en-US" sz="820" dirty="0"/>
          </a:p>
        </p:txBody>
      </p:sp>
      <p:sp>
        <p:nvSpPr>
          <p:cNvPr id="38" name="Text 36"/>
          <p:cNvSpPr/>
          <p:nvPr/>
        </p:nvSpPr>
        <p:spPr>
          <a:xfrm>
            <a:off x="5577840" y="1499616"/>
            <a:ext cx="3200400" cy="219456"/>
          </a:xfrm>
          <a:prstGeom prst="rect">
            <a:avLst/>
          </a:prstGeom>
          <a:noFill/>
          <a:ln/>
        </p:spPr>
        <p:txBody>
          <a:bodyPr wrap="square" lIns="0" tIns="0" rIns="0" bIns="0" rtlCol="0" anchor="ctr">
            <a:normAutofit/>
          </a:bodyPr>
          <a:lstStyle/>
          <a:p>
            <a:pPr indent="0" marL="0">
              <a:buNone/>
            </a:pPr>
            <a:r>
              <a:rPr lang="en-US" sz="800" dirty="0">
                <a:solidFill>
                  <a:srgbClr val="1E293B"/>
                </a:solidFill>
                <a:latin typeface="Calibri" pitchFamily="34" charset="0"/>
                <a:ea typeface="Calibri" pitchFamily="34" charset="-122"/>
                <a:cs typeface="Calibri" pitchFamily="34" charset="-120"/>
              </a:rPr>
              <a:t>More trees = better up to a point. After ~300 diminishing returns. Parallelises on all cores.</a:t>
            </a:r>
            <a:endParaRPr lang="en-US" sz="800" dirty="0"/>
          </a:p>
        </p:txBody>
      </p:sp>
      <p:sp>
        <p:nvSpPr>
          <p:cNvPr id="39" name="Shape 37"/>
          <p:cNvSpPr/>
          <p:nvPr/>
        </p:nvSpPr>
        <p:spPr>
          <a:xfrm>
            <a:off x="5468112" y="1810512"/>
            <a:ext cx="3401568" cy="521208"/>
          </a:xfrm>
          <a:prstGeom prst="rect">
            <a:avLst/>
          </a:prstGeom>
          <a:solidFill>
            <a:srgbClr val="FFFFFF"/>
          </a:solidFill>
          <a:ln w="6350">
            <a:solidFill>
              <a:srgbClr val="E2E8F0"/>
            </a:solidFill>
            <a:prstDash val="solid"/>
          </a:ln>
        </p:spPr>
      </p:sp>
      <p:sp>
        <p:nvSpPr>
          <p:cNvPr id="40" name="Shape 38"/>
          <p:cNvSpPr/>
          <p:nvPr/>
        </p:nvSpPr>
        <p:spPr>
          <a:xfrm>
            <a:off x="5468112" y="1810512"/>
            <a:ext cx="54864" cy="521208"/>
          </a:xfrm>
          <a:prstGeom prst="rect">
            <a:avLst/>
          </a:prstGeom>
          <a:solidFill>
            <a:srgbClr val="9F1239"/>
          </a:solidFill>
          <a:ln w="12700">
            <a:solidFill>
              <a:srgbClr val="9F1239">
                <a:alpha val="0"/>
              </a:srgbClr>
            </a:solidFill>
            <a:prstDash val="solid"/>
          </a:ln>
        </p:spPr>
      </p:sp>
      <p:sp>
        <p:nvSpPr>
          <p:cNvPr id="41" name="Text 39"/>
          <p:cNvSpPr/>
          <p:nvPr/>
        </p:nvSpPr>
        <p:spPr>
          <a:xfrm>
            <a:off x="5577840" y="1847088"/>
            <a:ext cx="1508760" cy="182880"/>
          </a:xfrm>
          <a:prstGeom prst="rect">
            <a:avLst/>
          </a:prstGeom>
          <a:noFill/>
          <a:ln/>
        </p:spPr>
        <p:txBody>
          <a:bodyPr wrap="square" lIns="0" tIns="0" rIns="0" bIns="0" rtlCol="0" anchor="ctr">
            <a:normAutofit/>
          </a:bodyPr>
          <a:lstStyle/>
          <a:p>
            <a:pPr indent="0" marL="0">
              <a:buNone/>
            </a:pPr>
            <a:r>
              <a:rPr lang="en-US" sz="920" b="1" dirty="0">
                <a:solidFill>
                  <a:srgbClr val="9F1239"/>
                </a:solidFill>
                <a:latin typeface="Courier New" pitchFamily="34" charset="0"/>
                <a:ea typeface="Courier New" pitchFamily="34" charset="-122"/>
                <a:cs typeface="Courier New" pitchFamily="34" charset="-120"/>
              </a:rPr>
              <a:t>max_features</a:t>
            </a:r>
            <a:endParaRPr lang="en-US" sz="920" dirty="0"/>
          </a:p>
        </p:txBody>
      </p:sp>
      <p:sp>
        <p:nvSpPr>
          <p:cNvPr id="42" name="Text 40"/>
          <p:cNvSpPr/>
          <p:nvPr/>
        </p:nvSpPr>
        <p:spPr>
          <a:xfrm>
            <a:off x="7132320" y="1847088"/>
            <a:ext cx="1664208" cy="182880"/>
          </a:xfrm>
          <a:prstGeom prst="rect">
            <a:avLst/>
          </a:prstGeom>
          <a:noFill/>
          <a:ln/>
        </p:spPr>
        <p:txBody>
          <a:bodyPr wrap="square" lIns="0" tIns="0" rIns="0" bIns="0" rtlCol="0" anchor="ctr">
            <a:normAutofit/>
          </a:bodyPr>
          <a:lstStyle/>
          <a:p>
            <a:pPr indent="0" marL="0">
              <a:buNone/>
            </a:pPr>
            <a:r>
              <a:rPr lang="en-US" sz="820" dirty="0">
                <a:solidFill>
                  <a:srgbClr val="64748B"/>
                </a:solidFill>
                <a:latin typeface="Calibri" pitchFamily="34" charset="0"/>
                <a:ea typeface="Calibri" pitchFamily="34" charset="-122"/>
                <a:cs typeface="Calibri" pitchFamily="34" charset="-120"/>
              </a:rPr>
              <a:t>default: 'sqrt'</a:t>
            </a:r>
            <a:endParaRPr lang="en-US" sz="820" dirty="0"/>
          </a:p>
        </p:txBody>
      </p:sp>
      <p:sp>
        <p:nvSpPr>
          <p:cNvPr id="43" name="Text 41"/>
          <p:cNvSpPr/>
          <p:nvPr/>
        </p:nvSpPr>
        <p:spPr>
          <a:xfrm>
            <a:off x="5577840" y="2066544"/>
            <a:ext cx="3200400" cy="219456"/>
          </a:xfrm>
          <a:prstGeom prst="rect">
            <a:avLst/>
          </a:prstGeom>
          <a:noFill/>
          <a:ln/>
        </p:spPr>
        <p:txBody>
          <a:bodyPr wrap="square" lIns="0" tIns="0" rIns="0" bIns="0" rtlCol="0" anchor="ctr">
            <a:normAutofit/>
          </a:bodyPr>
          <a:lstStyle/>
          <a:p>
            <a:pPr indent="0" marL="0">
              <a:buNone/>
            </a:pPr>
            <a:r>
              <a:rPr lang="en-US" sz="800" dirty="0">
                <a:solidFill>
                  <a:srgbClr val="1E293B"/>
                </a:solidFill>
                <a:latin typeface="Calibri" pitchFamily="34" charset="0"/>
                <a:ea typeface="Calibri" pitchFamily="34" charset="-122"/>
                <a:cs typeface="Calibri" pitchFamily="34" charset="-120"/>
              </a:rPr>
              <a:t>Features per split. sqrt(p) for classification, p/3 for regression. Lower = more decorrelation.</a:t>
            </a:r>
            <a:endParaRPr lang="en-US" sz="800" dirty="0"/>
          </a:p>
        </p:txBody>
      </p:sp>
      <p:sp>
        <p:nvSpPr>
          <p:cNvPr id="44" name="Shape 42"/>
          <p:cNvSpPr/>
          <p:nvPr/>
        </p:nvSpPr>
        <p:spPr>
          <a:xfrm>
            <a:off x="5468112" y="2377440"/>
            <a:ext cx="3401568" cy="521208"/>
          </a:xfrm>
          <a:prstGeom prst="rect">
            <a:avLst/>
          </a:prstGeom>
          <a:solidFill>
            <a:srgbClr val="FFFFFF"/>
          </a:solidFill>
          <a:ln w="6350">
            <a:solidFill>
              <a:srgbClr val="E2E8F0"/>
            </a:solidFill>
            <a:prstDash val="solid"/>
          </a:ln>
        </p:spPr>
      </p:sp>
      <p:sp>
        <p:nvSpPr>
          <p:cNvPr id="45" name="Shape 43"/>
          <p:cNvSpPr/>
          <p:nvPr/>
        </p:nvSpPr>
        <p:spPr>
          <a:xfrm>
            <a:off x="5468112" y="2377440"/>
            <a:ext cx="54864" cy="521208"/>
          </a:xfrm>
          <a:prstGeom prst="rect">
            <a:avLst/>
          </a:prstGeom>
          <a:solidFill>
            <a:srgbClr val="9F1239"/>
          </a:solidFill>
          <a:ln w="12700">
            <a:solidFill>
              <a:srgbClr val="9F1239">
                <a:alpha val="0"/>
              </a:srgbClr>
            </a:solidFill>
            <a:prstDash val="solid"/>
          </a:ln>
        </p:spPr>
      </p:sp>
      <p:sp>
        <p:nvSpPr>
          <p:cNvPr id="46" name="Text 44"/>
          <p:cNvSpPr/>
          <p:nvPr/>
        </p:nvSpPr>
        <p:spPr>
          <a:xfrm>
            <a:off x="5577840" y="2414016"/>
            <a:ext cx="1508760" cy="182880"/>
          </a:xfrm>
          <a:prstGeom prst="rect">
            <a:avLst/>
          </a:prstGeom>
          <a:noFill/>
          <a:ln/>
        </p:spPr>
        <p:txBody>
          <a:bodyPr wrap="square" lIns="0" tIns="0" rIns="0" bIns="0" rtlCol="0" anchor="ctr">
            <a:normAutofit/>
          </a:bodyPr>
          <a:lstStyle/>
          <a:p>
            <a:pPr indent="0" marL="0">
              <a:buNone/>
            </a:pPr>
            <a:r>
              <a:rPr lang="en-US" sz="920" b="1" dirty="0">
                <a:solidFill>
                  <a:srgbClr val="9F1239"/>
                </a:solidFill>
                <a:latin typeface="Courier New" pitchFamily="34" charset="0"/>
                <a:ea typeface="Courier New" pitchFamily="34" charset="-122"/>
                <a:cs typeface="Courier New" pitchFamily="34" charset="-120"/>
              </a:rPr>
              <a:t>max_depth</a:t>
            </a:r>
            <a:endParaRPr lang="en-US" sz="920" dirty="0"/>
          </a:p>
        </p:txBody>
      </p:sp>
      <p:sp>
        <p:nvSpPr>
          <p:cNvPr id="47" name="Text 45"/>
          <p:cNvSpPr/>
          <p:nvPr/>
        </p:nvSpPr>
        <p:spPr>
          <a:xfrm>
            <a:off x="7132320" y="2414016"/>
            <a:ext cx="1664208" cy="182880"/>
          </a:xfrm>
          <a:prstGeom prst="rect">
            <a:avLst/>
          </a:prstGeom>
          <a:noFill/>
          <a:ln/>
        </p:spPr>
        <p:txBody>
          <a:bodyPr wrap="square" lIns="0" tIns="0" rIns="0" bIns="0" rtlCol="0" anchor="ctr">
            <a:normAutofit/>
          </a:bodyPr>
          <a:lstStyle/>
          <a:p>
            <a:pPr indent="0" marL="0">
              <a:buNone/>
            </a:pPr>
            <a:r>
              <a:rPr lang="en-US" sz="820" dirty="0">
                <a:solidFill>
                  <a:srgbClr val="64748B"/>
                </a:solidFill>
                <a:latin typeface="Calibri" pitchFamily="34" charset="0"/>
                <a:ea typeface="Calibri" pitchFamily="34" charset="-122"/>
                <a:cs typeface="Calibri" pitchFamily="34" charset="-120"/>
              </a:rPr>
              <a:t>default: None</a:t>
            </a:r>
            <a:endParaRPr lang="en-US" sz="820" dirty="0"/>
          </a:p>
        </p:txBody>
      </p:sp>
      <p:sp>
        <p:nvSpPr>
          <p:cNvPr id="48" name="Text 46"/>
          <p:cNvSpPr/>
          <p:nvPr/>
        </p:nvSpPr>
        <p:spPr>
          <a:xfrm>
            <a:off x="5577840" y="2633472"/>
            <a:ext cx="3200400" cy="219456"/>
          </a:xfrm>
          <a:prstGeom prst="rect">
            <a:avLst/>
          </a:prstGeom>
          <a:noFill/>
          <a:ln/>
        </p:spPr>
        <p:txBody>
          <a:bodyPr wrap="square" lIns="0" tIns="0" rIns="0" bIns="0" rtlCol="0" anchor="ctr">
            <a:normAutofit/>
          </a:bodyPr>
          <a:lstStyle/>
          <a:p>
            <a:pPr indent="0" marL="0">
              <a:buNone/>
            </a:pPr>
            <a:r>
              <a:rPr lang="en-US" sz="800" dirty="0">
                <a:solidFill>
                  <a:srgbClr val="1E293B"/>
                </a:solidFill>
                <a:latin typeface="Calibri" pitchFamily="34" charset="0"/>
                <a:ea typeface="Calibri" pitchFamily="34" charset="-122"/>
                <a:cs typeface="Calibri" pitchFamily="34" charset="-120"/>
              </a:rPr>
              <a:t>Usually unlimited — bias stays low. If overfitting: try 10–20.</a:t>
            </a:r>
            <a:endParaRPr lang="en-US" sz="800" dirty="0"/>
          </a:p>
        </p:txBody>
      </p:sp>
      <p:sp>
        <p:nvSpPr>
          <p:cNvPr id="49" name="Shape 47"/>
          <p:cNvSpPr/>
          <p:nvPr/>
        </p:nvSpPr>
        <p:spPr>
          <a:xfrm>
            <a:off x="5468112" y="2944368"/>
            <a:ext cx="3401568" cy="521208"/>
          </a:xfrm>
          <a:prstGeom prst="rect">
            <a:avLst/>
          </a:prstGeom>
          <a:solidFill>
            <a:srgbClr val="FFFFFF"/>
          </a:solidFill>
          <a:ln w="6350">
            <a:solidFill>
              <a:srgbClr val="E2E8F0"/>
            </a:solidFill>
            <a:prstDash val="solid"/>
          </a:ln>
        </p:spPr>
      </p:sp>
      <p:sp>
        <p:nvSpPr>
          <p:cNvPr id="50" name="Shape 48"/>
          <p:cNvSpPr/>
          <p:nvPr/>
        </p:nvSpPr>
        <p:spPr>
          <a:xfrm>
            <a:off x="5468112" y="2944368"/>
            <a:ext cx="54864" cy="521208"/>
          </a:xfrm>
          <a:prstGeom prst="rect">
            <a:avLst/>
          </a:prstGeom>
          <a:solidFill>
            <a:srgbClr val="9F1239"/>
          </a:solidFill>
          <a:ln w="12700">
            <a:solidFill>
              <a:srgbClr val="9F1239">
                <a:alpha val="0"/>
              </a:srgbClr>
            </a:solidFill>
            <a:prstDash val="solid"/>
          </a:ln>
        </p:spPr>
      </p:sp>
      <p:sp>
        <p:nvSpPr>
          <p:cNvPr id="51" name="Text 49"/>
          <p:cNvSpPr/>
          <p:nvPr/>
        </p:nvSpPr>
        <p:spPr>
          <a:xfrm>
            <a:off x="5577840" y="2980944"/>
            <a:ext cx="1508760" cy="182880"/>
          </a:xfrm>
          <a:prstGeom prst="rect">
            <a:avLst/>
          </a:prstGeom>
          <a:noFill/>
          <a:ln/>
        </p:spPr>
        <p:txBody>
          <a:bodyPr wrap="square" lIns="0" tIns="0" rIns="0" bIns="0" rtlCol="0" anchor="ctr">
            <a:normAutofit/>
          </a:bodyPr>
          <a:lstStyle/>
          <a:p>
            <a:pPr indent="0" marL="0">
              <a:buNone/>
            </a:pPr>
            <a:r>
              <a:rPr lang="en-US" sz="920" b="1" dirty="0">
                <a:solidFill>
                  <a:srgbClr val="9F1239"/>
                </a:solidFill>
                <a:latin typeface="Courier New" pitchFamily="34" charset="0"/>
                <a:ea typeface="Courier New" pitchFamily="34" charset="-122"/>
                <a:cs typeface="Courier New" pitchFamily="34" charset="-120"/>
              </a:rPr>
              <a:t>min_samples_leaf</a:t>
            </a:r>
            <a:endParaRPr lang="en-US" sz="920" dirty="0"/>
          </a:p>
        </p:txBody>
      </p:sp>
      <p:sp>
        <p:nvSpPr>
          <p:cNvPr id="52" name="Text 50"/>
          <p:cNvSpPr/>
          <p:nvPr/>
        </p:nvSpPr>
        <p:spPr>
          <a:xfrm>
            <a:off x="7132320" y="2980944"/>
            <a:ext cx="1664208" cy="182880"/>
          </a:xfrm>
          <a:prstGeom prst="rect">
            <a:avLst/>
          </a:prstGeom>
          <a:noFill/>
          <a:ln/>
        </p:spPr>
        <p:txBody>
          <a:bodyPr wrap="square" lIns="0" tIns="0" rIns="0" bIns="0" rtlCol="0" anchor="ctr">
            <a:normAutofit/>
          </a:bodyPr>
          <a:lstStyle/>
          <a:p>
            <a:pPr indent="0" marL="0">
              <a:buNone/>
            </a:pPr>
            <a:r>
              <a:rPr lang="en-US" sz="820" dirty="0">
                <a:solidFill>
                  <a:srgbClr val="64748B"/>
                </a:solidFill>
                <a:latin typeface="Calibri" pitchFamily="34" charset="0"/>
                <a:ea typeface="Calibri" pitchFamily="34" charset="-122"/>
                <a:cs typeface="Calibri" pitchFamily="34" charset="-120"/>
              </a:rPr>
              <a:t>default: 1–5</a:t>
            </a:r>
            <a:endParaRPr lang="en-US" sz="820" dirty="0"/>
          </a:p>
        </p:txBody>
      </p:sp>
      <p:sp>
        <p:nvSpPr>
          <p:cNvPr id="53" name="Text 51"/>
          <p:cNvSpPr/>
          <p:nvPr/>
        </p:nvSpPr>
        <p:spPr>
          <a:xfrm>
            <a:off x="5577840" y="3200400"/>
            <a:ext cx="3200400" cy="219456"/>
          </a:xfrm>
          <a:prstGeom prst="rect">
            <a:avLst/>
          </a:prstGeom>
          <a:noFill/>
          <a:ln/>
        </p:spPr>
        <p:txBody>
          <a:bodyPr wrap="square" lIns="0" tIns="0" rIns="0" bIns="0" rtlCol="0" anchor="ctr">
            <a:normAutofit/>
          </a:bodyPr>
          <a:lstStyle/>
          <a:p>
            <a:pPr indent="0" marL="0">
              <a:buNone/>
            </a:pPr>
            <a:r>
              <a:rPr lang="en-US" sz="800" dirty="0">
                <a:solidFill>
                  <a:srgbClr val="1E293B"/>
                </a:solidFill>
                <a:latin typeface="Calibri" pitchFamily="34" charset="0"/>
                <a:ea typeface="Calibri" pitchFamily="34" charset="-122"/>
                <a:cs typeface="Calibri" pitchFamily="34" charset="-120"/>
              </a:rPr>
              <a:t>Larger = smoother decision boundary. Increase if overfitting.</a:t>
            </a:r>
            <a:endParaRPr lang="en-US" sz="800" dirty="0"/>
          </a:p>
        </p:txBody>
      </p:sp>
      <p:sp>
        <p:nvSpPr>
          <p:cNvPr id="54" name="Shape 52"/>
          <p:cNvSpPr/>
          <p:nvPr/>
        </p:nvSpPr>
        <p:spPr>
          <a:xfrm>
            <a:off x="5468112" y="3511296"/>
            <a:ext cx="3401568" cy="521208"/>
          </a:xfrm>
          <a:prstGeom prst="rect">
            <a:avLst/>
          </a:prstGeom>
          <a:solidFill>
            <a:srgbClr val="FFFFFF"/>
          </a:solidFill>
          <a:ln w="6350">
            <a:solidFill>
              <a:srgbClr val="E2E8F0"/>
            </a:solidFill>
            <a:prstDash val="solid"/>
          </a:ln>
        </p:spPr>
      </p:sp>
      <p:sp>
        <p:nvSpPr>
          <p:cNvPr id="55" name="Shape 53"/>
          <p:cNvSpPr/>
          <p:nvPr/>
        </p:nvSpPr>
        <p:spPr>
          <a:xfrm>
            <a:off x="5468112" y="3511296"/>
            <a:ext cx="54864" cy="521208"/>
          </a:xfrm>
          <a:prstGeom prst="rect">
            <a:avLst/>
          </a:prstGeom>
          <a:solidFill>
            <a:srgbClr val="9F1239"/>
          </a:solidFill>
          <a:ln w="12700">
            <a:solidFill>
              <a:srgbClr val="9F1239">
                <a:alpha val="0"/>
              </a:srgbClr>
            </a:solidFill>
            <a:prstDash val="solid"/>
          </a:ln>
        </p:spPr>
      </p:sp>
      <p:sp>
        <p:nvSpPr>
          <p:cNvPr id="56" name="Text 54"/>
          <p:cNvSpPr/>
          <p:nvPr/>
        </p:nvSpPr>
        <p:spPr>
          <a:xfrm>
            <a:off x="5577840" y="3547872"/>
            <a:ext cx="1508760" cy="182880"/>
          </a:xfrm>
          <a:prstGeom prst="rect">
            <a:avLst/>
          </a:prstGeom>
          <a:noFill/>
          <a:ln/>
        </p:spPr>
        <p:txBody>
          <a:bodyPr wrap="square" lIns="0" tIns="0" rIns="0" bIns="0" rtlCol="0" anchor="ctr">
            <a:normAutofit/>
          </a:bodyPr>
          <a:lstStyle/>
          <a:p>
            <a:pPr indent="0" marL="0">
              <a:buNone/>
            </a:pPr>
            <a:r>
              <a:rPr lang="en-US" sz="920" b="1" dirty="0">
                <a:solidFill>
                  <a:srgbClr val="9F1239"/>
                </a:solidFill>
                <a:latin typeface="Courier New" pitchFamily="34" charset="0"/>
                <a:ea typeface="Courier New" pitchFamily="34" charset="-122"/>
                <a:cs typeface="Courier New" pitchFamily="34" charset="-120"/>
              </a:rPr>
              <a:t>class_weight</a:t>
            </a:r>
            <a:endParaRPr lang="en-US" sz="920" dirty="0"/>
          </a:p>
        </p:txBody>
      </p:sp>
      <p:sp>
        <p:nvSpPr>
          <p:cNvPr id="57" name="Text 55"/>
          <p:cNvSpPr/>
          <p:nvPr/>
        </p:nvSpPr>
        <p:spPr>
          <a:xfrm>
            <a:off x="7132320" y="3547872"/>
            <a:ext cx="1664208" cy="182880"/>
          </a:xfrm>
          <a:prstGeom prst="rect">
            <a:avLst/>
          </a:prstGeom>
          <a:noFill/>
          <a:ln/>
        </p:spPr>
        <p:txBody>
          <a:bodyPr wrap="square" lIns="0" tIns="0" rIns="0" bIns="0" rtlCol="0" anchor="ctr">
            <a:normAutofit/>
          </a:bodyPr>
          <a:lstStyle/>
          <a:p>
            <a:pPr indent="0" marL="0">
              <a:buNone/>
            </a:pPr>
            <a:r>
              <a:rPr lang="en-US" sz="820" dirty="0">
                <a:solidFill>
                  <a:srgbClr val="64748B"/>
                </a:solidFill>
                <a:latin typeface="Calibri" pitchFamily="34" charset="0"/>
                <a:ea typeface="Calibri" pitchFamily="34" charset="-122"/>
                <a:cs typeface="Calibri" pitchFamily="34" charset="-120"/>
              </a:rPr>
              <a:t>default: 'balanced'</a:t>
            </a:r>
            <a:endParaRPr lang="en-US" sz="820" dirty="0"/>
          </a:p>
        </p:txBody>
      </p:sp>
      <p:sp>
        <p:nvSpPr>
          <p:cNvPr id="58" name="Text 56"/>
          <p:cNvSpPr/>
          <p:nvPr/>
        </p:nvSpPr>
        <p:spPr>
          <a:xfrm>
            <a:off x="5577840" y="3767328"/>
            <a:ext cx="3200400" cy="219456"/>
          </a:xfrm>
          <a:prstGeom prst="rect">
            <a:avLst/>
          </a:prstGeom>
          <a:noFill/>
          <a:ln/>
        </p:spPr>
        <p:txBody>
          <a:bodyPr wrap="square" lIns="0" tIns="0" rIns="0" bIns="0" rtlCol="0" anchor="ctr">
            <a:normAutofit/>
          </a:bodyPr>
          <a:lstStyle/>
          <a:p>
            <a:pPr indent="0" marL="0">
              <a:buNone/>
            </a:pPr>
            <a:r>
              <a:rPr lang="en-US" sz="800" dirty="0">
                <a:solidFill>
                  <a:srgbClr val="1E293B"/>
                </a:solidFill>
                <a:latin typeface="Calibri" pitchFamily="34" charset="0"/>
                <a:ea typeface="Calibri" pitchFamily="34" charset="-122"/>
                <a:cs typeface="Calibri" pitchFamily="34" charset="-120"/>
              </a:rPr>
              <a:t>ALWAYS use with imbalanced healthcare data. Weights inversely proportional to class freq.</a:t>
            </a:r>
            <a:endParaRPr lang="en-US" sz="800" dirty="0"/>
          </a:p>
        </p:txBody>
      </p:sp>
      <p:sp>
        <p:nvSpPr>
          <p:cNvPr id="59" name="Shape 57"/>
          <p:cNvSpPr/>
          <p:nvPr/>
        </p:nvSpPr>
        <p:spPr>
          <a:xfrm>
            <a:off x="5468112" y="4078224"/>
            <a:ext cx="3401568" cy="521208"/>
          </a:xfrm>
          <a:prstGeom prst="rect">
            <a:avLst/>
          </a:prstGeom>
          <a:solidFill>
            <a:srgbClr val="FFFFFF"/>
          </a:solidFill>
          <a:ln w="6350">
            <a:solidFill>
              <a:srgbClr val="E2E8F0"/>
            </a:solidFill>
            <a:prstDash val="solid"/>
          </a:ln>
        </p:spPr>
      </p:sp>
      <p:sp>
        <p:nvSpPr>
          <p:cNvPr id="60" name="Shape 58"/>
          <p:cNvSpPr/>
          <p:nvPr/>
        </p:nvSpPr>
        <p:spPr>
          <a:xfrm>
            <a:off x="5468112" y="4078224"/>
            <a:ext cx="54864" cy="521208"/>
          </a:xfrm>
          <a:prstGeom prst="rect">
            <a:avLst/>
          </a:prstGeom>
          <a:solidFill>
            <a:srgbClr val="9F1239"/>
          </a:solidFill>
          <a:ln w="12700">
            <a:solidFill>
              <a:srgbClr val="9F1239">
                <a:alpha val="0"/>
              </a:srgbClr>
            </a:solidFill>
            <a:prstDash val="solid"/>
          </a:ln>
        </p:spPr>
      </p:sp>
      <p:sp>
        <p:nvSpPr>
          <p:cNvPr id="61" name="Text 59"/>
          <p:cNvSpPr/>
          <p:nvPr/>
        </p:nvSpPr>
        <p:spPr>
          <a:xfrm>
            <a:off x="5577840" y="4114800"/>
            <a:ext cx="1508760" cy="182880"/>
          </a:xfrm>
          <a:prstGeom prst="rect">
            <a:avLst/>
          </a:prstGeom>
          <a:noFill/>
          <a:ln/>
        </p:spPr>
        <p:txBody>
          <a:bodyPr wrap="square" lIns="0" tIns="0" rIns="0" bIns="0" rtlCol="0" anchor="ctr">
            <a:normAutofit/>
          </a:bodyPr>
          <a:lstStyle/>
          <a:p>
            <a:pPr indent="0" marL="0">
              <a:buNone/>
            </a:pPr>
            <a:r>
              <a:rPr lang="en-US" sz="920" b="1" dirty="0">
                <a:solidFill>
                  <a:srgbClr val="9F1239"/>
                </a:solidFill>
                <a:latin typeface="Courier New" pitchFamily="34" charset="0"/>
                <a:ea typeface="Courier New" pitchFamily="34" charset="-122"/>
                <a:cs typeface="Courier New" pitchFamily="34" charset="-120"/>
              </a:rPr>
              <a:t>oob_score</a:t>
            </a:r>
            <a:endParaRPr lang="en-US" sz="920" dirty="0"/>
          </a:p>
        </p:txBody>
      </p:sp>
      <p:sp>
        <p:nvSpPr>
          <p:cNvPr id="62" name="Text 60"/>
          <p:cNvSpPr/>
          <p:nvPr/>
        </p:nvSpPr>
        <p:spPr>
          <a:xfrm>
            <a:off x="7132320" y="4114800"/>
            <a:ext cx="1664208" cy="182880"/>
          </a:xfrm>
          <a:prstGeom prst="rect">
            <a:avLst/>
          </a:prstGeom>
          <a:noFill/>
          <a:ln/>
        </p:spPr>
        <p:txBody>
          <a:bodyPr wrap="square" lIns="0" tIns="0" rIns="0" bIns="0" rtlCol="0" anchor="ctr">
            <a:normAutofit/>
          </a:bodyPr>
          <a:lstStyle/>
          <a:p>
            <a:pPr indent="0" marL="0">
              <a:buNone/>
            </a:pPr>
            <a:r>
              <a:rPr lang="en-US" sz="820" dirty="0">
                <a:solidFill>
                  <a:srgbClr val="64748B"/>
                </a:solidFill>
                <a:latin typeface="Calibri" pitchFamily="34" charset="0"/>
                <a:ea typeface="Calibri" pitchFamily="34" charset="-122"/>
                <a:cs typeface="Calibri" pitchFamily="34" charset="-120"/>
              </a:rPr>
              <a:t>default: True</a:t>
            </a:r>
            <a:endParaRPr lang="en-US" sz="820" dirty="0"/>
          </a:p>
        </p:txBody>
      </p:sp>
      <p:sp>
        <p:nvSpPr>
          <p:cNvPr id="63" name="Text 61"/>
          <p:cNvSpPr/>
          <p:nvPr/>
        </p:nvSpPr>
        <p:spPr>
          <a:xfrm>
            <a:off x="5577840" y="4334256"/>
            <a:ext cx="3200400" cy="219456"/>
          </a:xfrm>
          <a:prstGeom prst="rect">
            <a:avLst/>
          </a:prstGeom>
          <a:noFill/>
          <a:ln/>
        </p:spPr>
        <p:txBody>
          <a:bodyPr wrap="square" lIns="0" tIns="0" rIns="0" bIns="0" rtlCol="0" anchor="ctr">
            <a:normAutofit/>
          </a:bodyPr>
          <a:lstStyle/>
          <a:p>
            <a:pPr indent="0" marL="0">
              <a:buNone/>
            </a:pPr>
            <a:r>
              <a:rPr lang="en-US" sz="800" dirty="0">
                <a:solidFill>
                  <a:srgbClr val="1E293B"/>
                </a:solidFill>
                <a:latin typeface="Calibri" pitchFamily="34" charset="0"/>
                <a:ea typeface="Calibri" pitchFamily="34" charset="-122"/>
                <a:cs typeface="Calibri" pitchFamily="34" charset="-120"/>
              </a:rPr>
              <a:t>Free validation using OOB samples. Close to CV score. Use it to check n_estimators.</a:t>
            </a:r>
            <a:endParaRPr lang="en-US" sz="800" dirty="0"/>
          </a:p>
        </p:txBody>
      </p:sp>
      <p:sp>
        <p:nvSpPr>
          <p:cNvPr id="64" name="Shape 62"/>
          <p:cNvSpPr/>
          <p:nvPr/>
        </p:nvSpPr>
        <p:spPr>
          <a:xfrm>
            <a:off x="274320" y="4754880"/>
            <a:ext cx="8595360" cy="256032"/>
          </a:xfrm>
          <a:prstGeom prst="rect">
            <a:avLst/>
          </a:prstGeom>
          <a:solidFill>
            <a:srgbClr val="FFF1F2"/>
          </a:solidFill>
          <a:ln w="12700">
            <a:solidFill>
              <a:srgbClr val="9F1239"/>
            </a:solidFill>
            <a:prstDash val="solid"/>
          </a:ln>
        </p:spPr>
      </p:sp>
      <p:sp>
        <p:nvSpPr>
          <p:cNvPr id="65" name="Text 63"/>
          <p:cNvSpPr/>
          <p:nvPr/>
        </p:nvSpPr>
        <p:spPr>
          <a:xfrm>
            <a:off x="457200" y="4754880"/>
            <a:ext cx="8321040" cy="256032"/>
          </a:xfrm>
          <a:prstGeom prst="rect">
            <a:avLst/>
          </a:prstGeom>
          <a:noFill/>
          <a:ln/>
        </p:spPr>
        <p:txBody>
          <a:bodyPr wrap="square" lIns="0" tIns="0" rIns="0" bIns="0" rtlCol="0" anchor="ctr">
            <a:normAutofit/>
          </a:bodyPr>
          <a:lstStyle/>
          <a:p>
            <a:pPr indent="0" marL="0">
              <a:buNone/>
            </a:pPr>
            <a:r>
              <a:rPr lang="en-US" sz="900" b="1" dirty="0">
                <a:solidFill>
                  <a:srgbClr val="9F1239"/>
                </a:solidFill>
                <a:latin typeface="Calibri" pitchFamily="34" charset="0"/>
                <a:ea typeface="Calibri" pitchFamily="34" charset="-122"/>
                <a:cs typeface="Calibri" pitchFamily="34" charset="-120"/>
              </a:rPr>
              <a:t>OOB SCORE: each tree is tested on its 37% out-of-bag samples automatically. oob_score_ ≈ cross-validation score — completely free, no extra computation needed.</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9F0"/>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9F1239"/>
          </a:solidFill>
          <a:ln w="12700">
            <a:solidFill>
              <a:srgbClr val="9F1239">
                <a:alpha val="0"/>
              </a:srgbClr>
            </a:solidFill>
            <a:prstDash val="solid"/>
          </a:ln>
        </p:spPr>
      </p:sp>
      <p:sp>
        <p:nvSpPr>
          <p:cNvPr id="3" name="Text 1"/>
          <p:cNvSpPr/>
          <p:nvPr/>
        </p:nvSpPr>
        <p:spPr>
          <a:xfrm>
            <a:off x="347472" y="0"/>
            <a:ext cx="8458200" cy="640080"/>
          </a:xfrm>
          <a:prstGeom prst="rect">
            <a:avLst/>
          </a:prstGeom>
          <a:noFill/>
          <a:ln/>
        </p:spPr>
        <p:txBody>
          <a:bodyPr wrap="square" lIns="0" tIns="0" rIns="0" bIns="0" rtlCol="0" anchor="ctr">
            <a:normAutofit/>
          </a:bodyPr>
          <a:lstStyle/>
          <a:p>
            <a:pPr indent="0" marL="0">
              <a:buNone/>
            </a:pPr>
            <a:r>
              <a:rPr lang="en-US" sz="1400" b="1" spc="100" kern="0" dirty="0">
                <a:solidFill>
                  <a:srgbClr val="FFFFFF"/>
                </a:solidFill>
                <a:latin typeface="Calibri" pitchFamily="34" charset="0"/>
                <a:ea typeface="Calibri" pitchFamily="34" charset="-122"/>
                <a:cs typeface="Calibri" pitchFamily="34" charset="-120"/>
              </a:rPr>
              <a:t>RANDOM FOREST — FEATURE IMPORTANCE + LIMITATIONS  (THEORY)</a:t>
            </a:r>
            <a:endParaRPr lang="en-US" sz="1400" dirty="0"/>
          </a:p>
        </p:txBody>
      </p:sp>
      <p:sp>
        <p:nvSpPr>
          <p:cNvPr id="4" name="Shape 2"/>
          <p:cNvSpPr/>
          <p:nvPr/>
        </p:nvSpPr>
        <p:spPr>
          <a:xfrm>
            <a:off x="8229600" y="658368"/>
            <a:ext cx="1234440" cy="256032"/>
          </a:xfrm>
          <a:prstGeom prst="rect">
            <a:avLst/>
          </a:prstGeom>
          <a:solidFill>
            <a:srgbClr val="9F1239"/>
          </a:solidFill>
          <a:ln w="12700">
            <a:solidFill>
              <a:srgbClr val="9F1239">
                <a:alpha val="0"/>
              </a:srgbClr>
            </a:solidFill>
            <a:prstDash val="solid"/>
          </a:ln>
        </p:spPr>
      </p:sp>
      <p:sp>
        <p:nvSpPr>
          <p:cNvPr id="5" name="Text 3"/>
          <p:cNvSpPr/>
          <p:nvPr/>
        </p:nvSpPr>
        <p:spPr>
          <a:xfrm>
            <a:off x="8229600" y="658368"/>
            <a:ext cx="1234440" cy="256032"/>
          </a:xfrm>
          <a:prstGeom prst="rect">
            <a:avLst/>
          </a:prstGeom>
          <a:noFill/>
          <a:ln/>
        </p:spPr>
        <p:txBody>
          <a:bodyPr wrap="square" lIns="0" tIns="0" rIns="0" bIns="0" rtlCol="0" anchor="ctr">
            <a:normAutofit/>
          </a:bodyPr>
          <a:lstStyle/>
          <a:p>
            <a:pPr algn="ctr" indent="0" marL="0">
              <a:buNone/>
            </a:pPr>
            <a:r>
              <a:rPr lang="en-US" sz="800" b="1" dirty="0">
                <a:solidFill>
                  <a:srgbClr val="FFFFFF"/>
                </a:solidFill>
                <a:latin typeface="Calibri" pitchFamily="34" charset="0"/>
                <a:ea typeface="Calibri" pitchFamily="34" charset="-122"/>
                <a:cs typeface="Calibri" pitchFamily="34" charset="-120"/>
              </a:rPr>
              <a:t>THEORY</a:t>
            </a:r>
            <a:endParaRPr lang="en-US" sz="800" dirty="0"/>
          </a:p>
        </p:txBody>
      </p:sp>
      <p:sp>
        <p:nvSpPr>
          <p:cNvPr id="6" name="Text 4"/>
          <p:cNvSpPr/>
          <p:nvPr/>
        </p:nvSpPr>
        <p:spPr>
          <a:xfrm>
            <a:off x="347472" y="667512"/>
            <a:ext cx="8458200" cy="256032"/>
          </a:xfrm>
          <a:prstGeom prst="rect">
            <a:avLst/>
          </a:prstGeom>
          <a:noFill/>
          <a:ln/>
        </p:spPr>
        <p:txBody>
          <a:bodyPr wrap="square" lIns="0" tIns="0" rIns="0" bIns="0" rtlCol="0" anchor="ctr">
            <a:normAutofit/>
          </a:bodyPr>
          <a:lstStyle/>
          <a:p>
            <a:pPr indent="0" marL="0">
              <a:buNone/>
            </a:pPr>
            <a:r>
              <a:rPr lang="en-US" sz="1000" i="1" dirty="0">
                <a:solidFill>
                  <a:srgbClr val="64748B"/>
                </a:solidFill>
                <a:latin typeface="Calibri" pitchFamily="34" charset="0"/>
                <a:ea typeface="Calibri" pitchFamily="34" charset="-122"/>
                <a:cs typeface="Calibri" pitchFamily="34" charset="-120"/>
              </a:rPr>
              <a:t>Feature importance is one of RF's most valuable outputs — understanding it unlocks actionable clinical insights</a:t>
            </a:r>
            <a:endParaRPr lang="en-US" sz="1000" dirty="0"/>
          </a:p>
        </p:txBody>
      </p:sp>
      <p:sp>
        <p:nvSpPr>
          <p:cNvPr id="7" name="Text 5"/>
          <p:cNvSpPr/>
          <p:nvPr/>
        </p:nvSpPr>
        <p:spPr>
          <a:xfrm>
            <a:off x="256032" y="960120"/>
            <a:ext cx="8631936" cy="237744"/>
          </a:xfrm>
          <a:prstGeom prst="rect">
            <a:avLst/>
          </a:prstGeom>
          <a:noFill/>
          <a:ln/>
        </p:spPr>
        <p:txBody>
          <a:bodyPr wrap="square" lIns="0" tIns="0" rIns="0" bIns="0" rtlCol="0" anchor="ctr">
            <a:normAutofit/>
          </a:bodyPr>
          <a:lstStyle/>
          <a:p>
            <a:pPr indent="0" marL="0">
              <a:buNone/>
            </a:pPr>
            <a:r>
              <a:rPr lang="en-US" sz="1100" b="1" dirty="0">
                <a:solidFill>
                  <a:srgbClr val="0D1B3E"/>
                </a:solidFill>
                <a:latin typeface="Calibri" pitchFamily="34" charset="0"/>
                <a:ea typeface="Calibri" pitchFamily="34" charset="-122"/>
                <a:cs typeface="Calibri" pitchFamily="34" charset="-120"/>
              </a:rPr>
              <a:t>How Feature Importance is Calculated:</a:t>
            </a:r>
            <a:endParaRPr lang="en-US" sz="1100" dirty="0"/>
          </a:p>
        </p:txBody>
      </p:sp>
      <p:sp>
        <p:nvSpPr>
          <p:cNvPr id="8" name="Shape 6"/>
          <p:cNvSpPr/>
          <p:nvPr/>
        </p:nvSpPr>
        <p:spPr>
          <a:xfrm>
            <a:off x="256032" y="1243584"/>
            <a:ext cx="2816352" cy="2724912"/>
          </a:xfrm>
          <a:prstGeom prst="rect">
            <a:avLst/>
          </a:prstGeom>
          <a:solidFill>
            <a:srgbClr val="FFFFFF"/>
          </a:solidFill>
          <a:ln w="12700">
            <a:solidFill>
              <a:srgbClr val="0D1B3E"/>
            </a:solidFill>
            <a:prstDash val="solid"/>
          </a:ln>
          <a:effectLst>
            <a:outerShdw sx="100000" sy="100000" kx="0" ky="0" algn="bl" rotWithShape="0" blurRad="101600" dist="38100" dir="8100000">
              <a:srgbClr val="000000">
                <a:alpha val="10000"/>
              </a:srgbClr>
            </a:outerShdw>
          </a:effectLst>
        </p:spPr>
      </p:sp>
      <p:sp>
        <p:nvSpPr>
          <p:cNvPr id="9" name="Shape 7"/>
          <p:cNvSpPr/>
          <p:nvPr/>
        </p:nvSpPr>
        <p:spPr>
          <a:xfrm>
            <a:off x="256032" y="1243584"/>
            <a:ext cx="2816352" cy="384048"/>
          </a:xfrm>
          <a:prstGeom prst="rect">
            <a:avLst/>
          </a:prstGeom>
          <a:solidFill>
            <a:srgbClr val="0D1B3E"/>
          </a:solidFill>
          <a:ln w="12700">
            <a:solidFill>
              <a:srgbClr val="0D1B3E">
                <a:alpha val="0"/>
              </a:srgbClr>
            </a:solidFill>
            <a:prstDash val="solid"/>
          </a:ln>
        </p:spPr>
      </p:sp>
      <p:sp>
        <p:nvSpPr>
          <p:cNvPr id="10" name="Text 8"/>
          <p:cNvSpPr/>
          <p:nvPr/>
        </p:nvSpPr>
        <p:spPr>
          <a:xfrm>
            <a:off x="347472" y="1243584"/>
            <a:ext cx="2633472" cy="384048"/>
          </a:xfrm>
          <a:prstGeom prst="rect">
            <a:avLst/>
          </a:prstGeom>
          <a:noFill/>
          <a:ln/>
        </p:spPr>
        <p:txBody>
          <a:bodyPr wrap="square" lIns="0" tIns="0" rIns="0" bIns="0" rtlCol="0" anchor="ctr">
            <a:normAutofit/>
          </a:bodyPr>
          <a:lstStyle/>
          <a:p>
            <a:pPr indent="0" marL="0">
              <a:buNone/>
            </a:pPr>
            <a:r>
              <a:rPr lang="en-US" sz="1000" b="1" dirty="0">
                <a:solidFill>
                  <a:srgbClr val="FFFFFF"/>
                </a:solidFill>
                <a:latin typeface="Calibri" pitchFamily="34" charset="0"/>
                <a:ea typeface="Calibri" pitchFamily="34" charset="-122"/>
                <a:cs typeface="Calibri" pitchFamily="34" charset="-120"/>
              </a:rPr>
              <a:t>Gini / MDI Importance (default)</a:t>
            </a:r>
            <a:endParaRPr lang="en-US" sz="1000" dirty="0"/>
          </a:p>
        </p:txBody>
      </p:sp>
      <p:sp>
        <p:nvSpPr>
          <p:cNvPr id="11" name="Text 9"/>
          <p:cNvSpPr/>
          <p:nvPr/>
        </p:nvSpPr>
        <p:spPr>
          <a:xfrm>
            <a:off x="365760" y="1682496"/>
            <a:ext cx="2596896" cy="2231136"/>
          </a:xfrm>
          <a:prstGeom prst="rect">
            <a:avLst/>
          </a:prstGeom>
          <a:noFill/>
          <a:ln/>
        </p:spPr>
        <p:txBody>
          <a:bodyPr wrap="square" lIns="0" tIns="0" rIns="0" bIns="0" rtlCol="0" anchor="ctr">
            <a:normAutofit/>
          </a:bodyPr>
          <a:lstStyle/>
          <a:p>
            <a:pPr indent="0" marL="0">
              <a:buNone/>
            </a:pPr>
            <a:r>
              <a:rPr lang="en-US" sz="950" dirty="0">
                <a:solidFill>
                  <a:srgbClr val="1E293B"/>
                </a:solidFill>
                <a:latin typeface="Calibri" pitchFamily="34" charset="0"/>
                <a:ea typeface="Calibri" pitchFamily="34" charset="-122"/>
                <a:cs typeface="Calibri" pitchFamily="34" charset="-120"/>
              </a:rPr>
              <a:t>For each feature: sum the weighted Gini impurity decrease across all splits in all trees, averaged across trees. Fast to compute. Built into sklearn.</a:t>
            </a:r>
            <a:endParaRPr lang="en-US" sz="950" dirty="0"/>
          </a:p>
          <a:p>
            <a:pPr indent="0" marL="0">
              <a:buNone/>
            </a:pPr>
            <a:endParaRPr lang="en-US" sz="950" dirty="0"/>
          </a:p>
          <a:p>
            <a:pPr indent="0" marL="0">
              <a:buNone/>
            </a:pPr>
            <a:r>
              <a:rPr lang="en-US" sz="950" dirty="0">
                <a:solidFill>
                  <a:srgbClr val="1E293B"/>
                </a:solidFill>
                <a:latin typeface="Calibri" pitchFamily="34" charset="0"/>
                <a:ea typeface="Calibri" pitchFamily="34" charset="-122"/>
                <a:cs typeface="Calibri" pitchFamily="34" charset="-120"/>
              </a:rPr>
              <a:t>Weakness: BIASED toward high-cardinality features (features with many unique values like patient_id). A feature with 1000 unique values can look important just because it creates many splits.</a:t>
            </a:r>
            <a:endParaRPr lang="en-US" sz="950" dirty="0"/>
          </a:p>
        </p:txBody>
      </p:sp>
      <p:sp>
        <p:nvSpPr>
          <p:cNvPr id="12" name="Shape 10"/>
          <p:cNvSpPr/>
          <p:nvPr/>
        </p:nvSpPr>
        <p:spPr>
          <a:xfrm>
            <a:off x="3200400" y="1243584"/>
            <a:ext cx="2816352" cy="2724912"/>
          </a:xfrm>
          <a:prstGeom prst="rect">
            <a:avLst/>
          </a:prstGeom>
          <a:solidFill>
            <a:srgbClr val="FFFFFF"/>
          </a:solidFill>
          <a:ln w="12700">
            <a:solidFill>
              <a:srgbClr val="9F1239"/>
            </a:solidFill>
            <a:prstDash val="solid"/>
          </a:ln>
          <a:effectLst>
            <a:outerShdw sx="100000" sy="100000" kx="0" ky="0" algn="bl" rotWithShape="0" blurRad="101600" dist="38100" dir="8100000">
              <a:srgbClr val="000000">
                <a:alpha val="10000"/>
              </a:srgbClr>
            </a:outerShdw>
          </a:effectLst>
        </p:spPr>
      </p:sp>
      <p:sp>
        <p:nvSpPr>
          <p:cNvPr id="13" name="Shape 11"/>
          <p:cNvSpPr/>
          <p:nvPr/>
        </p:nvSpPr>
        <p:spPr>
          <a:xfrm>
            <a:off x="3200400" y="1243584"/>
            <a:ext cx="2816352" cy="384048"/>
          </a:xfrm>
          <a:prstGeom prst="rect">
            <a:avLst/>
          </a:prstGeom>
          <a:solidFill>
            <a:srgbClr val="9F1239"/>
          </a:solidFill>
          <a:ln w="12700">
            <a:solidFill>
              <a:srgbClr val="9F1239">
                <a:alpha val="0"/>
              </a:srgbClr>
            </a:solidFill>
            <a:prstDash val="solid"/>
          </a:ln>
        </p:spPr>
      </p:sp>
      <p:sp>
        <p:nvSpPr>
          <p:cNvPr id="14" name="Text 12"/>
          <p:cNvSpPr/>
          <p:nvPr/>
        </p:nvSpPr>
        <p:spPr>
          <a:xfrm>
            <a:off x="3291840" y="1243584"/>
            <a:ext cx="2633472" cy="384048"/>
          </a:xfrm>
          <a:prstGeom prst="rect">
            <a:avLst/>
          </a:prstGeom>
          <a:noFill/>
          <a:ln/>
        </p:spPr>
        <p:txBody>
          <a:bodyPr wrap="square" lIns="0" tIns="0" rIns="0" bIns="0" rtlCol="0" anchor="ctr">
            <a:normAutofit/>
          </a:bodyPr>
          <a:lstStyle/>
          <a:p>
            <a:pPr indent="0" marL="0">
              <a:buNone/>
            </a:pPr>
            <a:r>
              <a:rPr lang="en-US" sz="1000" b="1" dirty="0">
                <a:solidFill>
                  <a:srgbClr val="FFFFFF"/>
                </a:solidFill>
                <a:latin typeface="Calibri" pitchFamily="34" charset="0"/>
                <a:ea typeface="Calibri" pitchFamily="34" charset="-122"/>
                <a:cs typeface="Calibri" pitchFamily="34" charset="-120"/>
              </a:rPr>
              <a:t>Permutation Importance (more reliable)</a:t>
            </a:r>
            <a:endParaRPr lang="en-US" sz="1000" dirty="0"/>
          </a:p>
        </p:txBody>
      </p:sp>
      <p:sp>
        <p:nvSpPr>
          <p:cNvPr id="15" name="Text 13"/>
          <p:cNvSpPr/>
          <p:nvPr/>
        </p:nvSpPr>
        <p:spPr>
          <a:xfrm>
            <a:off x="3310128" y="1682496"/>
            <a:ext cx="2596896" cy="2231136"/>
          </a:xfrm>
          <a:prstGeom prst="rect">
            <a:avLst/>
          </a:prstGeom>
          <a:noFill/>
          <a:ln/>
        </p:spPr>
        <p:txBody>
          <a:bodyPr wrap="square" lIns="0" tIns="0" rIns="0" bIns="0" rtlCol="0" anchor="ctr">
            <a:normAutofit/>
          </a:bodyPr>
          <a:lstStyle/>
          <a:p>
            <a:pPr indent="0" marL="0">
              <a:buNone/>
            </a:pPr>
            <a:r>
              <a:rPr lang="en-US" sz="950" dirty="0">
                <a:solidFill>
                  <a:srgbClr val="1E293B"/>
                </a:solidFill>
                <a:latin typeface="Calibri" pitchFamily="34" charset="0"/>
                <a:ea typeface="Calibri" pitchFamily="34" charset="-122"/>
                <a:cs typeface="Calibri" pitchFamily="34" charset="-120"/>
              </a:rPr>
              <a:t>For each feature: randomly shuffle its values in the TEST set, measure how much model performance drops. The more performance drops = more important the feature.</a:t>
            </a:r>
            <a:endParaRPr lang="en-US" sz="950" dirty="0"/>
          </a:p>
          <a:p>
            <a:pPr indent="0" marL="0">
              <a:buNone/>
            </a:pPr>
            <a:endParaRPr lang="en-US" sz="950" dirty="0"/>
          </a:p>
          <a:p>
            <a:pPr indent="0" marL="0">
              <a:buNone/>
            </a:pPr>
            <a:r>
              <a:rPr lang="en-US" sz="950" dirty="0">
                <a:solidFill>
                  <a:srgbClr val="1E293B"/>
                </a:solidFill>
                <a:latin typeface="Calibri" pitchFamily="34" charset="0"/>
                <a:ea typeface="Calibri" pitchFamily="34" charset="-122"/>
                <a:cs typeface="Calibri" pitchFamily="34" charset="-120"/>
              </a:rPr>
              <a:t>Strength: No cardinality bias. Works on ANY model. Shows importance relative to already-trained model. Use this for final reporting.</a:t>
            </a:r>
            <a:endParaRPr lang="en-US" sz="950" dirty="0"/>
          </a:p>
        </p:txBody>
      </p:sp>
      <p:sp>
        <p:nvSpPr>
          <p:cNvPr id="16" name="Shape 14"/>
          <p:cNvSpPr/>
          <p:nvPr/>
        </p:nvSpPr>
        <p:spPr>
          <a:xfrm>
            <a:off x="6144768" y="1243584"/>
            <a:ext cx="2816352" cy="2724912"/>
          </a:xfrm>
          <a:prstGeom prst="rect">
            <a:avLst/>
          </a:prstGeom>
          <a:solidFill>
            <a:srgbClr val="FFFFFF"/>
          </a:solidFill>
          <a:ln w="12700">
            <a:solidFill>
              <a:srgbClr val="7C3AED"/>
            </a:solidFill>
            <a:prstDash val="solid"/>
          </a:ln>
          <a:effectLst>
            <a:outerShdw sx="100000" sy="100000" kx="0" ky="0" algn="bl" rotWithShape="0" blurRad="101600" dist="38100" dir="8100000">
              <a:srgbClr val="000000">
                <a:alpha val="10000"/>
              </a:srgbClr>
            </a:outerShdw>
          </a:effectLst>
        </p:spPr>
      </p:sp>
      <p:sp>
        <p:nvSpPr>
          <p:cNvPr id="17" name="Shape 15"/>
          <p:cNvSpPr/>
          <p:nvPr/>
        </p:nvSpPr>
        <p:spPr>
          <a:xfrm>
            <a:off x="6144768" y="1243584"/>
            <a:ext cx="2816352" cy="384048"/>
          </a:xfrm>
          <a:prstGeom prst="rect">
            <a:avLst/>
          </a:prstGeom>
          <a:solidFill>
            <a:srgbClr val="7C3AED"/>
          </a:solidFill>
          <a:ln w="12700">
            <a:solidFill>
              <a:srgbClr val="7C3AED">
                <a:alpha val="0"/>
              </a:srgbClr>
            </a:solidFill>
            <a:prstDash val="solid"/>
          </a:ln>
        </p:spPr>
      </p:sp>
      <p:sp>
        <p:nvSpPr>
          <p:cNvPr id="18" name="Text 16"/>
          <p:cNvSpPr/>
          <p:nvPr/>
        </p:nvSpPr>
        <p:spPr>
          <a:xfrm>
            <a:off x="6236208" y="1243584"/>
            <a:ext cx="2633472" cy="384048"/>
          </a:xfrm>
          <a:prstGeom prst="rect">
            <a:avLst/>
          </a:prstGeom>
          <a:noFill/>
          <a:ln/>
        </p:spPr>
        <p:txBody>
          <a:bodyPr wrap="square" lIns="0" tIns="0" rIns="0" bIns="0" rtlCol="0" anchor="ctr">
            <a:normAutofit/>
          </a:bodyPr>
          <a:lstStyle/>
          <a:p>
            <a:pPr indent="0" marL="0">
              <a:buNone/>
            </a:pPr>
            <a:r>
              <a:rPr lang="en-US" sz="1000" b="1" dirty="0">
                <a:solidFill>
                  <a:srgbClr val="FFFFFF"/>
                </a:solidFill>
                <a:latin typeface="Calibri" pitchFamily="34" charset="0"/>
                <a:ea typeface="Calibri" pitchFamily="34" charset="-122"/>
                <a:cs typeface="Calibri" pitchFamily="34" charset="-120"/>
              </a:rPr>
              <a:t>SHAP Values (state of the art)</a:t>
            </a:r>
            <a:endParaRPr lang="en-US" sz="1000" dirty="0"/>
          </a:p>
        </p:txBody>
      </p:sp>
      <p:sp>
        <p:nvSpPr>
          <p:cNvPr id="19" name="Text 17"/>
          <p:cNvSpPr/>
          <p:nvPr/>
        </p:nvSpPr>
        <p:spPr>
          <a:xfrm>
            <a:off x="6254496" y="1682496"/>
            <a:ext cx="2596896" cy="2231136"/>
          </a:xfrm>
          <a:prstGeom prst="rect">
            <a:avLst/>
          </a:prstGeom>
          <a:noFill/>
          <a:ln/>
        </p:spPr>
        <p:txBody>
          <a:bodyPr wrap="square" lIns="0" tIns="0" rIns="0" bIns="0" rtlCol="0" anchor="ctr">
            <a:normAutofit/>
          </a:bodyPr>
          <a:lstStyle/>
          <a:p>
            <a:pPr indent="0" marL="0">
              <a:buNone/>
            </a:pPr>
            <a:r>
              <a:rPr lang="en-US" sz="950" dirty="0">
                <a:solidFill>
                  <a:srgbClr val="1E293B"/>
                </a:solidFill>
                <a:latin typeface="Calibri" pitchFamily="34" charset="0"/>
                <a:ea typeface="Calibri" pitchFamily="34" charset="-122"/>
                <a:cs typeface="Calibri" pitchFamily="34" charset="-120"/>
              </a:rPr>
              <a:t>Game-theory based: how much does each feature push the prediction above/below the average for each individual patient? Gives per-sample explanations, not just global importance.</a:t>
            </a:r>
            <a:endParaRPr lang="en-US" sz="950" dirty="0"/>
          </a:p>
          <a:p>
            <a:pPr indent="0" marL="0">
              <a:buNone/>
            </a:pPr>
            <a:endParaRPr lang="en-US" sz="950" dirty="0"/>
          </a:p>
          <a:p>
            <a:pPr indent="0" marL="0">
              <a:buNone/>
            </a:pPr>
            <a:r>
              <a:rPr lang="en-US" sz="950" dirty="0">
                <a:solidFill>
                  <a:srgbClr val="1E293B"/>
                </a:solidFill>
                <a:latin typeface="Calibri" pitchFamily="34" charset="0"/>
                <a:ea typeface="Calibri" pitchFamily="34" charset="-122"/>
                <a:cs typeface="Calibri" pitchFamily="34" charset="-120"/>
              </a:rPr>
              <a:t>Best for: explaining individual predictions to doctors. 'Patient X is high risk because HbA1c (+0.15) and BMI (+0.12) pushed the score up.'</a:t>
            </a:r>
            <a:endParaRPr lang="en-US" sz="950" dirty="0"/>
          </a:p>
        </p:txBody>
      </p:sp>
      <p:sp>
        <p:nvSpPr>
          <p:cNvPr id="20" name="Text 18"/>
          <p:cNvSpPr/>
          <p:nvPr/>
        </p:nvSpPr>
        <p:spPr>
          <a:xfrm>
            <a:off x="256032" y="4041648"/>
            <a:ext cx="8631936" cy="237744"/>
          </a:xfrm>
          <a:prstGeom prst="rect">
            <a:avLst/>
          </a:prstGeom>
          <a:noFill/>
          <a:ln/>
        </p:spPr>
        <p:txBody>
          <a:bodyPr wrap="square" lIns="0" tIns="0" rIns="0" bIns="0" rtlCol="0" anchor="ctr">
            <a:normAutofit/>
          </a:bodyPr>
          <a:lstStyle/>
          <a:p>
            <a:pPr indent="0" marL="0">
              <a:buNone/>
            </a:pPr>
            <a:r>
              <a:rPr lang="en-US" sz="1100" b="1" dirty="0">
                <a:solidFill>
                  <a:srgbClr val="0D1B3E"/>
                </a:solidFill>
                <a:latin typeface="Calibri" pitchFamily="34" charset="0"/>
                <a:ea typeface="Calibri" pitchFamily="34" charset="-122"/>
                <a:cs typeface="Calibri" pitchFamily="34" charset="-120"/>
              </a:rPr>
              <a:t>When Random Forest Fails — Know the Limits:</a:t>
            </a:r>
            <a:endParaRPr lang="en-US" sz="1100" dirty="0"/>
          </a:p>
        </p:txBody>
      </p:sp>
      <p:sp>
        <p:nvSpPr>
          <p:cNvPr id="21" name="Shape 19"/>
          <p:cNvSpPr/>
          <p:nvPr/>
        </p:nvSpPr>
        <p:spPr>
          <a:xfrm>
            <a:off x="256032" y="4315968"/>
            <a:ext cx="2103120" cy="658368"/>
          </a:xfrm>
          <a:prstGeom prst="rect">
            <a:avLst/>
          </a:prstGeom>
          <a:solidFill>
            <a:srgbClr val="FFFFFF"/>
          </a:solidFill>
          <a:ln w="10160">
            <a:solidFill>
              <a:srgbClr val="9F1239"/>
            </a:solidFill>
            <a:prstDash val="solid"/>
          </a:ln>
        </p:spPr>
      </p:sp>
      <p:sp>
        <p:nvSpPr>
          <p:cNvPr id="22" name="Text 20"/>
          <p:cNvSpPr/>
          <p:nvPr/>
        </p:nvSpPr>
        <p:spPr>
          <a:xfrm>
            <a:off x="347472" y="4352544"/>
            <a:ext cx="1920240" cy="201168"/>
          </a:xfrm>
          <a:prstGeom prst="rect">
            <a:avLst/>
          </a:prstGeom>
          <a:noFill/>
          <a:ln/>
        </p:spPr>
        <p:txBody>
          <a:bodyPr wrap="square" lIns="0" tIns="0" rIns="0" bIns="0" rtlCol="0" anchor="ctr">
            <a:normAutofit/>
          </a:bodyPr>
          <a:lstStyle/>
          <a:p>
            <a:pPr indent="0" marL="0">
              <a:buNone/>
            </a:pPr>
            <a:r>
              <a:rPr lang="en-US" sz="950" b="1" dirty="0">
                <a:solidFill>
                  <a:srgbClr val="9F1239"/>
                </a:solidFill>
                <a:latin typeface="Calibri" pitchFamily="34" charset="0"/>
                <a:ea typeface="Calibri" pitchFamily="34" charset="-122"/>
                <a:cs typeface="Calibri" pitchFamily="34" charset="-120"/>
              </a:rPr>
              <a:t>Extrapolation</a:t>
            </a:r>
            <a:endParaRPr lang="en-US" sz="950" dirty="0"/>
          </a:p>
        </p:txBody>
      </p:sp>
      <p:sp>
        <p:nvSpPr>
          <p:cNvPr id="23" name="Text 21"/>
          <p:cNvSpPr/>
          <p:nvPr/>
        </p:nvSpPr>
        <p:spPr>
          <a:xfrm>
            <a:off x="347472" y="4553712"/>
            <a:ext cx="1920240" cy="384048"/>
          </a:xfrm>
          <a:prstGeom prst="rect">
            <a:avLst/>
          </a:prstGeom>
          <a:noFill/>
          <a:ln/>
        </p:spPr>
        <p:txBody>
          <a:bodyPr wrap="square" lIns="0" tIns="0" rIns="0" bIns="0" rtlCol="0" anchor="ctr">
            <a:normAutofit/>
          </a:bodyPr>
          <a:lstStyle/>
          <a:p>
            <a:pPr indent="0" marL="0">
              <a:buNone/>
            </a:pPr>
            <a:r>
              <a:rPr lang="en-US" sz="850" dirty="0">
                <a:solidFill>
                  <a:srgbClr val="1E293B"/>
                </a:solidFill>
                <a:latin typeface="Calibri" pitchFamily="34" charset="0"/>
                <a:ea typeface="Calibri" pitchFamily="34" charset="-122"/>
                <a:cs typeface="Calibri" pitchFamily="34" charset="-120"/>
              </a:rPr>
              <a:t>RF cannot predict values outside the training data range. Age max in train=85 → RF never predicts correctly for age=90.</a:t>
            </a:r>
            <a:endParaRPr lang="en-US" sz="850" dirty="0"/>
          </a:p>
        </p:txBody>
      </p:sp>
      <p:sp>
        <p:nvSpPr>
          <p:cNvPr id="24" name="Shape 22"/>
          <p:cNvSpPr/>
          <p:nvPr/>
        </p:nvSpPr>
        <p:spPr>
          <a:xfrm>
            <a:off x="2468880" y="4315968"/>
            <a:ext cx="2103120" cy="658368"/>
          </a:xfrm>
          <a:prstGeom prst="rect">
            <a:avLst/>
          </a:prstGeom>
          <a:solidFill>
            <a:srgbClr val="FFFFFF"/>
          </a:solidFill>
          <a:ln w="10160">
            <a:solidFill>
              <a:srgbClr val="9F1239"/>
            </a:solidFill>
            <a:prstDash val="solid"/>
          </a:ln>
        </p:spPr>
      </p:sp>
      <p:sp>
        <p:nvSpPr>
          <p:cNvPr id="25" name="Text 23"/>
          <p:cNvSpPr/>
          <p:nvPr/>
        </p:nvSpPr>
        <p:spPr>
          <a:xfrm>
            <a:off x="2560320" y="4352544"/>
            <a:ext cx="1920240" cy="201168"/>
          </a:xfrm>
          <a:prstGeom prst="rect">
            <a:avLst/>
          </a:prstGeom>
          <a:noFill/>
          <a:ln/>
        </p:spPr>
        <p:txBody>
          <a:bodyPr wrap="square" lIns="0" tIns="0" rIns="0" bIns="0" rtlCol="0" anchor="ctr">
            <a:normAutofit/>
          </a:bodyPr>
          <a:lstStyle/>
          <a:p>
            <a:pPr indent="0" marL="0">
              <a:buNone/>
            </a:pPr>
            <a:r>
              <a:rPr lang="en-US" sz="950" b="1" dirty="0">
                <a:solidFill>
                  <a:srgbClr val="9F1239"/>
                </a:solidFill>
                <a:latin typeface="Calibri" pitchFamily="34" charset="0"/>
                <a:ea typeface="Calibri" pitchFamily="34" charset="-122"/>
                <a:cs typeface="Calibri" pitchFamily="34" charset="-120"/>
              </a:rPr>
              <a:t>Very high dimensions</a:t>
            </a:r>
            <a:endParaRPr lang="en-US" sz="950" dirty="0"/>
          </a:p>
        </p:txBody>
      </p:sp>
      <p:sp>
        <p:nvSpPr>
          <p:cNvPr id="26" name="Text 24"/>
          <p:cNvSpPr/>
          <p:nvPr/>
        </p:nvSpPr>
        <p:spPr>
          <a:xfrm>
            <a:off x="2560320" y="4553712"/>
            <a:ext cx="1920240" cy="384048"/>
          </a:xfrm>
          <a:prstGeom prst="rect">
            <a:avLst/>
          </a:prstGeom>
          <a:noFill/>
          <a:ln/>
        </p:spPr>
        <p:txBody>
          <a:bodyPr wrap="square" lIns="0" tIns="0" rIns="0" bIns="0" rtlCol="0" anchor="ctr">
            <a:normAutofit/>
          </a:bodyPr>
          <a:lstStyle/>
          <a:p>
            <a:pPr indent="0" marL="0">
              <a:buNone/>
            </a:pPr>
            <a:r>
              <a:rPr lang="en-US" sz="850" dirty="0">
                <a:solidFill>
                  <a:srgbClr val="1E293B"/>
                </a:solidFill>
                <a:latin typeface="Calibri" pitchFamily="34" charset="0"/>
                <a:ea typeface="Calibri" pitchFamily="34" charset="-122"/>
                <a:cs typeface="Calibri" pitchFamily="34" charset="-120"/>
              </a:rPr>
              <a:t>With thousands of features and few samples, max_features='sqrt' may still not decorrelate trees enough.</a:t>
            </a:r>
            <a:endParaRPr lang="en-US" sz="850" dirty="0"/>
          </a:p>
        </p:txBody>
      </p:sp>
      <p:sp>
        <p:nvSpPr>
          <p:cNvPr id="27" name="Shape 25"/>
          <p:cNvSpPr/>
          <p:nvPr/>
        </p:nvSpPr>
        <p:spPr>
          <a:xfrm>
            <a:off x="4681728" y="4315968"/>
            <a:ext cx="2103120" cy="658368"/>
          </a:xfrm>
          <a:prstGeom prst="rect">
            <a:avLst/>
          </a:prstGeom>
          <a:solidFill>
            <a:srgbClr val="FFFFFF"/>
          </a:solidFill>
          <a:ln w="10160">
            <a:solidFill>
              <a:srgbClr val="9F1239"/>
            </a:solidFill>
            <a:prstDash val="solid"/>
          </a:ln>
        </p:spPr>
      </p:sp>
      <p:sp>
        <p:nvSpPr>
          <p:cNvPr id="28" name="Text 26"/>
          <p:cNvSpPr/>
          <p:nvPr/>
        </p:nvSpPr>
        <p:spPr>
          <a:xfrm>
            <a:off x="4773168" y="4352544"/>
            <a:ext cx="1920240" cy="201168"/>
          </a:xfrm>
          <a:prstGeom prst="rect">
            <a:avLst/>
          </a:prstGeom>
          <a:noFill/>
          <a:ln/>
        </p:spPr>
        <p:txBody>
          <a:bodyPr wrap="square" lIns="0" tIns="0" rIns="0" bIns="0" rtlCol="0" anchor="ctr">
            <a:normAutofit/>
          </a:bodyPr>
          <a:lstStyle/>
          <a:p>
            <a:pPr indent="0" marL="0">
              <a:buNone/>
            </a:pPr>
            <a:r>
              <a:rPr lang="en-US" sz="950" b="1" dirty="0">
                <a:solidFill>
                  <a:srgbClr val="9F1239"/>
                </a:solidFill>
                <a:latin typeface="Calibri" pitchFamily="34" charset="0"/>
                <a:ea typeface="Calibri" pitchFamily="34" charset="-122"/>
                <a:cs typeface="Calibri" pitchFamily="34" charset="-120"/>
              </a:rPr>
              <a:t>Extremely sparse data</a:t>
            </a:r>
            <a:endParaRPr lang="en-US" sz="950" dirty="0"/>
          </a:p>
        </p:txBody>
      </p:sp>
      <p:sp>
        <p:nvSpPr>
          <p:cNvPr id="29" name="Text 27"/>
          <p:cNvSpPr/>
          <p:nvPr/>
        </p:nvSpPr>
        <p:spPr>
          <a:xfrm>
            <a:off x="4773168" y="4553712"/>
            <a:ext cx="1920240" cy="384048"/>
          </a:xfrm>
          <a:prstGeom prst="rect">
            <a:avLst/>
          </a:prstGeom>
          <a:noFill/>
          <a:ln/>
        </p:spPr>
        <p:txBody>
          <a:bodyPr wrap="square" lIns="0" tIns="0" rIns="0" bIns="0" rtlCol="0" anchor="ctr">
            <a:normAutofit/>
          </a:bodyPr>
          <a:lstStyle/>
          <a:p>
            <a:pPr indent="0" marL="0">
              <a:buNone/>
            </a:pPr>
            <a:r>
              <a:rPr lang="en-US" sz="850" dirty="0">
                <a:solidFill>
                  <a:srgbClr val="1E293B"/>
                </a:solidFill>
                <a:latin typeface="Calibri" pitchFamily="34" charset="0"/>
                <a:ea typeface="Calibri" pitchFamily="34" charset="-122"/>
                <a:cs typeface="Calibri" pitchFamily="34" charset="-120"/>
              </a:rPr>
              <a:t>Text or genomic data with millions of near-zero features — gradient boosting usually wins.</a:t>
            </a:r>
            <a:endParaRPr lang="en-US" sz="850" dirty="0"/>
          </a:p>
        </p:txBody>
      </p:sp>
      <p:sp>
        <p:nvSpPr>
          <p:cNvPr id="30" name="Shape 28"/>
          <p:cNvSpPr/>
          <p:nvPr/>
        </p:nvSpPr>
        <p:spPr>
          <a:xfrm>
            <a:off x="6894576" y="4315968"/>
            <a:ext cx="2103120" cy="658368"/>
          </a:xfrm>
          <a:prstGeom prst="rect">
            <a:avLst/>
          </a:prstGeom>
          <a:solidFill>
            <a:srgbClr val="FFFFFF"/>
          </a:solidFill>
          <a:ln w="10160">
            <a:solidFill>
              <a:srgbClr val="9F1239"/>
            </a:solidFill>
            <a:prstDash val="solid"/>
          </a:ln>
        </p:spPr>
      </p:sp>
      <p:sp>
        <p:nvSpPr>
          <p:cNvPr id="31" name="Text 29"/>
          <p:cNvSpPr/>
          <p:nvPr/>
        </p:nvSpPr>
        <p:spPr>
          <a:xfrm>
            <a:off x="6986016" y="4352544"/>
            <a:ext cx="1920240" cy="201168"/>
          </a:xfrm>
          <a:prstGeom prst="rect">
            <a:avLst/>
          </a:prstGeom>
          <a:noFill/>
          <a:ln/>
        </p:spPr>
        <p:txBody>
          <a:bodyPr wrap="square" lIns="0" tIns="0" rIns="0" bIns="0" rtlCol="0" anchor="ctr">
            <a:normAutofit/>
          </a:bodyPr>
          <a:lstStyle/>
          <a:p>
            <a:pPr indent="0" marL="0">
              <a:buNone/>
            </a:pPr>
            <a:r>
              <a:rPr lang="en-US" sz="950" b="1" dirty="0">
                <a:solidFill>
                  <a:srgbClr val="9F1239"/>
                </a:solidFill>
                <a:latin typeface="Calibri" pitchFamily="34" charset="0"/>
                <a:ea typeface="Calibri" pitchFamily="34" charset="-122"/>
                <a:cs typeface="Calibri" pitchFamily="34" charset="-120"/>
              </a:rPr>
              <a:t>Need for speed</a:t>
            </a:r>
            <a:endParaRPr lang="en-US" sz="950" dirty="0"/>
          </a:p>
        </p:txBody>
      </p:sp>
      <p:sp>
        <p:nvSpPr>
          <p:cNvPr id="32" name="Text 30"/>
          <p:cNvSpPr/>
          <p:nvPr/>
        </p:nvSpPr>
        <p:spPr>
          <a:xfrm>
            <a:off x="6986016" y="4553712"/>
            <a:ext cx="1920240" cy="384048"/>
          </a:xfrm>
          <a:prstGeom prst="rect">
            <a:avLst/>
          </a:prstGeom>
          <a:noFill/>
          <a:ln/>
        </p:spPr>
        <p:txBody>
          <a:bodyPr wrap="square" lIns="0" tIns="0" rIns="0" bIns="0" rtlCol="0" anchor="ctr">
            <a:normAutofit/>
          </a:bodyPr>
          <a:lstStyle/>
          <a:p>
            <a:pPr indent="0" marL="0">
              <a:buNone/>
            </a:pPr>
            <a:r>
              <a:rPr lang="en-US" sz="850" dirty="0">
                <a:solidFill>
                  <a:srgbClr val="1E293B"/>
                </a:solidFill>
                <a:latin typeface="Calibri" pitchFamily="34" charset="0"/>
                <a:ea typeface="Calibri" pitchFamily="34" charset="-122"/>
                <a:cs typeface="Calibri" pitchFamily="34" charset="-120"/>
              </a:rPr>
              <a:t>Inference: RF calls predict() on 500 trees. For real-time low-latency APIs, XGBoost or LightGBM is faster.</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9F0"/>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3730A3"/>
          </a:solidFill>
          <a:ln w="12700">
            <a:solidFill>
              <a:srgbClr val="3730A3">
                <a:alpha val="0"/>
              </a:srgbClr>
            </a:solidFill>
            <a:prstDash val="solid"/>
          </a:ln>
        </p:spPr>
      </p:sp>
      <p:sp>
        <p:nvSpPr>
          <p:cNvPr id="3" name="Text 1"/>
          <p:cNvSpPr/>
          <p:nvPr/>
        </p:nvSpPr>
        <p:spPr>
          <a:xfrm>
            <a:off x="347472" y="0"/>
            <a:ext cx="8458200" cy="640080"/>
          </a:xfrm>
          <a:prstGeom prst="rect">
            <a:avLst/>
          </a:prstGeom>
          <a:noFill/>
          <a:ln/>
        </p:spPr>
        <p:txBody>
          <a:bodyPr wrap="square" lIns="0" tIns="0" rIns="0" bIns="0" rtlCol="0" anchor="ctr">
            <a:normAutofit/>
          </a:bodyPr>
          <a:lstStyle/>
          <a:p>
            <a:pPr indent="0" marL="0">
              <a:buNone/>
            </a:pPr>
            <a:r>
              <a:rPr lang="en-US" sz="1400" b="1" spc="100" kern="0" dirty="0">
                <a:solidFill>
                  <a:srgbClr val="FFFFFF"/>
                </a:solidFill>
                <a:latin typeface="Calibri" pitchFamily="34" charset="0"/>
                <a:ea typeface="Calibri" pitchFamily="34" charset="-122"/>
                <a:cs typeface="Calibri" pitchFamily="34" charset="-120"/>
              </a:rPr>
              <a:t>GRADIENT BOOSTING — THEORY  (25 MIN)</a:t>
            </a:r>
            <a:endParaRPr lang="en-US" sz="1400" dirty="0"/>
          </a:p>
        </p:txBody>
      </p:sp>
      <p:sp>
        <p:nvSpPr>
          <p:cNvPr id="4" name="Shape 2"/>
          <p:cNvSpPr/>
          <p:nvPr/>
        </p:nvSpPr>
        <p:spPr>
          <a:xfrm>
            <a:off x="8229600" y="658368"/>
            <a:ext cx="1234440" cy="256032"/>
          </a:xfrm>
          <a:prstGeom prst="rect">
            <a:avLst/>
          </a:prstGeom>
          <a:solidFill>
            <a:srgbClr val="3730A3"/>
          </a:solidFill>
          <a:ln w="12700">
            <a:solidFill>
              <a:srgbClr val="3730A3">
                <a:alpha val="0"/>
              </a:srgbClr>
            </a:solidFill>
            <a:prstDash val="solid"/>
          </a:ln>
        </p:spPr>
      </p:sp>
      <p:sp>
        <p:nvSpPr>
          <p:cNvPr id="5" name="Text 3"/>
          <p:cNvSpPr/>
          <p:nvPr/>
        </p:nvSpPr>
        <p:spPr>
          <a:xfrm>
            <a:off x="8229600" y="658368"/>
            <a:ext cx="1234440" cy="256032"/>
          </a:xfrm>
          <a:prstGeom prst="rect">
            <a:avLst/>
          </a:prstGeom>
          <a:noFill/>
          <a:ln/>
        </p:spPr>
        <p:txBody>
          <a:bodyPr wrap="square" lIns="0" tIns="0" rIns="0" bIns="0" rtlCol="0" anchor="ctr">
            <a:normAutofit/>
          </a:bodyPr>
          <a:lstStyle/>
          <a:p>
            <a:pPr algn="ctr" indent="0" marL="0">
              <a:buNone/>
            </a:pPr>
            <a:r>
              <a:rPr lang="en-US" sz="800" b="1" dirty="0">
                <a:solidFill>
                  <a:srgbClr val="FFFFFF"/>
                </a:solidFill>
                <a:latin typeface="Calibri" pitchFamily="34" charset="0"/>
                <a:ea typeface="Calibri" pitchFamily="34" charset="-122"/>
                <a:cs typeface="Calibri" pitchFamily="34" charset="-120"/>
              </a:rPr>
              <a:t>THEORY</a:t>
            </a:r>
            <a:endParaRPr lang="en-US" sz="800" dirty="0"/>
          </a:p>
        </p:txBody>
      </p:sp>
      <p:sp>
        <p:nvSpPr>
          <p:cNvPr id="6" name="Text 4"/>
          <p:cNvSpPr/>
          <p:nvPr/>
        </p:nvSpPr>
        <p:spPr>
          <a:xfrm>
            <a:off x="347472" y="667512"/>
            <a:ext cx="8458200" cy="256032"/>
          </a:xfrm>
          <a:prstGeom prst="rect">
            <a:avLst/>
          </a:prstGeom>
          <a:noFill/>
          <a:ln/>
        </p:spPr>
        <p:txBody>
          <a:bodyPr wrap="square" lIns="0" tIns="0" rIns="0" bIns="0" rtlCol="0" anchor="ctr">
            <a:normAutofit/>
          </a:bodyPr>
          <a:lstStyle/>
          <a:p>
            <a:pPr indent="0" marL="0">
              <a:buNone/>
            </a:pPr>
            <a:r>
              <a:rPr lang="en-US" sz="1000" i="1" dirty="0">
                <a:solidFill>
                  <a:srgbClr val="64748B"/>
                </a:solidFill>
                <a:latin typeface="Calibri" pitchFamily="34" charset="0"/>
                <a:ea typeface="Calibri" pitchFamily="34" charset="-122"/>
                <a:cs typeface="Calibri" pitchFamily="34" charset="-120"/>
              </a:rPr>
              <a:t>Gradient Boosting is the most powerful general-purpose ML algorithm — winner of most real-world tabular data competitions</a:t>
            </a:r>
            <a:endParaRPr lang="en-US" sz="1000" dirty="0"/>
          </a:p>
        </p:txBody>
      </p:sp>
      <p:sp>
        <p:nvSpPr>
          <p:cNvPr id="7" name="Shape 5"/>
          <p:cNvSpPr/>
          <p:nvPr/>
        </p:nvSpPr>
        <p:spPr>
          <a:xfrm>
            <a:off x="256032" y="960120"/>
            <a:ext cx="8631936" cy="621792"/>
          </a:xfrm>
          <a:prstGeom prst="rect">
            <a:avLst/>
          </a:prstGeom>
          <a:solidFill>
            <a:srgbClr val="EEF2FF"/>
          </a:solidFill>
          <a:ln w="12700">
            <a:solidFill>
              <a:srgbClr val="3730A3"/>
            </a:solidFill>
            <a:prstDash val="solid"/>
          </a:ln>
        </p:spPr>
      </p:sp>
      <p:sp>
        <p:nvSpPr>
          <p:cNvPr id="8" name="Text 6"/>
          <p:cNvSpPr/>
          <p:nvPr/>
        </p:nvSpPr>
        <p:spPr>
          <a:xfrm>
            <a:off x="402336" y="996696"/>
            <a:ext cx="1508760" cy="201168"/>
          </a:xfrm>
          <a:prstGeom prst="rect">
            <a:avLst/>
          </a:prstGeom>
          <a:noFill/>
          <a:ln/>
        </p:spPr>
        <p:txBody>
          <a:bodyPr wrap="square" lIns="0" tIns="0" rIns="0" bIns="0" rtlCol="0" anchor="ctr">
            <a:normAutofit/>
          </a:bodyPr>
          <a:lstStyle/>
          <a:p>
            <a:pPr indent="0" marL="0">
              <a:buNone/>
            </a:pPr>
            <a:r>
              <a:rPr lang="en-US" sz="1000" b="1" dirty="0">
                <a:solidFill>
                  <a:srgbClr val="3730A3"/>
                </a:solidFill>
                <a:latin typeface="Calibri" pitchFamily="34" charset="0"/>
                <a:ea typeface="Calibri" pitchFamily="34" charset="-122"/>
                <a:cs typeface="Calibri" pitchFamily="34" charset="-120"/>
              </a:rPr>
              <a:t>CORE INTUITION:</a:t>
            </a:r>
            <a:endParaRPr lang="en-US" sz="1000" dirty="0"/>
          </a:p>
        </p:txBody>
      </p:sp>
      <p:sp>
        <p:nvSpPr>
          <p:cNvPr id="9" name="Text 7"/>
          <p:cNvSpPr/>
          <p:nvPr/>
        </p:nvSpPr>
        <p:spPr>
          <a:xfrm>
            <a:off x="1965960" y="996696"/>
            <a:ext cx="6858000" cy="530352"/>
          </a:xfrm>
          <a:prstGeom prst="rect">
            <a:avLst/>
          </a:prstGeom>
          <a:noFill/>
          <a:ln/>
        </p:spPr>
        <p:txBody>
          <a:bodyPr wrap="square" lIns="0" tIns="0" rIns="0" bIns="0" rtlCol="0" anchor="ctr">
            <a:normAutofit/>
          </a:bodyPr>
          <a:lstStyle/>
          <a:p>
            <a:pPr indent="0" marL="0">
              <a:buNone/>
            </a:pPr>
            <a:r>
              <a:rPr lang="en-US" sz="1000" dirty="0">
                <a:solidFill>
                  <a:srgbClr val="1E293B"/>
                </a:solidFill>
                <a:latin typeface="Calibri" pitchFamily="34" charset="0"/>
                <a:ea typeface="Calibri" pitchFamily="34" charset="-122"/>
                <a:cs typeface="Calibri" pitchFamily="34" charset="-120"/>
              </a:rPr>
              <a:t>Gradient Boosting builds trees SEQUENTIALLY. Each new tree is trained NOT on the original labels, but on the RESIDUAL ERRORS of the current ensemble. It is literally gradient descent in function space: each tree = one gradient step toward minimising the loss function. Learning rate controls step size.</a:t>
            </a:r>
            <a:endParaRPr lang="en-US" sz="1000" dirty="0"/>
          </a:p>
        </p:txBody>
      </p:sp>
      <p:sp>
        <p:nvSpPr>
          <p:cNvPr id="10" name="Text 8"/>
          <p:cNvSpPr/>
          <p:nvPr/>
        </p:nvSpPr>
        <p:spPr>
          <a:xfrm>
            <a:off x="256032" y="1645920"/>
            <a:ext cx="5029200" cy="237744"/>
          </a:xfrm>
          <a:prstGeom prst="rect">
            <a:avLst/>
          </a:prstGeom>
          <a:noFill/>
          <a:ln/>
        </p:spPr>
        <p:txBody>
          <a:bodyPr wrap="square" lIns="0" tIns="0" rIns="0" bIns="0" rtlCol="0" anchor="ctr">
            <a:normAutofit/>
          </a:bodyPr>
          <a:lstStyle/>
          <a:p>
            <a:pPr indent="0" marL="0">
              <a:buNone/>
            </a:pPr>
            <a:r>
              <a:rPr lang="en-US" sz="1100" b="1" dirty="0">
                <a:solidFill>
                  <a:srgbClr val="0D1B3E"/>
                </a:solidFill>
                <a:latin typeface="Calibri" pitchFamily="34" charset="0"/>
                <a:ea typeface="Calibri" pitchFamily="34" charset="-122"/>
                <a:cs typeface="Calibri" pitchFamily="34" charset="-120"/>
              </a:rPr>
              <a:t>The Algorithm — Step by Step:</a:t>
            </a:r>
            <a:endParaRPr lang="en-US" sz="1100" dirty="0"/>
          </a:p>
        </p:txBody>
      </p:sp>
      <p:sp>
        <p:nvSpPr>
          <p:cNvPr id="11" name="Shape 9"/>
          <p:cNvSpPr/>
          <p:nvPr/>
        </p:nvSpPr>
        <p:spPr>
          <a:xfrm>
            <a:off x="256032" y="1920240"/>
            <a:ext cx="5029200" cy="512064"/>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0000"/>
              </a:srgbClr>
            </a:outerShdw>
          </a:effectLst>
        </p:spPr>
      </p:sp>
      <p:sp>
        <p:nvSpPr>
          <p:cNvPr id="12" name="Shape 10"/>
          <p:cNvSpPr/>
          <p:nvPr/>
        </p:nvSpPr>
        <p:spPr>
          <a:xfrm>
            <a:off x="256032" y="1920240"/>
            <a:ext cx="384048" cy="512064"/>
          </a:xfrm>
          <a:prstGeom prst="rect">
            <a:avLst/>
          </a:prstGeom>
          <a:solidFill>
            <a:srgbClr val="0D1B3E"/>
          </a:solidFill>
          <a:ln w="12700">
            <a:solidFill>
              <a:srgbClr val="0D1B3E">
                <a:alpha val="0"/>
              </a:srgbClr>
            </a:solidFill>
            <a:prstDash val="solid"/>
          </a:ln>
        </p:spPr>
      </p:sp>
      <p:sp>
        <p:nvSpPr>
          <p:cNvPr id="13" name="Text 11"/>
          <p:cNvSpPr/>
          <p:nvPr/>
        </p:nvSpPr>
        <p:spPr>
          <a:xfrm>
            <a:off x="256032" y="1920240"/>
            <a:ext cx="384048" cy="512064"/>
          </a:xfrm>
          <a:prstGeom prst="rect">
            <a:avLst/>
          </a:prstGeom>
          <a:noFill/>
          <a:ln/>
        </p:spPr>
        <p:txBody>
          <a:bodyPr wrap="square" lIns="0" tIns="0" rIns="0" bIns="0" rtlCol="0" anchor="ctr">
            <a:normAutofit/>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4" name="Text 12"/>
          <p:cNvSpPr/>
          <p:nvPr/>
        </p:nvSpPr>
        <p:spPr>
          <a:xfrm>
            <a:off x="713232" y="1956816"/>
            <a:ext cx="1463040" cy="201168"/>
          </a:xfrm>
          <a:prstGeom prst="rect">
            <a:avLst/>
          </a:prstGeom>
          <a:noFill/>
          <a:ln/>
        </p:spPr>
        <p:txBody>
          <a:bodyPr wrap="square" lIns="0" tIns="0" rIns="0" bIns="0" rtlCol="0" anchor="ctr">
            <a:normAutofit/>
          </a:bodyPr>
          <a:lstStyle/>
          <a:p>
            <a:pPr indent="0" marL="0">
              <a:buNone/>
            </a:pPr>
            <a:r>
              <a:rPr lang="en-US" sz="1000" b="1" dirty="0">
                <a:solidFill>
                  <a:srgbClr val="0D1B3E"/>
                </a:solidFill>
                <a:latin typeface="Calibri" pitchFamily="34" charset="0"/>
                <a:ea typeface="Calibri" pitchFamily="34" charset="-122"/>
                <a:cs typeface="Calibri" pitchFamily="34" charset="-120"/>
              </a:rPr>
              <a:t>Initial prediction: </a:t>
            </a:r>
            <a:endParaRPr lang="en-US" sz="1000" dirty="0"/>
          </a:p>
        </p:txBody>
      </p:sp>
      <p:sp>
        <p:nvSpPr>
          <p:cNvPr id="15" name="Text 13"/>
          <p:cNvSpPr/>
          <p:nvPr/>
        </p:nvSpPr>
        <p:spPr>
          <a:xfrm>
            <a:off x="713232" y="2157984"/>
            <a:ext cx="4462272" cy="237744"/>
          </a:xfrm>
          <a:prstGeom prst="rect">
            <a:avLst/>
          </a:prstGeom>
          <a:noFill/>
          <a:ln/>
        </p:spPr>
        <p:txBody>
          <a:bodyPr wrap="square" lIns="0" tIns="0" rIns="0" bIns="0" rtlCol="0" anchor="ctr">
            <a:normAutofit/>
          </a:bodyPr>
          <a:lstStyle/>
          <a:p>
            <a:pPr indent="0" marL="0">
              <a:buNone/>
            </a:pPr>
            <a:r>
              <a:rPr lang="en-US" sz="880" dirty="0">
                <a:solidFill>
                  <a:srgbClr val="1E293B"/>
                </a:solidFill>
                <a:latin typeface="Calibri" pitchFamily="34" charset="0"/>
                <a:ea typeface="Calibri" pitchFamily="34" charset="-122"/>
                <a:cs typeface="Calibri" pitchFamily="34" charset="-120"/>
              </a:rPr>
              <a:t>Start with a constant: the mean of y (regression) or log-odds of positive class (classification). This is F₀(x).</a:t>
            </a:r>
            <a:endParaRPr lang="en-US" sz="880" dirty="0"/>
          </a:p>
        </p:txBody>
      </p:sp>
      <p:sp>
        <p:nvSpPr>
          <p:cNvPr id="16" name="Shape 14"/>
          <p:cNvSpPr/>
          <p:nvPr/>
        </p:nvSpPr>
        <p:spPr>
          <a:xfrm>
            <a:off x="256032" y="2487168"/>
            <a:ext cx="5029200" cy="512064"/>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0000"/>
              </a:srgbClr>
            </a:outerShdw>
          </a:effectLst>
        </p:spPr>
      </p:sp>
      <p:sp>
        <p:nvSpPr>
          <p:cNvPr id="17" name="Shape 15"/>
          <p:cNvSpPr/>
          <p:nvPr/>
        </p:nvSpPr>
        <p:spPr>
          <a:xfrm>
            <a:off x="256032" y="2487168"/>
            <a:ext cx="384048" cy="512064"/>
          </a:xfrm>
          <a:prstGeom prst="rect">
            <a:avLst/>
          </a:prstGeom>
          <a:solidFill>
            <a:srgbClr val="3730A3"/>
          </a:solidFill>
          <a:ln w="12700">
            <a:solidFill>
              <a:srgbClr val="3730A3">
                <a:alpha val="0"/>
              </a:srgbClr>
            </a:solidFill>
            <a:prstDash val="solid"/>
          </a:ln>
        </p:spPr>
      </p:sp>
      <p:sp>
        <p:nvSpPr>
          <p:cNvPr id="18" name="Text 16"/>
          <p:cNvSpPr/>
          <p:nvPr/>
        </p:nvSpPr>
        <p:spPr>
          <a:xfrm>
            <a:off x="256032" y="2487168"/>
            <a:ext cx="384048" cy="512064"/>
          </a:xfrm>
          <a:prstGeom prst="rect">
            <a:avLst/>
          </a:prstGeom>
          <a:noFill/>
          <a:ln/>
        </p:spPr>
        <p:txBody>
          <a:bodyPr wrap="square" lIns="0" tIns="0" rIns="0" bIns="0" rtlCol="0" anchor="ctr">
            <a:normAutofit/>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9" name="Text 17"/>
          <p:cNvSpPr/>
          <p:nvPr/>
        </p:nvSpPr>
        <p:spPr>
          <a:xfrm>
            <a:off x="713232" y="2523744"/>
            <a:ext cx="1463040" cy="201168"/>
          </a:xfrm>
          <a:prstGeom prst="rect">
            <a:avLst/>
          </a:prstGeom>
          <a:noFill/>
          <a:ln/>
        </p:spPr>
        <p:txBody>
          <a:bodyPr wrap="square" lIns="0" tIns="0" rIns="0" bIns="0" rtlCol="0" anchor="ctr">
            <a:normAutofit/>
          </a:bodyPr>
          <a:lstStyle/>
          <a:p>
            <a:pPr indent="0" marL="0">
              <a:buNone/>
            </a:pPr>
            <a:r>
              <a:rPr lang="en-US" sz="1000" b="1" dirty="0">
                <a:solidFill>
                  <a:srgbClr val="3730A3"/>
                </a:solidFill>
                <a:latin typeface="Calibri" pitchFamily="34" charset="0"/>
                <a:ea typeface="Calibri" pitchFamily="34" charset="-122"/>
                <a:cs typeface="Calibri" pitchFamily="34" charset="-120"/>
              </a:rPr>
              <a:t>Compute residuals: </a:t>
            </a:r>
            <a:endParaRPr lang="en-US" sz="1000" dirty="0"/>
          </a:p>
        </p:txBody>
      </p:sp>
      <p:sp>
        <p:nvSpPr>
          <p:cNvPr id="20" name="Text 18"/>
          <p:cNvSpPr/>
          <p:nvPr/>
        </p:nvSpPr>
        <p:spPr>
          <a:xfrm>
            <a:off x="713232" y="2724912"/>
            <a:ext cx="4462272" cy="237744"/>
          </a:xfrm>
          <a:prstGeom prst="rect">
            <a:avLst/>
          </a:prstGeom>
          <a:noFill/>
          <a:ln/>
        </p:spPr>
        <p:txBody>
          <a:bodyPr wrap="square" lIns="0" tIns="0" rIns="0" bIns="0" rtlCol="0" anchor="ctr">
            <a:normAutofit/>
          </a:bodyPr>
          <a:lstStyle/>
          <a:p>
            <a:pPr indent="0" marL="0">
              <a:buNone/>
            </a:pPr>
            <a:r>
              <a:rPr lang="en-US" sz="880" dirty="0">
                <a:solidFill>
                  <a:srgbClr val="1E293B"/>
                </a:solidFill>
                <a:latin typeface="Calibri" pitchFamily="34" charset="0"/>
                <a:ea typeface="Calibri" pitchFamily="34" charset="-122"/>
                <a:cs typeface="Calibri" pitchFamily="34" charset="-120"/>
              </a:rPr>
              <a:t>Calculate pseudo-residuals: rᵢ = yᵢ − F(xᵢ). For log-loss: rᵢ = yᵢ − sigmoid(F(xᵢ)). These are what the next tree tries to predict.</a:t>
            </a:r>
            <a:endParaRPr lang="en-US" sz="880" dirty="0"/>
          </a:p>
        </p:txBody>
      </p:sp>
      <p:sp>
        <p:nvSpPr>
          <p:cNvPr id="21" name="Shape 19"/>
          <p:cNvSpPr/>
          <p:nvPr/>
        </p:nvSpPr>
        <p:spPr>
          <a:xfrm>
            <a:off x="256032" y="3054096"/>
            <a:ext cx="5029200" cy="512064"/>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0000"/>
              </a:srgbClr>
            </a:outerShdw>
          </a:effectLst>
        </p:spPr>
      </p:sp>
      <p:sp>
        <p:nvSpPr>
          <p:cNvPr id="22" name="Shape 20"/>
          <p:cNvSpPr/>
          <p:nvPr/>
        </p:nvSpPr>
        <p:spPr>
          <a:xfrm>
            <a:off x="256032" y="3054096"/>
            <a:ext cx="384048" cy="512064"/>
          </a:xfrm>
          <a:prstGeom prst="rect">
            <a:avLst/>
          </a:prstGeom>
          <a:solidFill>
            <a:srgbClr val="9F1239"/>
          </a:solidFill>
          <a:ln w="12700">
            <a:solidFill>
              <a:srgbClr val="9F1239">
                <a:alpha val="0"/>
              </a:srgbClr>
            </a:solidFill>
            <a:prstDash val="solid"/>
          </a:ln>
        </p:spPr>
      </p:sp>
      <p:sp>
        <p:nvSpPr>
          <p:cNvPr id="23" name="Text 21"/>
          <p:cNvSpPr/>
          <p:nvPr/>
        </p:nvSpPr>
        <p:spPr>
          <a:xfrm>
            <a:off x="256032" y="3054096"/>
            <a:ext cx="384048" cy="512064"/>
          </a:xfrm>
          <a:prstGeom prst="rect">
            <a:avLst/>
          </a:prstGeom>
          <a:noFill/>
          <a:ln/>
        </p:spPr>
        <p:txBody>
          <a:bodyPr wrap="square" lIns="0" tIns="0" rIns="0" bIns="0" rtlCol="0" anchor="ctr">
            <a:normAutofit/>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4" name="Text 22"/>
          <p:cNvSpPr/>
          <p:nvPr/>
        </p:nvSpPr>
        <p:spPr>
          <a:xfrm>
            <a:off x="713232" y="3090672"/>
            <a:ext cx="1463040" cy="201168"/>
          </a:xfrm>
          <a:prstGeom prst="rect">
            <a:avLst/>
          </a:prstGeom>
          <a:noFill/>
          <a:ln/>
        </p:spPr>
        <p:txBody>
          <a:bodyPr wrap="square" lIns="0" tIns="0" rIns="0" bIns="0" rtlCol="0" anchor="ctr">
            <a:normAutofit/>
          </a:bodyPr>
          <a:lstStyle/>
          <a:p>
            <a:pPr indent="0" marL="0">
              <a:buNone/>
            </a:pPr>
            <a:r>
              <a:rPr lang="en-US" sz="1000" b="1" dirty="0">
                <a:solidFill>
                  <a:srgbClr val="9F1239"/>
                </a:solidFill>
                <a:latin typeface="Calibri" pitchFamily="34" charset="0"/>
                <a:ea typeface="Calibri" pitchFamily="34" charset="-122"/>
                <a:cs typeface="Calibri" pitchFamily="34" charset="-120"/>
              </a:rPr>
              <a:t>Fit tree to residuals: </a:t>
            </a:r>
            <a:endParaRPr lang="en-US" sz="1000" dirty="0"/>
          </a:p>
        </p:txBody>
      </p:sp>
      <p:sp>
        <p:nvSpPr>
          <p:cNvPr id="25" name="Text 23"/>
          <p:cNvSpPr/>
          <p:nvPr/>
        </p:nvSpPr>
        <p:spPr>
          <a:xfrm>
            <a:off x="713232" y="3291840"/>
            <a:ext cx="4462272" cy="237744"/>
          </a:xfrm>
          <a:prstGeom prst="rect">
            <a:avLst/>
          </a:prstGeom>
          <a:noFill/>
          <a:ln/>
        </p:spPr>
        <p:txBody>
          <a:bodyPr wrap="square" lIns="0" tIns="0" rIns="0" bIns="0" rtlCol="0" anchor="ctr">
            <a:normAutofit/>
          </a:bodyPr>
          <a:lstStyle/>
          <a:p>
            <a:pPr indent="0" marL="0">
              <a:buNone/>
            </a:pPr>
            <a:r>
              <a:rPr lang="en-US" sz="880" dirty="0">
                <a:solidFill>
                  <a:srgbClr val="1E293B"/>
                </a:solidFill>
                <a:latin typeface="Calibri" pitchFamily="34" charset="0"/>
                <a:ea typeface="Calibri" pitchFamily="34" charset="-122"/>
                <a:cs typeface="Calibri" pitchFamily="34" charset="-120"/>
              </a:rPr>
              <a:t>Train a SHALLOW tree (max_depth=3–6) on the residuals. Leaf values = average residual in that leaf. This tree predicts the ERROR of the current ensemble.</a:t>
            </a:r>
            <a:endParaRPr lang="en-US" sz="880" dirty="0"/>
          </a:p>
        </p:txBody>
      </p:sp>
      <p:sp>
        <p:nvSpPr>
          <p:cNvPr id="26" name="Shape 24"/>
          <p:cNvSpPr/>
          <p:nvPr/>
        </p:nvSpPr>
        <p:spPr>
          <a:xfrm>
            <a:off x="256032" y="3621024"/>
            <a:ext cx="5029200" cy="512064"/>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0000"/>
              </a:srgbClr>
            </a:outerShdw>
          </a:effectLst>
        </p:spPr>
      </p:sp>
      <p:sp>
        <p:nvSpPr>
          <p:cNvPr id="27" name="Shape 25"/>
          <p:cNvSpPr/>
          <p:nvPr/>
        </p:nvSpPr>
        <p:spPr>
          <a:xfrm>
            <a:off x="256032" y="3621024"/>
            <a:ext cx="384048" cy="512064"/>
          </a:xfrm>
          <a:prstGeom prst="rect">
            <a:avLst/>
          </a:prstGeom>
          <a:solidFill>
            <a:srgbClr val="7C3AED"/>
          </a:solidFill>
          <a:ln w="12700">
            <a:solidFill>
              <a:srgbClr val="7C3AED">
                <a:alpha val="0"/>
              </a:srgbClr>
            </a:solidFill>
            <a:prstDash val="solid"/>
          </a:ln>
        </p:spPr>
      </p:sp>
      <p:sp>
        <p:nvSpPr>
          <p:cNvPr id="28" name="Text 26"/>
          <p:cNvSpPr/>
          <p:nvPr/>
        </p:nvSpPr>
        <p:spPr>
          <a:xfrm>
            <a:off x="256032" y="3621024"/>
            <a:ext cx="384048" cy="512064"/>
          </a:xfrm>
          <a:prstGeom prst="rect">
            <a:avLst/>
          </a:prstGeom>
          <a:noFill/>
          <a:ln/>
        </p:spPr>
        <p:txBody>
          <a:bodyPr wrap="square" lIns="0" tIns="0" rIns="0" bIns="0" rtlCol="0" anchor="ctr">
            <a:normAutofit/>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9" name="Text 27"/>
          <p:cNvSpPr/>
          <p:nvPr/>
        </p:nvSpPr>
        <p:spPr>
          <a:xfrm>
            <a:off x="713232" y="3657600"/>
            <a:ext cx="1463040" cy="201168"/>
          </a:xfrm>
          <a:prstGeom prst="rect">
            <a:avLst/>
          </a:prstGeom>
          <a:noFill/>
          <a:ln/>
        </p:spPr>
        <p:txBody>
          <a:bodyPr wrap="square" lIns="0" tIns="0" rIns="0" bIns="0" rtlCol="0" anchor="ctr">
            <a:normAutofit/>
          </a:bodyPr>
          <a:lstStyle/>
          <a:p>
            <a:pPr indent="0" marL="0">
              <a:buNone/>
            </a:pPr>
            <a:r>
              <a:rPr lang="en-US" sz="1000" b="1" dirty="0">
                <a:solidFill>
                  <a:srgbClr val="7C3AED"/>
                </a:solidFill>
                <a:latin typeface="Calibri" pitchFamily="34" charset="0"/>
                <a:ea typeface="Calibri" pitchFamily="34" charset="-122"/>
                <a:cs typeface="Calibri" pitchFamily="34" charset="-120"/>
              </a:rPr>
              <a:t>Update ensemble: </a:t>
            </a:r>
            <a:endParaRPr lang="en-US" sz="1000" dirty="0"/>
          </a:p>
        </p:txBody>
      </p:sp>
      <p:sp>
        <p:nvSpPr>
          <p:cNvPr id="30" name="Text 28"/>
          <p:cNvSpPr/>
          <p:nvPr/>
        </p:nvSpPr>
        <p:spPr>
          <a:xfrm>
            <a:off x="713232" y="3858768"/>
            <a:ext cx="4462272" cy="237744"/>
          </a:xfrm>
          <a:prstGeom prst="rect">
            <a:avLst/>
          </a:prstGeom>
          <a:noFill/>
          <a:ln/>
        </p:spPr>
        <p:txBody>
          <a:bodyPr wrap="square" lIns="0" tIns="0" rIns="0" bIns="0" rtlCol="0" anchor="ctr">
            <a:normAutofit/>
          </a:bodyPr>
          <a:lstStyle/>
          <a:p>
            <a:pPr indent="0" marL="0">
              <a:buNone/>
            </a:pPr>
            <a:r>
              <a:rPr lang="en-US" sz="880" dirty="0">
                <a:solidFill>
                  <a:srgbClr val="1E293B"/>
                </a:solidFill>
                <a:latin typeface="Calibri" pitchFamily="34" charset="0"/>
                <a:ea typeface="Calibri" pitchFamily="34" charset="-122"/>
                <a:cs typeface="Calibri" pitchFamily="34" charset="-120"/>
              </a:rPr>
              <a:t>F(x) = F(x) + learning_rate × tree(x). Learning rate shrinks the contribution of each tree. Small lr = more trees needed = better generalisation.</a:t>
            </a:r>
            <a:endParaRPr lang="en-US" sz="880" dirty="0"/>
          </a:p>
        </p:txBody>
      </p:sp>
      <p:sp>
        <p:nvSpPr>
          <p:cNvPr id="31" name="Shape 29"/>
          <p:cNvSpPr/>
          <p:nvPr/>
        </p:nvSpPr>
        <p:spPr>
          <a:xfrm>
            <a:off x="256032" y="4187952"/>
            <a:ext cx="5029200" cy="512064"/>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0000"/>
              </a:srgbClr>
            </a:outerShdw>
          </a:effectLst>
        </p:spPr>
      </p:sp>
      <p:sp>
        <p:nvSpPr>
          <p:cNvPr id="32" name="Shape 30"/>
          <p:cNvSpPr/>
          <p:nvPr/>
        </p:nvSpPr>
        <p:spPr>
          <a:xfrm>
            <a:off x="256032" y="4187952"/>
            <a:ext cx="384048" cy="512064"/>
          </a:xfrm>
          <a:prstGeom prst="rect">
            <a:avLst/>
          </a:prstGeom>
          <a:solidFill>
            <a:srgbClr val="059669"/>
          </a:solidFill>
          <a:ln w="12700">
            <a:solidFill>
              <a:srgbClr val="059669">
                <a:alpha val="0"/>
              </a:srgbClr>
            </a:solidFill>
            <a:prstDash val="solid"/>
          </a:ln>
        </p:spPr>
      </p:sp>
      <p:sp>
        <p:nvSpPr>
          <p:cNvPr id="33" name="Text 31"/>
          <p:cNvSpPr/>
          <p:nvPr/>
        </p:nvSpPr>
        <p:spPr>
          <a:xfrm>
            <a:off x="256032" y="4187952"/>
            <a:ext cx="384048" cy="512064"/>
          </a:xfrm>
          <a:prstGeom prst="rect">
            <a:avLst/>
          </a:prstGeom>
          <a:noFill/>
          <a:ln/>
        </p:spPr>
        <p:txBody>
          <a:bodyPr wrap="square" lIns="0" tIns="0" rIns="0" bIns="0" rtlCol="0" anchor="ctr">
            <a:normAutofit/>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34" name="Text 32"/>
          <p:cNvSpPr/>
          <p:nvPr/>
        </p:nvSpPr>
        <p:spPr>
          <a:xfrm>
            <a:off x="713232" y="4224528"/>
            <a:ext cx="1463040" cy="201168"/>
          </a:xfrm>
          <a:prstGeom prst="rect">
            <a:avLst/>
          </a:prstGeom>
          <a:noFill/>
          <a:ln/>
        </p:spPr>
        <p:txBody>
          <a:bodyPr wrap="square" lIns="0" tIns="0" rIns="0" bIns="0" rtlCol="0" anchor="ctr">
            <a:normAutofit/>
          </a:bodyPr>
          <a:lstStyle/>
          <a:p>
            <a:pPr indent="0" marL="0">
              <a:buNone/>
            </a:pPr>
            <a:r>
              <a:rPr lang="en-US" sz="1000" b="1" dirty="0">
                <a:solidFill>
                  <a:srgbClr val="059669"/>
                </a:solidFill>
                <a:latin typeface="Calibri" pitchFamily="34" charset="0"/>
                <a:ea typeface="Calibri" pitchFamily="34" charset="-122"/>
                <a:cs typeface="Calibri" pitchFamily="34" charset="-120"/>
              </a:rPr>
              <a:t>Repeat steps 2–4: </a:t>
            </a:r>
            <a:endParaRPr lang="en-US" sz="1000" dirty="0"/>
          </a:p>
        </p:txBody>
      </p:sp>
      <p:sp>
        <p:nvSpPr>
          <p:cNvPr id="35" name="Text 33"/>
          <p:cNvSpPr/>
          <p:nvPr/>
        </p:nvSpPr>
        <p:spPr>
          <a:xfrm>
            <a:off x="713232" y="4425696"/>
            <a:ext cx="4462272" cy="237744"/>
          </a:xfrm>
          <a:prstGeom prst="rect">
            <a:avLst/>
          </a:prstGeom>
          <a:noFill/>
          <a:ln/>
        </p:spPr>
        <p:txBody>
          <a:bodyPr wrap="square" lIns="0" tIns="0" rIns="0" bIns="0" rtlCol="0" anchor="ctr">
            <a:normAutofit/>
          </a:bodyPr>
          <a:lstStyle/>
          <a:p>
            <a:pPr indent="0" marL="0">
              <a:buNone/>
            </a:pPr>
            <a:r>
              <a:rPr lang="en-US" sz="880" dirty="0">
                <a:solidFill>
                  <a:srgbClr val="1E293B"/>
                </a:solidFill>
                <a:latin typeface="Calibri" pitchFamily="34" charset="0"/>
                <a:ea typeface="Calibri" pitchFamily="34" charset="-122"/>
                <a:cs typeface="Calibri" pitchFamily="34" charset="-120"/>
              </a:rPr>
              <a:t>For n_estimators iterations. Each tree corrects what remains. Early stopping: stop when validation loss stops improving to prevent overfit.</a:t>
            </a:r>
            <a:endParaRPr lang="en-US" sz="880" dirty="0"/>
          </a:p>
        </p:txBody>
      </p:sp>
      <p:sp>
        <p:nvSpPr>
          <p:cNvPr id="36" name="Text 34"/>
          <p:cNvSpPr/>
          <p:nvPr/>
        </p:nvSpPr>
        <p:spPr>
          <a:xfrm>
            <a:off x="5468112" y="1645920"/>
            <a:ext cx="3401568" cy="237744"/>
          </a:xfrm>
          <a:prstGeom prst="rect">
            <a:avLst/>
          </a:prstGeom>
          <a:noFill/>
          <a:ln/>
        </p:spPr>
        <p:txBody>
          <a:bodyPr wrap="square" lIns="0" tIns="0" rIns="0" bIns="0" rtlCol="0" anchor="ctr">
            <a:normAutofit/>
          </a:bodyPr>
          <a:lstStyle/>
          <a:p>
            <a:pPr indent="0" marL="0">
              <a:buNone/>
            </a:pPr>
            <a:r>
              <a:rPr lang="en-US" sz="1100" b="1" dirty="0">
                <a:solidFill>
                  <a:srgbClr val="0D1B3E"/>
                </a:solidFill>
                <a:latin typeface="Calibri" pitchFamily="34" charset="0"/>
                <a:ea typeface="Calibri" pitchFamily="34" charset="-122"/>
                <a:cs typeface="Calibri" pitchFamily="34" charset="-120"/>
              </a:rPr>
              <a:t>XGBoost Key Hyperparameters:</a:t>
            </a:r>
            <a:endParaRPr lang="en-US" sz="1100" dirty="0"/>
          </a:p>
        </p:txBody>
      </p:sp>
      <p:sp>
        <p:nvSpPr>
          <p:cNvPr id="37" name="Shape 35"/>
          <p:cNvSpPr/>
          <p:nvPr/>
        </p:nvSpPr>
        <p:spPr>
          <a:xfrm>
            <a:off x="5468112" y="1920240"/>
            <a:ext cx="3401568" cy="347472"/>
          </a:xfrm>
          <a:prstGeom prst="rect">
            <a:avLst/>
          </a:prstGeom>
          <a:solidFill>
            <a:srgbClr val="FFFFFF"/>
          </a:solidFill>
          <a:ln w="6350">
            <a:solidFill>
              <a:srgbClr val="E2E8F0"/>
            </a:solidFill>
            <a:prstDash val="solid"/>
          </a:ln>
        </p:spPr>
      </p:sp>
      <p:sp>
        <p:nvSpPr>
          <p:cNvPr id="38" name="Shape 36"/>
          <p:cNvSpPr/>
          <p:nvPr/>
        </p:nvSpPr>
        <p:spPr>
          <a:xfrm>
            <a:off x="5468112" y="1920240"/>
            <a:ext cx="54864" cy="347472"/>
          </a:xfrm>
          <a:prstGeom prst="rect">
            <a:avLst/>
          </a:prstGeom>
          <a:solidFill>
            <a:srgbClr val="3730A3"/>
          </a:solidFill>
          <a:ln w="12700">
            <a:solidFill>
              <a:srgbClr val="3730A3">
                <a:alpha val="0"/>
              </a:srgbClr>
            </a:solidFill>
            <a:prstDash val="solid"/>
          </a:ln>
        </p:spPr>
      </p:sp>
      <p:sp>
        <p:nvSpPr>
          <p:cNvPr id="39" name="Text 37"/>
          <p:cNvSpPr/>
          <p:nvPr/>
        </p:nvSpPr>
        <p:spPr>
          <a:xfrm>
            <a:off x="5577840" y="1956816"/>
            <a:ext cx="1572768" cy="164592"/>
          </a:xfrm>
          <a:prstGeom prst="rect">
            <a:avLst/>
          </a:prstGeom>
          <a:noFill/>
          <a:ln/>
        </p:spPr>
        <p:txBody>
          <a:bodyPr wrap="square" lIns="0" tIns="0" rIns="0" bIns="0" rtlCol="0" anchor="ctr">
            <a:normAutofit/>
          </a:bodyPr>
          <a:lstStyle/>
          <a:p>
            <a:pPr indent="0" marL="0">
              <a:buNone/>
            </a:pPr>
            <a:r>
              <a:rPr lang="en-US" sz="880" b="1" dirty="0">
                <a:solidFill>
                  <a:srgbClr val="3730A3"/>
                </a:solidFill>
                <a:latin typeface="Courier New" pitchFamily="34" charset="0"/>
                <a:ea typeface="Courier New" pitchFamily="34" charset="-122"/>
                <a:cs typeface="Courier New" pitchFamily="34" charset="-120"/>
              </a:rPr>
              <a:t>n_estimators</a:t>
            </a:r>
            <a:endParaRPr lang="en-US" sz="880" dirty="0"/>
          </a:p>
        </p:txBody>
      </p:sp>
      <p:sp>
        <p:nvSpPr>
          <p:cNvPr id="40" name="Text 38"/>
          <p:cNvSpPr/>
          <p:nvPr/>
        </p:nvSpPr>
        <p:spPr>
          <a:xfrm>
            <a:off x="7187184" y="1956816"/>
            <a:ext cx="1609344" cy="164592"/>
          </a:xfrm>
          <a:prstGeom prst="rect">
            <a:avLst/>
          </a:prstGeom>
          <a:noFill/>
          <a:ln/>
        </p:spPr>
        <p:txBody>
          <a:bodyPr wrap="square" lIns="0" tIns="0" rIns="0" bIns="0" rtlCol="0" anchor="ctr">
            <a:normAutofit/>
          </a:bodyPr>
          <a:lstStyle/>
          <a:p>
            <a:pPr indent="0" marL="0">
              <a:buNone/>
            </a:pPr>
            <a:r>
              <a:rPr lang="en-US" sz="850" dirty="0">
                <a:solidFill>
                  <a:srgbClr val="64748B"/>
                </a:solidFill>
                <a:latin typeface="Calibri" pitchFamily="34" charset="0"/>
                <a:ea typeface="Calibri" pitchFamily="34" charset="-122"/>
                <a:cs typeface="Calibri" pitchFamily="34" charset="-120"/>
              </a:rPr>
              <a:t>100–1000</a:t>
            </a:r>
            <a:endParaRPr lang="en-US" sz="850" dirty="0"/>
          </a:p>
        </p:txBody>
      </p:sp>
      <p:sp>
        <p:nvSpPr>
          <p:cNvPr id="41" name="Text 39"/>
          <p:cNvSpPr/>
          <p:nvPr/>
        </p:nvSpPr>
        <p:spPr>
          <a:xfrm>
            <a:off x="5577840" y="2121408"/>
            <a:ext cx="3218688" cy="128016"/>
          </a:xfrm>
          <a:prstGeom prst="rect">
            <a:avLst/>
          </a:prstGeom>
          <a:noFill/>
          <a:ln/>
        </p:spPr>
        <p:txBody>
          <a:bodyPr wrap="square" lIns="0" tIns="0" rIns="0" bIns="0" rtlCol="0" anchor="ctr">
            <a:normAutofit/>
          </a:bodyPr>
          <a:lstStyle/>
          <a:p>
            <a:pPr indent="0" marL="0">
              <a:buNone/>
            </a:pPr>
            <a:r>
              <a:rPr lang="en-US" sz="820" dirty="0">
                <a:solidFill>
                  <a:srgbClr val="1E293B"/>
                </a:solidFill>
                <a:latin typeface="Calibri" pitchFamily="34" charset="0"/>
                <a:ea typeface="Calibri" pitchFamily="34" charset="-122"/>
                <a:cs typeface="Calibri" pitchFamily="34" charset="-120"/>
              </a:rPr>
              <a:t>Number of boosting rounds. More = better (with early stopping).</a:t>
            </a:r>
            <a:endParaRPr lang="en-US" sz="820" dirty="0"/>
          </a:p>
        </p:txBody>
      </p:sp>
      <p:sp>
        <p:nvSpPr>
          <p:cNvPr id="42" name="Shape 40"/>
          <p:cNvSpPr/>
          <p:nvPr/>
        </p:nvSpPr>
        <p:spPr>
          <a:xfrm>
            <a:off x="5468112" y="2304288"/>
            <a:ext cx="3401568" cy="347472"/>
          </a:xfrm>
          <a:prstGeom prst="rect">
            <a:avLst/>
          </a:prstGeom>
          <a:solidFill>
            <a:srgbClr val="FFFFFF"/>
          </a:solidFill>
          <a:ln w="6350">
            <a:solidFill>
              <a:srgbClr val="E2E8F0"/>
            </a:solidFill>
            <a:prstDash val="solid"/>
          </a:ln>
        </p:spPr>
      </p:sp>
      <p:sp>
        <p:nvSpPr>
          <p:cNvPr id="43" name="Shape 41"/>
          <p:cNvSpPr/>
          <p:nvPr/>
        </p:nvSpPr>
        <p:spPr>
          <a:xfrm>
            <a:off x="5468112" y="2304288"/>
            <a:ext cx="54864" cy="347472"/>
          </a:xfrm>
          <a:prstGeom prst="rect">
            <a:avLst/>
          </a:prstGeom>
          <a:solidFill>
            <a:srgbClr val="3730A3"/>
          </a:solidFill>
          <a:ln w="12700">
            <a:solidFill>
              <a:srgbClr val="3730A3">
                <a:alpha val="0"/>
              </a:srgbClr>
            </a:solidFill>
            <a:prstDash val="solid"/>
          </a:ln>
        </p:spPr>
      </p:sp>
      <p:sp>
        <p:nvSpPr>
          <p:cNvPr id="44" name="Text 42"/>
          <p:cNvSpPr/>
          <p:nvPr/>
        </p:nvSpPr>
        <p:spPr>
          <a:xfrm>
            <a:off x="5577840" y="2340864"/>
            <a:ext cx="1572768" cy="164592"/>
          </a:xfrm>
          <a:prstGeom prst="rect">
            <a:avLst/>
          </a:prstGeom>
          <a:noFill/>
          <a:ln/>
        </p:spPr>
        <p:txBody>
          <a:bodyPr wrap="square" lIns="0" tIns="0" rIns="0" bIns="0" rtlCol="0" anchor="ctr">
            <a:normAutofit/>
          </a:bodyPr>
          <a:lstStyle/>
          <a:p>
            <a:pPr indent="0" marL="0">
              <a:buNone/>
            </a:pPr>
            <a:r>
              <a:rPr lang="en-US" sz="880" b="1" dirty="0">
                <a:solidFill>
                  <a:srgbClr val="3730A3"/>
                </a:solidFill>
                <a:latin typeface="Courier New" pitchFamily="34" charset="0"/>
                <a:ea typeface="Courier New" pitchFamily="34" charset="-122"/>
                <a:cs typeface="Courier New" pitchFamily="34" charset="-120"/>
              </a:rPr>
              <a:t>learning_rate</a:t>
            </a:r>
            <a:endParaRPr lang="en-US" sz="880" dirty="0"/>
          </a:p>
        </p:txBody>
      </p:sp>
      <p:sp>
        <p:nvSpPr>
          <p:cNvPr id="45" name="Text 43"/>
          <p:cNvSpPr/>
          <p:nvPr/>
        </p:nvSpPr>
        <p:spPr>
          <a:xfrm>
            <a:off x="7187184" y="2340864"/>
            <a:ext cx="1609344" cy="164592"/>
          </a:xfrm>
          <a:prstGeom prst="rect">
            <a:avLst/>
          </a:prstGeom>
          <a:noFill/>
          <a:ln/>
        </p:spPr>
        <p:txBody>
          <a:bodyPr wrap="square" lIns="0" tIns="0" rIns="0" bIns="0" rtlCol="0" anchor="ctr">
            <a:normAutofit/>
          </a:bodyPr>
          <a:lstStyle/>
          <a:p>
            <a:pPr indent="0" marL="0">
              <a:buNone/>
            </a:pPr>
            <a:r>
              <a:rPr lang="en-US" sz="850" dirty="0">
                <a:solidFill>
                  <a:srgbClr val="64748B"/>
                </a:solidFill>
                <a:latin typeface="Calibri" pitchFamily="34" charset="0"/>
                <a:ea typeface="Calibri" pitchFamily="34" charset="-122"/>
                <a:cs typeface="Calibri" pitchFamily="34" charset="-120"/>
              </a:rPr>
              <a:t>0.05–0.3</a:t>
            </a:r>
            <a:endParaRPr lang="en-US" sz="850" dirty="0"/>
          </a:p>
        </p:txBody>
      </p:sp>
      <p:sp>
        <p:nvSpPr>
          <p:cNvPr id="46" name="Text 44"/>
          <p:cNvSpPr/>
          <p:nvPr/>
        </p:nvSpPr>
        <p:spPr>
          <a:xfrm>
            <a:off x="5577840" y="2505456"/>
            <a:ext cx="3218688" cy="128016"/>
          </a:xfrm>
          <a:prstGeom prst="rect">
            <a:avLst/>
          </a:prstGeom>
          <a:noFill/>
          <a:ln/>
        </p:spPr>
        <p:txBody>
          <a:bodyPr wrap="square" lIns="0" tIns="0" rIns="0" bIns="0" rtlCol="0" anchor="ctr">
            <a:normAutofit/>
          </a:bodyPr>
          <a:lstStyle/>
          <a:p>
            <a:pPr indent="0" marL="0">
              <a:buNone/>
            </a:pPr>
            <a:r>
              <a:rPr lang="en-US" sz="820" dirty="0">
                <a:solidFill>
                  <a:srgbClr val="1E293B"/>
                </a:solidFill>
                <a:latin typeface="Calibri" pitchFamily="34" charset="0"/>
                <a:ea typeface="Calibri" pitchFamily="34" charset="-122"/>
                <a:cs typeface="Calibri" pitchFamily="34" charset="-120"/>
              </a:rPr>
              <a:t>Step size. Smaller = more rounds needed = better generalisation.</a:t>
            </a:r>
            <a:endParaRPr lang="en-US" sz="820" dirty="0"/>
          </a:p>
        </p:txBody>
      </p:sp>
      <p:sp>
        <p:nvSpPr>
          <p:cNvPr id="47" name="Shape 45"/>
          <p:cNvSpPr/>
          <p:nvPr/>
        </p:nvSpPr>
        <p:spPr>
          <a:xfrm>
            <a:off x="5468112" y="2688336"/>
            <a:ext cx="3401568" cy="347472"/>
          </a:xfrm>
          <a:prstGeom prst="rect">
            <a:avLst/>
          </a:prstGeom>
          <a:solidFill>
            <a:srgbClr val="FFFFFF"/>
          </a:solidFill>
          <a:ln w="6350">
            <a:solidFill>
              <a:srgbClr val="E2E8F0"/>
            </a:solidFill>
            <a:prstDash val="solid"/>
          </a:ln>
        </p:spPr>
      </p:sp>
      <p:sp>
        <p:nvSpPr>
          <p:cNvPr id="48" name="Shape 46"/>
          <p:cNvSpPr/>
          <p:nvPr/>
        </p:nvSpPr>
        <p:spPr>
          <a:xfrm>
            <a:off x="5468112" y="2688336"/>
            <a:ext cx="54864" cy="347472"/>
          </a:xfrm>
          <a:prstGeom prst="rect">
            <a:avLst/>
          </a:prstGeom>
          <a:solidFill>
            <a:srgbClr val="3730A3"/>
          </a:solidFill>
          <a:ln w="12700">
            <a:solidFill>
              <a:srgbClr val="3730A3">
                <a:alpha val="0"/>
              </a:srgbClr>
            </a:solidFill>
            <a:prstDash val="solid"/>
          </a:ln>
        </p:spPr>
      </p:sp>
      <p:sp>
        <p:nvSpPr>
          <p:cNvPr id="49" name="Text 47"/>
          <p:cNvSpPr/>
          <p:nvPr/>
        </p:nvSpPr>
        <p:spPr>
          <a:xfrm>
            <a:off x="5577840" y="2724912"/>
            <a:ext cx="1572768" cy="164592"/>
          </a:xfrm>
          <a:prstGeom prst="rect">
            <a:avLst/>
          </a:prstGeom>
          <a:noFill/>
          <a:ln/>
        </p:spPr>
        <p:txBody>
          <a:bodyPr wrap="square" lIns="0" tIns="0" rIns="0" bIns="0" rtlCol="0" anchor="ctr">
            <a:normAutofit/>
          </a:bodyPr>
          <a:lstStyle/>
          <a:p>
            <a:pPr indent="0" marL="0">
              <a:buNone/>
            </a:pPr>
            <a:r>
              <a:rPr lang="en-US" sz="880" b="1" dirty="0">
                <a:solidFill>
                  <a:srgbClr val="3730A3"/>
                </a:solidFill>
                <a:latin typeface="Courier New" pitchFamily="34" charset="0"/>
                <a:ea typeface="Courier New" pitchFamily="34" charset="-122"/>
                <a:cs typeface="Courier New" pitchFamily="34" charset="-120"/>
              </a:rPr>
              <a:t>max_depth</a:t>
            </a:r>
            <a:endParaRPr lang="en-US" sz="880" dirty="0"/>
          </a:p>
        </p:txBody>
      </p:sp>
      <p:sp>
        <p:nvSpPr>
          <p:cNvPr id="50" name="Text 48"/>
          <p:cNvSpPr/>
          <p:nvPr/>
        </p:nvSpPr>
        <p:spPr>
          <a:xfrm>
            <a:off x="7187184" y="2724912"/>
            <a:ext cx="1609344" cy="164592"/>
          </a:xfrm>
          <a:prstGeom prst="rect">
            <a:avLst/>
          </a:prstGeom>
          <a:noFill/>
          <a:ln/>
        </p:spPr>
        <p:txBody>
          <a:bodyPr wrap="square" lIns="0" tIns="0" rIns="0" bIns="0" rtlCol="0" anchor="ctr">
            <a:normAutofit/>
          </a:bodyPr>
          <a:lstStyle/>
          <a:p>
            <a:pPr indent="0" marL="0">
              <a:buNone/>
            </a:pPr>
            <a:r>
              <a:rPr lang="en-US" sz="850" dirty="0">
                <a:solidFill>
                  <a:srgbClr val="64748B"/>
                </a:solidFill>
                <a:latin typeface="Calibri" pitchFamily="34" charset="0"/>
                <a:ea typeface="Calibri" pitchFamily="34" charset="-122"/>
                <a:cs typeface="Calibri" pitchFamily="34" charset="-120"/>
              </a:rPr>
              <a:t>3–6</a:t>
            </a:r>
            <a:endParaRPr lang="en-US" sz="850" dirty="0"/>
          </a:p>
        </p:txBody>
      </p:sp>
      <p:sp>
        <p:nvSpPr>
          <p:cNvPr id="51" name="Text 49"/>
          <p:cNvSpPr/>
          <p:nvPr/>
        </p:nvSpPr>
        <p:spPr>
          <a:xfrm>
            <a:off x="5577840" y="2889504"/>
            <a:ext cx="3218688" cy="128016"/>
          </a:xfrm>
          <a:prstGeom prst="rect">
            <a:avLst/>
          </a:prstGeom>
          <a:noFill/>
          <a:ln/>
        </p:spPr>
        <p:txBody>
          <a:bodyPr wrap="square" lIns="0" tIns="0" rIns="0" bIns="0" rtlCol="0" anchor="ctr">
            <a:normAutofit/>
          </a:bodyPr>
          <a:lstStyle/>
          <a:p>
            <a:pPr indent="0" marL="0">
              <a:buNone/>
            </a:pPr>
            <a:r>
              <a:rPr lang="en-US" sz="820" dirty="0">
                <a:solidFill>
                  <a:srgbClr val="1E293B"/>
                </a:solidFill>
                <a:latin typeface="Calibri" pitchFamily="34" charset="0"/>
                <a:ea typeface="Calibri" pitchFamily="34" charset="-122"/>
                <a:cs typeface="Calibri" pitchFamily="34" charset="-120"/>
              </a:rPr>
              <a:t>Depth of each tree. Shallow trees are the base learner. 6 is usually too deep.</a:t>
            </a:r>
            <a:endParaRPr lang="en-US" sz="820" dirty="0"/>
          </a:p>
        </p:txBody>
      </p:sp>
      <p:sp>
        <p:nvSpPr>
          <p:cNvPr id="52" name="Shape 50"/>
          <p:cNvSpPr/>
          <p:nvPr/>
        </p:nvSpPr>
        <p:spPr>
          <a:xfrm>
            <a:off x="5468112" y="3072384"/>
            <a:ext cx="3401568" cy="347472"/>
          </a:xfrm>
          <a:prstGeom prst="rect">
            <a:avLst/>
          </a:prstGeom>
          <a:solidFill>
            <a:srgbClr val="FFFFFF"/>
          </a:solidFill>
          <a:ln w="6350">
            <a:solidFill>
              <a:srgbClr val="E2E8F0"/>
            </a:solidFill>
            <a:prstDash val="solid"/>
          </a:ln>
        </p:spPr>
      </p:sp>
      <p:sp>
        <p:nvSpPr>
          <p:cNvPr id="53" name="Shape 51"/>
          <p:cNvSpPr/>
          <p:nvPr/>
        </p:nvSpPr>
        <p:spPr>
          <a:xfrm>
            <a:off x="5468112" y="3072384"/>
            <a:ext cx="54864" cy="347472"/>
          </a:xfrm>
          <a:prstGeom prst="rect">
            <a:avLst/>
          </a:prstGeom>
          <a:solidFill>
            <a:srgbClr val="3730A3"/>
          </a:solidFill>
          <a:ln w="12700">
            <a:solidFill>
              <a:srgbClr val="3730A3">
                <a:alpha val="0"/>
              </a:srgbClr>
            </a:solidFill>
            <a:prstDash val="solid"/>
          </a:ln>
        </p:spPr>
      </p:sp>
      <p:sp>
        <p:nvSpPr>
          <p:cNvPr id="54" name="Text 52"/>
          <p:cNvSpPr/>
          <p:nvPr/>
        </p:nvSpPr>
        <p:spPr>
          <a:xfrm>
            <a:off x="5577840" y="3108960"/>
            <a:ext cx="1572768" cy="164592"/>
          </a:xfrm>
          <a:prstGeom prst="rect">
            <a:avLst/>
          </a:prstGeom>
          <a:noFill/>
          <a:ln/>
        </p:spPr>
        <p:txBody>
          <a:bodyPr wrap="square" lIns="0" tIns="0" rIns="0" bIns="0" rtlCol="0" anchor="ctr">
            <a:normAutofit/>
          </a:bodyPr>
          <a:lstStyle/>
          <a:p>
            <a:pPr indent="0" marL="0">
              <a:buNone/>
            </a:pPr>
            <a:r>
              <a:rPr lang="en-US" sz="880" b="1" dirty="0">
                <a:solidFill>
                  <a:srgbClr val="3730A3"/>
                </a:solidFill>
                <a:latin typeface="Courier New" pitchFamily="34" charset="0"/>
                <a:ea typeface="Courier New" pitchFamily="34" charset="-122"/>
                <a:cs typeface="Courier New" pitchFamily="34" charset="-120"/>
              </a:rPr>
              <a:t>subsample</a:t>
            </a:r>
            <a:endParaRPr lang="en-US" sz="880" dirty="0"/>
          </a:p>
        </p:txBody>
      </p:sp>
      <p:sp>
        <p:nvSpPr>
          <p:cNvPr id="55" name="Text 53"/>
          <p:cNvSpPr/>
          <p:nvPr/>
        </p:nvSpPr>
        <p:spPr>
          <a:xfrm>
            <a:off x="7187184" y="3108960"/>
            <a:ext cx="1609344" cy="164592"/>
          </a:xfrm>
          <a:prstGeom prst="rect">
            <a:avLst/>
          </a:prstGeom>
          <a:noFill/>
          <a:ln/>
        </p:spPr>
        <p:txBody>
          <a:bodyPr wrap="square" lIns="0" tIns="0" rIns="0" bIns="0" rtlCol="0" anchor="ctr">
            <a:normAutofit/>
          </a:bodyPr>
          <a:lstStyle/>
          <a:p>
            <a:pPr indent="0" marL="0">
              <a:buNone/>
            </a:pPr>
            <a:r>
              <a:rPr lang="en-US" sz="850" dirty="0">
                <a:solidFill>
                  <a:srgbClr val="64748B"/>
                </a:solidFill>
                <a:latin typeface="Calibri" pitchFamily="34" charset="0"/>
                <a:ea typeface="Calibri" pitchFamily="34" charset="-122"/>
                <a:cs typeface="Calibri" pitchFamily="34" charset="-120"/>
              </a:rPr>
              <a:t>0.7–0.9</a:t>
            </a:r>
            <a:endParaRPr lang="en-US" sz="850" dirty="0"/>
          </a:p>
        </p:txBody>
      </p:sp>
      <p:sp>
        <p:nvSpPr>
          <p:cNvPr id="56" name="Text 54"/>
          <p:cNvSpPr/>
          <p:nvPr/>
        </p:nvSpPr>
        <p:spPr>
          <a:xfrm>
            <a:off x="5577840" y="3273552"/>
            <a:ext cx="3218688" cy="128016"/>
          </a:xfrm>
          <a:prstGeom prst="rect">
            <a:avLst/>
          </a:prstGeom>
          <a:noFill/>
          <a:ln/>
        </p:spPr>
        <p:txBody>
          <a:bodyPr wrap="square" lIns="0" tIns="0" rIns="0" bIns="0" rtlCol="0" anchor="ctr">
            <a:normAutofit/>
          </a:bodyPr>
          <a:lstStyle/>
          <a:p>
            <a:pPr indent="0" marL="0">
              <a:buNone/>
            </a:pPr>
            <a:r>
              <a:rPr lang="en-US" sz="820" dirty="0">
                <a:solidFill>
                  <a:srgbClr val="1E293B"/>
                </a:solidFill>
                <a:latin typeface="Calibri" pitchFamily="34" charset="0"/>
                <a:ea typeface="Calibri" pitchFamily="34" charset="-122"/>
                <a:cs typeface="Calibri" pitchFamily="34" charset="-120"/>
              </a:rPr>
              <a:t>Row sampling per tree (like RF bootstrap). Adds randomness, reduces overfit.</a:t>
            </a:r>
            <a:endParaRPr lang="en-US" sz="820" dirty="0"/>
          </a:p>
        </p:txBody>
      </p:sp>
      <p:sp>
        <p:nvSpPr>
          <p:cNvPr id="57" name="Shape 55"/>
          <p:cNvSpPr/>
          <p:nvPr/>
        </p:nvSpPr>
        <p:spPr>
          <a:xfrm>
            <a:off x="5468112" y="3456432"/>
            <a:ext cx="3401568" cy="347472"/>
          </a:xfrm>
          <a:prstGeom prst="rect">
            <a:avLst/>
          </a:prstGeom>
          <a:solidFill>
            <a:srgbClr val="FFFFFF"/>
          </a:solidFill>
          <a:ln w="6350">
            <a:solidFill>
              <a:srgbClr val="E2E8F0"/>
            </a:solidFill>
            <a:prstDash val="solid"/>
          </a:ln>
        </p:spPr>
      </p:sp>
      <p:sp>
        <p:nvSpPr>
          <p:cNvPr id="58" name="Shape 56"/>
          <p:cNvSpPr/>
          <p:nvPr/>
        </p:nvSpPr>
        <p:spPr>
          <a:xfrm>
            <a:off x="5468112" y="3456432"/>
            <a:ext cx="54864" cy="347472"/>
          </a:xfrm>
          <a:prstGeom prst="rect">
            <a:avLst/>
          </a:prstGeom>
          <a:solidFill>
            <a:srgbClr val="3730A3"/>
          </a:solidFill>
          <a:ln w="12700">
            <a:solidFill>
              <a:srgbClr val="3730A3">
                <a:alpha val="0"/>
              </a:srgbClr>
            </a:solidFill>
            <a:prstDash val="solid"/>
          </a:ln>
        </p:spPr>
      </p:sp>
      <p:sp>
        <p:nvSpPr>
          <p:cNvPr id="59" name="Text 57"/>
          <p:cNvSpPr/>
          <p:nvPr/>
        </p:nvSpPr>
        <p:spPr>
          <a:xfrm>
            <a:off x="5577840" y="3493008"/>
            <a:ext cx="1572768" cy="164592"/>
          </a:xfrm>
          <a:prstGeom prst="rect">
            <a:avLst/>
          </a:prstGeom>
          <a:noFill/>
          <a:ln/>
        </p:spPr>
        <p:txBody>
          <a:bodyPr wrap="square" lIns="0" tIns="0" rIns="0" bIns="0" rtlCol="0" anchor="ctr">
            <a:normAutofit/>
          </a:bodyPr>
          <a:lstStyle/>
          <a:p>
            <a:pPr indent="0" marL="0">
              <a:buNone/>
            </a:pPr>
            <a:r>
              <a:rPr lang="en-US" sz="880" b="1" dirty="0">
                <a:solidFill>
                  <a:srgbClr val="3730A3"/>
                </a:solidFill>
                <a:latin typeface="Courier New" pitchFamily="34" charset="0"/>
                <a:ea typeface="Courier New" pitchFamily="34" charset="-122"/>
                <a:cs typeface="Courier New" pitchFamily="34" charset="-120"/>
              </a:rPr>
              <a:t>colsample_bytree</a:t>
            </a:r>
            <a:endParaRPr lang="en-US" sz="880" dirty="0"/>
          </a:p>
        </p:txBody>
      </p:sp>
      <p:sp>
        <p:nvSpPr>
          <p:cNvPr id="60" name="Text 58"/>
          <p:cNvSpPr/>
          <p:nvPr/>
        </p:nvSpPr>
        <p:spPr>
          <a:xfrm>
            <a:off x="7187184" y="3493008"/>
            <a:ext cx="1609344" cy="164592"/>
          </a:xfrm>
          <a:prstGeom prst="rect">
            <a:avLst/>
          </a:prstGeom>
          <a:noFill/>
          <a:ln/>
        </p:spPr>
        <p:txBody>
          <a:bodyPr wrap="square" lIns="0" tIns="0" rIns="0" bIns="0" rtlCol="0" anchor="ctr">
            <a:normAutofit/>
          </a:bodyPr>
          <a:lstStyle/>
          <a:p>
            <a:pPr indent="0" marL="0">
              <a:buNone/>
            </a:pPr>
            <a:r>
              <a:rPr lang="en-US" sz="850" dirty="0">
                <a:solidFill>
                  <a:srgbClr val="64748B"/>
                </a:solidFill>
                <a:latin typeface="Calibri" pitchFamily="34" charset="0"/>
                <a:ea typeface="Calibri" pitchFamily="34" charset="-122"/>
                <a:cs typeface="Calibri" pitchFamily="34" charset="-120"/>
              </a:rPr>
              <a:t>0.7–0.9</a:t>
            </a:r>
            <a:endParaRPr lang="en-US" sz="850" dirty="0"/>
          </a:p>
        </p:txBody>
      </p:sp>
      <p:sp>
        <p:nvSpPr>
          <p:cNvPr id="61" name="Text 59"/>
          <p:cNvSpPr/>
          <p:nvPr/>
        </p:nvSpPr>
        <p:spPr>
          <a:xfrm>
            <a:off x="5577840" y="3657600"/>
            <a:ext cx="3218688" cy="128016"/>
          </a:xfrm>
          <a:prstGeom prst="rect">
            <a:avLst/>
          </a:prstGeom>
          <a:noFill/>
          <a:ln/>
        </p:spPr>
        <p:txBody>
          <a:bodyPr wrap="square" lIns="0" tIns="0" rIns="0" bIns="0" rtlCol="0" anchor="ctr">
            <a:normAutofit/>
          </a:bodyPr>
          <a:lstStyle/>
          <a:p>
            <a:pPr indent="0" marL="0">
              <a:buNone/>
            </a:pPr>
            <a:r>
              <a:rPr lang="en-US" sz="820" dirty="0">
                <a:solidFill>
                  <a:srgbClr val="1E293B"/>
                </a:solidFill>
                <a:latin typeface="Calibri" pitchFamily="34" charset="0"/>
                <a:ea typeface="Calibri" pitchFamily="34" charset="-122"/>
                <a:cs typeface="Calibri" pitchFamily="34" charset="-120"/>
              </a:rPr>
              <a:t>Feature sampling per tree. Like RF max_features — decorrelates trees.</a:t>
            </a:r>
            <a:endParaRPr lang="en-US" sz="820" dirty="0"/>
          </a:p>
        </p:txBody>
      </p:sp>
      <p:sp>
        <p:nvSpPr>
          <p:cNvPr id="62" name="Shape 60"/>
          <p:cNvSpPr/>
          <p:nvPr/>
        </p:nvSpPr>
        <p:spPr>
          <a:xfrm>
            <a:off x="5468112" y="3840480"/>
            <a:ext cx="3401568" cy="347472"/>
          </a:xfrm>
          <a:prstGeom prst="rect">
            <a:avLst/>
          </a:prstGeom>
          <a:solidFill>
            <a:srgbClr val="FFFFFF"/>
          </a:solidFill>
          <a:ln w="6350">
            <a:solidFill>
              <a:srgbClr val="E2E8F0"/>
            </a:solidFill>
            <a:prstDash val="solid"/>
          </a:ln>
        </p:spPr>
      </p:sp>
      <p:sp>
        <p:nvSpPr>
          <p:cNvPr id="63" name="Shape 61"/>
          <p:cNvSpPr/>
          <p:nvPr/>
        </p:nvSpPr>
        <p:spPr>
          <a:xfrm>
            <a:off x="5468112" y="3840480"/>
            <a:ext cx="54864" cy="347472"/>
          </a:xfrm>
          <a:prstGeom prst="rect">
            <a:avLst/>
          </a:prstGeom>
          <a:solidFill>
            <a:srgbClr val="3730A3"/>
          </a:solidFill>
          <a:ln w="12700">
            <a:solidFill>
              <a:srgbClr val="3730A3">
                <a:alpha val="0"/>
              </a:srgbClr>
            </a:solidFill>
            <a:prstDash val="solid"/>
          </a:ln>
        </p:spPr>
      </p:sp>
      <p:sp>
        <p:nvSpPr>
          <p:cNvPr id="64" name="Text 62"/>
          <p:cNvSpPr/>
          <p:nvPr/>
        </p:nvSpPr>
        <p:spPr>
          <a:xfrm>
            <a:off x="5577840" y="3877056"/>
            <a:ext cx="1572768" cy="164592"/>
          </a:xfrm>
          <a:prstGeom prst="rect">
            <a:avLst/>
          </a:prstGeom>
          <a:noFill/>
          <a:ln/>
        </p:spPr>
        <p:txBody>
          <a:bodyPr wrap="square" lIns="0" tIns="0" rIns="0" bIns="0" rtlCol="0" anchor="ctr">
            <a:normAutofit/>
          </a:bodyPr>
          <a:lstStyle/>
          <a:p>
            <a:pPr indent="0" marL="0">
              <a:buNone/>
            </a:pPr>
            <a:r>
              <a:rPr lang="en-US" sz="880" b="1" dirty="0">
                <a:solidFill>
                  <a:srgbClr val="3730A3"/>
                </a:solidFill>
                <a:latin typeface="Courier New" pitchFamily="34" charset="0"/>
                <a:ea typeface="Courier New" pitchFamily="34" charset="-122"/>
                <a:cs typeface="Courier New" pitchFamily="34" charset="-120"/>
              </a:rPr>
              <a:t>reg_alpha/lambda</a:t>
            </a:r>
            <a:endParaRPr lang="en-US" sz="880" dirty="0"/>
          </a:p>
        </p:txBody>
      </p:sp>
      <p:sp>
        <p:nvSpPr>
          <p:cNvPr id="65" name="Text 63"/>
          <p:cNvSpPr/>
          <p:nvPr/>
        </p:nvSpPr>
        <p:spPr>
          <a:xfrm>
            <a:off x="7187184" y="3877056"/>
            <a:ext cx="1609344" cy="164592"/>
          </a:xfrm>
          <a:prstGeom prst="rect">
            <a:avLst/>
          </a:prstGeom>
          <a:noFill/>
          <a:ln/>
        </p:spPr>
        <p:txBody>
          <a:bodyPr wrap="square" lIns="0" tIns="0" rIns="0" bIns="0" rtlCol="0" anchor="ctr">
            <a:normAutofit/>
          </a:bodyPr>
          <a:lstStyle/>
          <a:p>
            <a:pPr indent="0" marL="0">
              <a:buNone/>
            </a:pPr>
            <a:r>
              <a:rPr lang="en-US" sz="850" dirty="0">
                <a:solidFill>
                  <a:srgbClr val="64748B"/>
                </a:solidFill>
                <a:latin typeface="Calibri" pitchFamily="34" charset="0"/>
                <a:ea typeface="Calibri" pitchFamily="34" charset="-122"/>
                <a:cs typeface="Calibri" pitchFamily="34" charset="-120"/>
              </a:rPr>
              <a:t>0–1</a:t>
            </a:r>
            <a:endParaRPr lang="en-US" sz="850" dirty="0"/>
          </a:p>
        </p:txBody>
      </p:sp>
      <p:sp>
        <p:nvSpPr>
          <p:cNvPr id="66" name="Text 64"/>
          <p:cNvSpPr/>
          <p:nvPr/>
        </p:nvSpPr>
        <p:spPr>
          <a:xfrm>
            <a:off x="5577840" y="4041648"/>
            <a:ext cx="3218688" cy="128016"/>
          </a:xfrm>
          <a:prstGeom prst="rect">
            <a:avLst/>
          </a:prstGeom>
          <a:noFill/>
          <a:ln/>
        </p:spPr>
        <p:txBody>
          <a:bodyPr wrap="square" lIns="0" tIns="0" rIns="0" bIns="0" rtlCol="0" anchor="ctr">
            <a:normAutofit/>
          </a:bodyPr>
          <a:lstStyle/>
          <a:p>
            <a:pPr indent="0" marL="0">
              <a:buNone/>
            </a:pPr>
            <a:r>
              <a:rPr lang="en-US" sz="820" dirty="0">
                <a:solidFill>
                  <a:srgbClr val="1E293B"/>
                </a:solidFill>
                <a:latin typeface="Calibri" pitchFamily="34" charset="0"/>
                <a:ea typeface="Calibri" pitchFamily="34" charset="-122"/>
                <a:cs typeface="Calibri" pitchFamily="34" charset="-120"/>
              </a:rPr>
              <a:t>L1/L2 regularisation. Higher = simpler model, fewer leaves.</a:t>
            </a:r>
            <a:endParaRPr lang="en-US" sz="820" dirty="0"/>
          </a:p>
        </p:txBody>
      </p:sp>
      <p:sp>
        <p:nvSpPr>
          <p:cNvPr id="67" name="Shape 65"/>
          <p:cNvSpPr/>
          <p:nvPr/>
        </p:nvSpPr>
        <p:spPr>
          <a:xfrm>
            <a:off x="5468112" y="4224528"/>
            <a:ext cx="3401568" cy="347472"/>
          </a:xfrm>
          <a:prstGeom prst="rect">
            <a:avLst/>
          </a:prstGeom>
          <a:solidFill>
            <a:srgbClr val="FFFFFF"/>
          </a:solidFill>
          <a:ln w="6350">
            <a:solidFill>
              <a:srgbClr val="E2E8F0"/>
            </a:solidFill>
            <a:prstDash val="solid"/>
          </a:ln>
        </p:spPr>
      </p:sp>
      <p:sp>
        <p:nvSpPr>
          <p:cNvPr id="68" name="Shape 66"/>
          <p:cNvSpPr/>
          <p:nvPr/>
        </p:nvSpPr>
        <p:spPr>
          <a:xfrm>
            <a:off x="5468112" y="4224528"/>
            <a:ext cx="54864" cy="347472"/>
          </a:xfrm>
          <a:prstGeom prst="rect">
            <a:avLst/>
          </a:prstGeom>
          <a:solidFill>
            <a:srgbClr val="3730A3"/>
          </a:solidFill>
          <a:ln w="12700">
            <a:solidFill>
              <a:srgbClr val="3730A3">
                <a:alpha val="0"/>
              </a:srgbClr>
            </a:solidFill>
            <a:prstDash val="solid"/>
          </a:ln>
        </p:spPr>
      </p:sp>
      <p:sp>
        <p:nvSpPr>
          <p:cNvPr id="69" name="Text 67"/>
          <p:cNvSpPr/>
          <p:nvPr/>
        </p:nvSpPr>
        <p:spPr>
          <a:xfrm>
            <a:off x="5577840" y="4261104"/>
            <a:ext cx="1572768" cy="164592"/>
          </a:xfrm>
          <a:prstGeom prst="rect">
            <a:avLst/>
          </a:prstGeom>
          <a:noFill/>
          <a:ln/>
        </p:spPr>
        <p:txBody>
          <a:bodyPr wrap="square" lIns="0" tIns="0" rIns="0" bIns="0" rtlCol="0" anchor="ctr">
            <a:normAutofit/>
          </a:bodyPr>
          <a:lstStyle/>
          <a:p>
            <a:pPr indent="0" marL="0">
              <a:buNone/>
            </a:pPr>
            <a:r>
              <a:rPr lang="en-US" sz="880" b="1" dirty="0">
                <a:solidFill>
                  <a:srgbClr val="3730A3"/>
                </a:solidFill>
                <a:latin typeface="Courier New" pitchFamily="34" charset="0"/>
                <a:ea typeface="Courier New" pitchFamily="34" charset="-122"/>
                <a:cs typeface="Courier New" pitchFamily="34" charset="-120"/>
              </a:rPr>
              <a:t>scale_pos_weight</a:t>
            </a:r>
            <a:endParaRPr lang="en-US" sz="880" dirty="0"/>
          </a:p>
        </p:txBody>
      </p:sp>
      <p:sp>
        <p:nvSpPr>
          <p:cNvPr id="70" name="Text 68"/>
          <p:cNvSpPr/>
          <p:nvPr/>
        </p:nvSpPr>
        <p:spPr>
          <a:xfrm>
            <a:off x="7187184" y="4261104"/>
            <a:ext cx="1609344" cy="164592"/>
          </a:xfrm>
          <a:prstGeom prst="rect">
            <a:avLst/>
          </a:prstGeom>
          <a:noFill/>
          <a:ln/>
        </p:spPr>
        <p:txBody>
          <a:bodyPr wrap="square" lIns="0" tIns="0" rIns="0" bIns="0" rtlCol="0" anchor="ctr">
            <a:normAutofit/>
          </a:bodyPr>
          <a:lstStyle/>
          <a:p>
            <a:pPr indent="0" marL="0">
              <a:buNone/>
            </a:pPr>
            <a:r>
              <a:rPr lang="en-US" sz="850" dirty="0">
                <a:solidFill>
                  <a:srgbClr val="64748B"/>
                </a:solidFill>
                <a:latin typeface="Calibri" pitchFamily="34" charset="0"/>
                <a:ea typeface="Calibri" pitchFamily="34" charset="-122"/>
                <a:cs typeface="Calibri" pitchFamily="34" charset="-120"/>
              </a:rPr>
              <a:t>neg/pos</a:t>
            </a:r>
            <a:endParaRPr lang="en-US" sz="850" dirty="0"/>
          </a:p>
        </p:txBody>
      </p:sp>
      <p:sp>
        <p:nvSpPr>
          <p:cNvPr id="71" name="Text 69"/>
          <p:cNvSpPr/>
          <p:nvPr/>
        </p:nvSpPr>
        <p:spPr>
          <a:xfrm>
            <a:off x="5577840" y="4425696"/>
            <a:ext cx="3218688" cy="128016"/>
          </a:xfrm>
          <a:prstGeom prst="rect">
            <a:avLst/>
          </a:prstGeom>
          <a:noFill/>
          <a:ln/>
        </p:spPr>
        <p:txBody>
          <a:bodyPr wrap="square" lIns="0" tIns="0" rIns="0" bIns="0" rtlCol="0" anchor="ctr">
            <a:normAutofit/>
          </a:bodyPr>
          <a:lstStyle/>
          <a:p>
            <a:pPr indent="0" marL="0">
              <a:buNone/>
            </a:pPr>
            <a:r>
              <a:rPr lang="en-US" sz="820" dirty="0">
                <a:solidFill>
                  <a:srgbClr val="1E293B"/>
                </a:solidFill>
                <a:latin typeface="Calibri" pitchFamily="34" charset="0"/>
                <a:ea typeface="Calibri" pitchFamily="34" charset="-122"/>
                <a:cs typeface="Calibri" pitchFamily="34" charset="-120"/>
              </a:rPr>
              <a:t>For imbalanced data: sum(negatives)/sum(positives). Equivalent to class_weight.</a:t>
            </a:r>
            <a:endParaRPr lang="en-US" sz="820" dirty="0"/>
          </a:p>
        </p:txBody>
      </p:sp>
      <p:sp>
        <p:nvSpPr>
          <p:cNvPr id="72" name="Shape 70"/>
          <p:cNvSpPr/>
          <p:nvPr/>
        </p:nvSpPr>
        <p:spPr>
          <a:xfrm>
            <a:off x="5468112" y="4608576"/>
            <a:ext cx="3401568" cy="347472"/>
          </a:xfrm>
          <a:prstGeom prst="rect">
            <a:avLst/>
          </a:prstGeom>
          <a:solidFill>
            <a:srgbClr val="FFFFFF"/>
          </a:solidFill>
          <a:ln w="6350">
            <a:solidFill>
              <a:srgbClr val="E2E8F0"/>
            </a:solidFill>
            <a:prstDash val="solid"/>
          </a:ln>
        </p:spPr>
      </p:sp>
      <p:sp>
        <p:nvSpPr>
          <p:cNvPr id="73" name="Shape 71"/>
          <p:cNvSpPr/>
          <p:nvPr/>
        </p:nvSpPr>
        <p:spPr>
          <a:xfrm>
            <a:off x="5468112" y="4608576"/>
            <a:ext cx="54864" cy="347472"/>
          </a:xfrm>
          <a:prstGeom prst="rect">
            <a:avLst/>
          </a:prstGeom>
          <a:solidFill>
            <a:srgbClr val="3730A3"/>
          </a:solidFill>
          <a:ln w="12700">
            <a:solidFill>
              <a:srgbClr val="3730A3">
                <a:alpha val="0"/>
              </a:srgbClr>
            </a:solidFill>
            <a:prstDash val="solid"/>
          </a:ln>
        </p:spPr>
      </p:sp>
      <p:sp>
        <p:nvSpPr>
          <p:cNvPr id="74" name="Text 72"/>
          <p:cNvSpPr/>
          <p:nvPr/>
        </p:nvSpPr>
        <p:spPr>
          <a:xfrm>
            <a:off x="5577840" y="4645152"/>
            <a:ext cx="1572768" cy="164592"/>
          </a:xfrm>
          <a:prstGeom prst="rect">
            <a:avLst/>
          </a:prstGeom>
          <a:noFill/>
          <a:ln/>
        </p:spPr>
        <p:txBody>
          <a:bodyPr wrap="square" lIns="0" tIns="0" rIns="0" bIns="0" rtlCol="0" anchor="ctr">
            <a:normAutofit/>
          </a:bodyPr>
          <a:lstStyle/>
          <a:p>
            <a:pPr indent="0" marL="0">
              <a:buNone/>
            </a:pPr>
            <a:r>
              <a:rPr lang="en-US" sz="880" b="1" dirty="0">
                <a:solidFill>
                  <a:srgbClr val="3730A3"/>
                </a:solidFill>
                <a:latin typeface="Courier New" pitchFamily="34" charset="0"/>
                <a:ea typeface="Courier New" pitchFamily="34" charset="-122"/>
                <a:cs typeface="Courier New" pitchFamily="34" charset="-120"/>
              </a:rPr>
              <a:t>early_stopping_rounds</a:t>
            </a:r>
            <a:endParaRPr lang="en-US" sz="880" dirty="0"/>
          </a:p>
        </p:txBody>
      </p:sp>
      <p:sp>
        <p:nvSpPr>
          <p:cNvPr id="75" name="Text 73"/>
          <p:cNvSpPr/>
          <p:nvPr/>
        </p:nvSpPr>
        <p:spPr>
          <a:xfrm>
            <a:off x="7187184" y="4645152"/>
            <a:ext cx="1609344" cy="164592"/>
          </a:xfrm>
          <a:prstGeom prst="rect">
            <a:avLst/>
          </a:prstGeom>
          <a:noFill/>
          <a:ln/>
        </p:spPr>
        <p:txBody>
          <a:bodyPr wrap="square" lIns="0" tIns="0" rIns="0" bIns="0" rtlCol="0" anchor="ctr">
            <a:normAutofit/>
          </a:bodyPr>
          <a:lstStyle/>
          <a:p>
            <a:pPr indent="0" marL="0">
              <a:buNone/>
            </a:pPr>
            <a:r>
              <a:rPr lang="en-US" sz="850" dirty="0">
                <a:solidFill>
                  <a:srgbClr val="64748B"/>
                </a:solidFill>
                <a:latin typeface="Calibri" pitchFamily="34" charset="0"/>
                <a:ea typeface="Calibri" pitchFamily="34" charset="-122"/>
                <a:cs typeface="Calibri" pitchFamily="34" charset="-120"/>
              </a:rPr>
              <a:t>50</a:t>
            </a:r>
            <a:endParaRPr lang="en-US" sz="850" dirty="0"/>
          </a:p>
        </p:txBody>
      </p:sp>
      <p:sp>
        <p:nvSpPr>
          <p:cNvPr id="76" name="Text 74"/>
          <p:cNvSpPr/>
          <p:nvPr/>
        </p:nvSpPr>
        <p:spPr>
          <a:xfrm>
            <a:off x="5577840" y="4809744"/>
            <a:ext cx="3218688" cy="128016"/>
          </a:xfrm>
          <a:prstGeom prst="rect">
            <a:avLst/>
          </a:prstGeom>
          <a:noFill/>
          <a:ln/>
        </p:spPr>
        <p:txBody>
          <a:bodyPr wrap="square" lIns="0" tIns="0" rIns="0" bIns="0" rtlCol="0" anchor="ctr">
            <a:normAutofit/>
          </a:bodyPr>
          <a:lstStyle/>
          <a:p>
            <a:pPr indent="0" marL="0">
              <a:buNone/>
            </a:pPr>
            <a:r>
              <a:rPr lang="en-US" sz="820" dirty="0">
                <a:solidFill>
                  <a:srgbClr val="1E293B"/>
                </a:solidFill>
                <a:latin typeface="Calibri" pitchFamily="34" charset="0"/>
                <a:ea typeface="Calibri" pitchFamily="34" charset="-122"/>
                <a:cs typeface="Calibri" pitchFamily="34" charset="-120"/>
              </a:rPr>
              <a:t>Stop if val AUC doesn't improve for 50 rounds. Prevents overfit automatically.</a:t>
            </a:r>
            <a:endParaRPr lang="en-US" sz="820" dirty="0"/>
          </a:p>
        </p:txBody>
      </p:sp>
      <p:sp>
        <p:nvSpPr>
          <p:cNvPr id="77" name="Shape 75"/>
          <p:cNvSpPr/>
          <p:nvPr/>
        </p:nvSpPr>
        <p:spPr>
          <a:xfrm>
            <a:off x="274320" y="4754880"/>
            <a:ext cx="8595360" cy="256032"/>
          </a:xfrm>
          <a:prstGeom prst="rect">
            <a:avLst/>
          </a:prstGeom>
          <a:solidFill>
            <a:srgbClr val="EEF2FF"/>
          </a:solidFill>
          <a:ln w="12700">
            <a:solidFill>
              <a:srgbClr val="3730A3"/>
            </a:solidFill>
            <a:prstDash val="solid"/>
          </a:ln>
        </p:spPr>
      </p:sp>
      <p:sp>
        <p:nvSpPr>
          <p:cNvPr id="78" name="Text 76"/>
          <p:cNvSpPr/>
          <p:nvPr/>
        </p:nvSpPr>
        <p:spPr>
          <a:xfrm>
            <a:off x="457200" y="4754880"/>
            <a:ext cx="8321040" cy="256032"/>
          </a:xfrm>
          <a:prstGeom prst="rect">
            <a:avLst/>
          </a:prstGeom>
          <a:noFill/>
          <a:ln/>
        </p:spPr>
        <p:txBody>
          <a:bodyPr wrap="square" lIns="0" tIns="0" rIns="0" bIns="0" rtlCol="0" anchor="ctr">
            <a:normAutofit/>
          </a:bodyPr>
          <a:lstStyle/>
          <a:p>
            <a:pPr indent="0" marL="0">
              <a:buNone/>
            </a:pPr>
            <a:r>
              <a:rPr lang="en-US" sz="900" b="1" dirty="0">
                <a:solidFill>
                  <a:srgbClr val="3730A3"/>
                </a:solidFill>
                <a:latin typeface="Calibri" pitchFamily="34" charset="0"/>
                <a:ea typeface="Calibri" pitchFamily="34" charset="-122"/>
                <a:cs typeface="Calibri" pitchFamily="34" charset="-120"/>
              </a:rPr>
              <a:t>RF vs XGBoost: RF is robust and easy to tune (just add more trees). XGBoost is more powerful but sensitive to hyperparams. Start with RF, upgrade to XGBoost when needed.</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9F0"/>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1B3E"/>
          </a:solidFill>
          <a:ln w="12700">
            <a:solidFill>
              <a:srgbClr val="0D1B3E">
                <a:alpha val="0"/>
              </a:srgbClr>
            </a:solidFill>
            <a:prstDash val="solid"/>
          </a:ln>
        </p:spPr>
      </p:sp>
      <p:sp>
        <p:nvSpPr>
          <p:cNvPr id="3" name="Text 1"/>
          <p:cNvSpPr/>
          <p:nvPr/>
        </p:nvSpPr>
        <p:spPr>
          <a:xfrm>
            <a:off x="347472" y="0"/>
            <a:ext cx="8458200" cy="640080"/>
          </a:xfrm>
          <a:prstGeom prst="rect">
            <a:avLst/>
          </a:prstGeom>
          <a:noFill/>
          <a:ln/>
        </p:spPr>
        <p:txBody>
          <a:bodyPr wrap="square" lIns="0" tIns="0" rIns="0" bIns="0" rtlCol="0" anchor="ctr">
            <a:normAutofit/>
          </a:bodyPr>
          <a:lstStyle/>
          <a:p>
            <a:pPr indent="0" marL="0">
              <a:buNone/>
            </a:pPr>
            <a:r>
              <a:rPr lang="en-US" sz="1400" b="1" spc="100" kern="0" dirty="0">
                <a:solidFill>
                  <a:srgbClr val="FFFFFF"/>
                </a:solidFill>
                <a:latin typeface="Calibri" pitchFamily="34" charset="0"/>
                <a:ea typeface="Calibri" pitchFamily="34" charset="-122"/>
                <a:cs typeface="Calibri" pitchFamily="34" charset="-120"/>
              </a:rPr>
              <a:t>FEATURE ENGINEERING FOR ML — THEORY  (30 MIN)</a:t>
            </a:r>
            <a:endParaRPr lang="en-US" sz="1400" dirty="0"/>
          </a:p>
        </p:txBody>
      </p:sp>
      <p:sp>
        <p:nvSpPr>
          <p:cNvPr id="4" name="Shape 2"/>
          <p:cNvSpPr/>
          <p:nvPr/>
        </p:nvSpPr>
        <p:spPr>
          <a:xfrm>
            <a:off x="8229600" y="658368"/>
            <a:ext cx="1234440" cy="256032"/>
          </a:xfrm>
          <a:prstGeom prst="rect">
            <a:avLst/>
          </a:prstGeom>
          <a:solidFill>
            <a:srgbClr val="0D1B3E"/>
          </a:solidFill>
          <a:ln w="12700">
            <a:solidFill>
              <a:srgbClr val="0D1B3E">
                <a:alpha val="0"/>
              </a:srgbClr>
            </a:solidFill>
            <a:prstDash val="solid"/>
          </a:ln>
        </p:spPr>
      </p:sp>
      <p:sp>
        <p:nvSpPr>
          <p:cNvPr id="5" name="Text 3"/>
          <p:cNvSpPr/>
          <p:nvPr/>
        </p:nvSpPr>
        <p:spPr>
          <a:xfrm>
            <a:off x="8229600" y="658368"/>
            <a:ext cx="1234440" cy="256032"/>
          </a:xfrm>
          <a:prstGeom prst="rect">
            <a:avLst/>
          </a:prstGeom>
          <a:noFill/>
          <a:ln/>
        </p:spPr>
        <p:txBody>
          <a:bodyPr wrap="square" lIns="0" tIns="0" rIns="0" bIns="0" rtlCol="0" anchor="ctr">
            <a:normAutofit/>
          </a:bodyPr>
          <a:lstStyle/>
          <a:p>
            <a:pPr algn="ctr" indent="0" marL="0">
              <a:buNone/>
            </a:pPr>
            <a:r>
              <a:rPr lang="en-US" sz="800" b="1" dirty="0">
                <a:solidFill>
                  <a:srgbClr val="FFFFFF"/>
                </a:solidFill>
                <a:latin typeface="Calibri" pitchFamily="34" charset="0"/>
                <a:ea typeface="Calibri" pitchFamily="34" charset="-122"/>
                <a:cs typeface="Calibri" pitchFamily="34" charset="-120"/>
              </a:rPr>
              <a:t>THEORY</a:t>
            </a:r>
            <a:endParaRPr lang="en-US" sz="800" dirty="0"/>
          </a:p>
        </p:txBody>
      </p:sp>
      <p:sp>
        <p:nvSpPr>
          <p:cNvPr id="6" name="Text 4"/>
          <p:cNvSpPr/>
          <p:nvPr/>
        </p:nvSpPr>
        <p:spPr>
          <a:xfrm>
            <a:off x="347472" y="667512"/>
            <a:ext cx="8458200" cy="256032"/>
          </a:xfrm>
          <a:prstGeom prst="rect">
            <a:avLst/>
          </a:prstGeom>
          <a:noFill/>
          <a:ln/>
        </p:spPr>
        <p:txBody>
          <a:bodyPr wrap="square" lIns="0" tIns="0" rIns="0" bIns="0" rtlCol="0" anchor="ctr">
            <a:normAutofit/>
          </a:bodyPr>
          <a:lstStyle/>
          <a:p>
            <a:pPr indent="0" marL="0">
              <a:buNone/>
            </a:pPr>
            <a:r>
              <a:rPr lang="en-US" sz="1000" i="1" dirty="0">
                <a:solidFill>
                  <a:srgbClr val="64748B"/>
                </a:solidFill>
                <a:latin typeface="Calibri" pitchFamily="34" charset="0"/>
                <a:ea typeface="Calibri" pitchFamily="34" charset="-122"/>
                <a:cs typeface="Calibri" pitchFamily="34" charset="-120"/>
              </a:rPr>
              <a:t>'Better features beat better algorithms' — the most important sentence in applied ML. Domain knowledge + math = powerful features</a:t>
            </a:r>
            <a:endParaRPr lang="en-US" sz="1000" dirty="0"/>
          </a:p>
        </p:txBody>
      </p:sp>
      <p:sp>
        <p:nvSpPr>
          <p:cNvPr id="7" name="Shape 5"/>
          <p:cNvSpPr/>
          <p:nvPr/>
        </p:nvSpPr>
        <p:spPr>
          <a:xfrm>
            <a:off x="256032" y="960120"/>
            <a:ext cx="4224528" cy="2011680"/>
          </a:xfrm>
          <a:prstGeom prst="rect">
            <a:avLst/>
          </a:prstGeom>
          <a:solidFill>
            <a:srgbClr val="FFFFFF"/>
          </a:solidFill>
          <a:ln w="10160">
            <a:solidFill>
              <a:srgbClr val="E2E8F0"/>
            </a:solidFill>
            <a:prstDash val="solid"/>
          </a:ln>
          <a:effectLst>
            <a:outerShdw sx="100000" sy="100000" kx="0" ky="0" algn="bl" rotWithShape="0" blurRad="101600" dist="38100" dir="8100000">
              <a:srgbClr val="000000">
                <a:alpha val="10000"/>
              </a:srgbClr>
            </a:outerShdw>
          </a:effectLst>
        </p:spPr>
      </p:sp>
      <p:sp>
        <p:nvSpPr>
          <p:cNvPr id="8" name="Shape 6"/>
          <p:cNvSpPr/>
          <p:nvPr/>
        </p:nvSpPr>
        <p:spPr>
          <a:xfrm>
            <a:off x="256032" y="960120"/>
            <a:ext cx="4224528" cy="365760"/>
          </a:xfrm>
          <a:prstGeom prst="rect">
            <a:avLst/>
          </a:prstGeom>
          <a:solidFill>
            <a:srgbClr val="0D1B3E"/>
          </a:solidFill>
          <a:ln w="12700">
            <a:solidFill>
              <a:srgbClr val="0D1B3E">
                <a:alpha val="0"/>
              </a:srgbClr>
            </a:solidFill>
            <a:prstDash val="solid"/>
          </a:ln>
        </p:spPr>
      </p:sp>
      <p:sp>
        <p:nvSpPr>
          <p:cNvPr id="9" name="Text 7"/>
          <p:cNvSpPr/>
          <p:nvPr/>
        </p:nvSpPr>
        <p:spPr>
          <a:xfrm>
            <a:off x="347472" y="960120"/>
            <a:ext cx="4041648" cy="365760"/>
          </a:xfrm>
          <a:prstGeom prst="rect">
            <a:avLst/>
          </a:prstGeom>
          <a:noFill/>
          <a:ln/>
        </p:spPr>
        <p:txBody>
          <a:bodyPr wrap="square" lIns="0" tIns="0" rIns="0" bIns="0" rtlCol="0" anchor="ctr">
            <a:normAutofit/>
          </a:bodyPr>
          <a:lstStyle/>
          <a:p>
            <a:pPr indent="0" marL="0">
              <a:buNone/>
            </a:pPr>
            <a:r>
              <a:rPr lang="en-US" sz="1050" b="1" dirty="0">
                <a:solidFill>
                  <a:srgbClr val="FFFFFF"/>
                </a:solidFill>
                <a:latin typeface="Calibri" pitchFamily="34" charset="0"/>
                <a:ea typeface="Calibri" pitchFamily="34" charset="-122"/>
                <a:cs typeface="Calibri" pitchFamily="34" charset="-120"/>
              </a:rPr>
              <a:t>Encoding Categorical Variables</a:t>
            </a:r>
            <a:endParaRPr lang="en-US" sz="1050" dirty="0"/>
          </a:p>
        </p:txBody>
      </p:sp>
      <p:sp>
        <p:nvSpPr>
          <p:cNvPr id="10" name="Text 8"/>
          <p:cNvSpPr/>
          <p:nvPr/>
        </p:nvSpPr>
        <p:spPr>
          <a:xfrm>
            <a:off x="365760" y="1380744"/>
            <a:ext cx="1417320" cy="182880"/>
          </a:xfrm>
          <a:prstGeom prst="rect">
            <a:avLst/>
          </a:prstGeom>
          <a:noFill/>
          <a:ln/>
        </p:spPr>
        <p:txBody>
          <a:bodyPr wrap="square" lIns="0" tIns="0" rIns="0" bIns="0" rtlCol="0" anchor="ctr">
            <a:normAutofit/>
          </a:bodyPr>
          <a:lstStyle/>
          <a:p>
            <a:pPr indent="0" marL="0">
              <a:buNone/>
            </a:pPr>
            <a:r>
              <a:rPr lang="en-US" sz="900" b="1" dirty="0">
                <a:solidFill>
                  <a:srgbClr val="0D1B3E"/>
                </a:solidFill>
                <a:latin typeface="Calibri" pitchFamily="34" charset="0"/>
                <a:ea typeface="Calibri" pitchFamily="34" charset="-122"/>
                <a:cs typeface="Calibri" pitchFamily="34" charset="-120"/>
              </a:rPr>
              <a:t>One-Hot Encoding:</a:t>
            </a:r>
            <a:endParaRPr lang="en-US" sz="900" dirty="0"/>
          </a:p>
        </p:txBody>
      </p:sp>
      <p:sp>
        <p:nvSpPr>
          <p:cNvPr id="11" name="Text 9"/>
          <p:cNvSpPr/>
          <p:nvPr/>
        </p:nvSpPr>
        <p:spPr>
          <a:xfrm>
            <a:off x="365760" y="1563624"/>
            <a:ext cx="4005072" cy="292608"/>
          </a:xfrm>
          <a:prstGeom prst="rect">
            <a:avLst/>
          </a:prstGeom>
          <a:noFill/>
          <a:ln/>
        </p:spPr>
        <p:txBody>
          <a:bodyPr wrap="square" lIns="0" tIns="0" rIns="0" bIns="0" rtlCol="0" anchor="ctr">
            <a:normAutofit/>
          </a:bodyPr>
          <a:lstStyle/>
          <a:p>
            <a:pPr indent="0" marL="0">
              <a:buNone/>
            </a:pPr>
            <a:r>
              <a:rPr lang="en-US" sz="850" dirty="0">
                <a:solidFill>
                  <a:srgbClr val="1E293B"/>
                </a:solidFill>
                <a:latin typeface="Calibri" pitchFamily="34" charset="0"/>
                <a:ea typeface="Calibri" pitchFamily="34" charset="-122"/>
                <a:cs typeface="Calibri" pitchFamily="34" charset="-120"/>
              </a:rPr>
              <a:t>Creates binary column per category. Use for low-cardinality (&lt;15 values). ward='ICU' → ward_ICU=1, ward_A=0, ward_B=0. Problem: curse of dimensionality with many categories.</a:t>
            </a:r>
            <a:endParaRPr lang="en-US" sz="850" dirty="0"/>
          </a:p>
        </p:txBody>
      </p:sp>
      <p:sp>
        <p:nvSpPr>
          <p:cNvPr id="12" name="Text 10"/>
          <p:cNvSpPr/>
          <p:nvPr/>
        </p:nvSpPr>
        <p:spPr>
          <a:xfrm>
            <a:off x="365760" y="1892808"/>
            <a:ext cx="1417320" cy="182880"/>
          </a:xfrm>
          <a:prstGeom prst="rect">
            <a:avLst/>
          </a:prstGeom>
          <a:noFill/>
          <a:ln/>
        </p:spPr>
        <p:txBody>
          <a:bodyPr wrap="square" lIns="0" tIns="0" rIns="0" bIns="0" rtlCol="0" anchor="ctr">
            <a:normAutofit/>
          </a:bodyPr>
          <a:lstStyle/>
          <a:p>
            <a:pPr indent="0" marL="0">
              <a:buNone/>
            </a:pPr>
            <a:r>
              <a:rPr lang="en-US" sz="900" b="1" dirty="0">
                <a:solidFill>
                  <a:srgbClr val="0D1B3E"/>
                </a:solidFill>
                <a:latin typeface="Calibri" pitchFamily="34" charset="0"/>
                <a:ea typeface="Calibri" pitchFamily="34" charset="-122"/>
                <a:cs typeface="Calibri" pitchFamily="34" charset="-120"/>
              </a:rPr>
              <a:t>Label / Ordinal Encoding:</a:t>
            </a:r>
            <a:endParaRPr lang="en-US" sz="900" dirty="0"/>
          </a:p>
        </p:txBody>
      </p:sp>
      <p:sp>
        <p:nvSpPr>
          <p:cNvPr id="13" name="Text 11"/>
          <p:cNvSpPr/>
          <p:nvPr/>
        </p:nvSpPr>
        <p:spPr>
          <a:xfrm>
            <a:off x="365760" y="2075688"/>
            <a:ext cx="4005072" cy="292608"/>
          </a:xfrm>
          <a:prstGeom prst="rect">
            <a:avLst/>
          </a:prstGeom>
          <a:noFill/>
          <a:ln/>
        </p:spPr>
        <p:txBody>
          <a:bodyPr wrap="square" lIns="0" tIns="0" rIns="0" bIns="0" rtlCol="0" anchor="ctr">
            <a:normAutofit/>
          </a:bodyPr>
          <a:lstStyle/>
          <a:p>
            <a:pPr indent="0" marL="0">
              <a:buNone/>
            </a:pPr>
            <a:r>
              <a:rPr lang="en-US" sz="850" dirty="0">
                <a:solidFill>
                  <a:srgbClr val="1E293B"/>
                </a:solidFill>
                <a:latin typeface="Calibri" pitchFamily="34" charset="0"/>
                <a:ea typeface="Calibri" pitchFamily="34" charset="-122"/>
                <a:cs typeface="Calibri" pitchFamily="34" charset="-120"/>
              </a:rPr>
              <a:t>Maps category to integer. Use ONLY when natural order exists: Low&lt;Medium&lt;High. Never for nominal categories — model interprets 'ICU=2 &gt; Ward-A=1' which is wrong.</a:t>
            </a:r>
            <a:endParaRPr lang="en-US" sz="850" dirty="0"/>
          </a:p>
        </p:txBody>
      </p:sp>
      <p:sp>
        <p:nvSpPr>
          <p:cNvPr id="14" name="Text 12"/>
          <p:cNvSpPr/>
          <p:nvPr/>
        </p:nvSpPr>
        <p:spPr>
          <a:xfrm>
            <a:off x="365760" y="2404872"/>
            <a:ext cx="1417320" cy="182880"/>
          </a:xfrm>
          <a:prstGeom prst="rect">
            <a:avLst/>
          </a:prstGeom>
          <a:noFill/>
          <a:ln/>
        </p:spPr>
        <p:txBody>
          <a:bodyPr wrap="square" lIns="0" tIns="0" rIns="0" bIns="0" rtlCol="0" anchor="ctr">
            <a:normAutofit/>
          </a:bodyPr>
          <a:lstStyle/>
          <a:p>
            <a:pPr indent="0" marL="0">
              <a:buNone/>
            </a:pPr>
            <a:r>
              <a:rPr lang="en-US" sz="900" b="1" dirty="0">
                <a:solidFill>
                  <a:srgbClr val="0D1B3E"/>
                </a:solidFill>
                <a:latin typeface="Calibri" pitchFamily="34" charset="0"/>
                <a:ea typeface="Calibri" pitchFamily="34" charset="-122"/>
                <a:cs typeface="Calibri" pitchFamily="34" charset="-120"/>
              </a:rPr>
              <a:t>Target Encoding:</a:t>
            </a:r>
            <a:endParaRPr lang="en-US" sz="900" dirty="0"/>
          </a:p>
        </p:txBody>
      </p:sp>
      <p:sp>
        <p:nvSpPr>
          <p:cNvPr id="15" name="Text 13"/>
          <p:cNvSpPr/>
          <p:nvPr/>
        </p:nvSpPr>
        <p:spPr>
          <a:xfrm>
            <a:off x="365760" y="2587752"/>
            <a:ext cx="4005072" cy="292608"/>
          </a:xfrm>
          <a:prstGeom prst="rect">
            <a:avLst/>
          </a:prstGeom>
          <a:noFill/>
          <a:ln/>
        </p:spPr>
        <p:txBody>
          <a:bodyPr wrap="square" lIns="0" tIns="0" rIns="0" bIns="0" rtlCol="0" anchor="ctr">
            <a:normAutofit/>
          </a:bodyPr>
          <a:lstStyle/>
          <a:p>
            <a:pPr indent="0" marL="0">
              <a:buNone/>
            </a:pPr>
            <a:r>
              <a:rPr lang="en-US" sz="850" dirty="0">
                <a:solidFill>
                  <a:srgbClr val="1E293B"/>
                </a:solidFill>
                <a:latin typeface="Calibri" pitchFamily="34" charset="0"/>
                <a:ea typeface="Calibri" pitchFamily="34" charset="-122"/>
                <a:cs typeface="Calibri" pitchFamily="34" charset="-120"/>
              </a:rPr>
              <a:t>Replace category with mean target value per category. Powerful but leakage risk: must compute on training fold only, never on full dataset. Use TargetEncoder with cross_val_fit.</a:t>
            </a:r>
            <a:endParaRPr lang="en-US" sz="850" dirty="0"/>
          </a:p>
        </p:txBody>
      </p:sp>
      <p:sp>
        <p:nvSpPr>
          <p:cNvPr id="16" name="Shape 14"/>
          <p:cNvSpPr/>
          <p:nvPr/>
        </p:nvSpPr>
        <p:spPr>
          <a:xfrm>
            <a:off x="4718304" y="960120"/>
            <a:ext cx="4224528" cy="2011680"/>
          </a:xfrm>
          <a:prstGeom prst="rect">
            <a:avLst/>
          </a:prstGeom>
          <a:solidFill>
            <a:srgbClr val="FFFFFF"/>
          </a:solidFill>
          <a:ln w="10160">
            <a:solidFill>
              <a:srgbClr val="E2E8F0"/>
            </a:solidFill>
            <a:prstDash val="solid"/>
          </a:ln>
          <a:effectLst>
            <a:outerShdw sx="100000" sy="100000" kx="0" ky="0" algn="bl" rotWithShape="0" blurRad="101600" dist="38100" dir="8100000">
              <a:srgbClr val="000000">
                <a:alpha val="10000"/>
              </a:srgbClr>
            </a:outerShdw>
          </a:effectLst>
        </p:spPr>
      </p:sp>
      <p:sp>
        <p:nvSpPr>
          <p:cNvPr id="17" name="Shape 15"/>
          <p:cNvSpPr/>
          <p:nvPr/>
        </p:nvSpPr>
        <p:spPr>
          <a:xfrm>
            <a:off x="4718304" y="960120"/>
            <a:ext cx="4224528" cy="365760"/>
          </a:xfrm>
          <a:prstGeom prst="rect">
            <a:avLst/>
          </a:prstGeom>
          <a:solidFill>
            <a:srgbClr val="9F1239"/>
          </a:solidFill>
          <a:ln w="12700">
            <a:solidFill>
              <a:srgbClr val="9F1239">
                <a:alpha val="0"/>
              </a:srgbClr>
            </a:solidFill>
            <a:prstDash val="solid"/>
          </a:ln>
        </p:spPr>
      </p:sp>
      <p:sp>
        <p:nvSpPr>
          <p:cNvPr id="18" name="Text 16"/>
          <p:cNvSpPr/>
          <p:nvPr/>
        </p:nvSpPr>
        <p:spPr>
          <a:xfrm>
            <a:off x="4809744" y="960120"/>
            <a:ext cx="4041648" cy="365760"/>
          </a:xfrm>
          <a:prstGeom prst="rect">
            <a:avLst/>
          </a:prstGeom>
          <a:noFill/>
          <a:ln/>
        </p:spPr>
        <p:txBody>
          <a:bodyPr wrap="square" lIns="0" tIns="0" rIns="0" bIns="0" rtlCol="0" anchor="ctr">
            <a:normAutofit/>
          </a:bodyPr>
          <a:lstStyle/>
          <a:p>
            <a:pPr indent="0" marL="0">
              <a:buNone/>
            </a:pPr>
            <a:r>
              <a:rPr lang="en-US" sz="1050" b="1" dirty="0">
                <a:solidFill>
                  <a:srgbClr val="FFFFFF"/>
                </a:solidFill>
                <a:latin typeface="Calibri" pitchFamily="34" charset="0"/>
                <a:ea typeface="Calibri" pitchFamily="34" charset="-122"/>
                <a:cs typeface="Calibri" pitchFamily="34" charset="-120"/>
              </a:rPr>
              <a:t>Scaling &amp; Transformations</a:t>
            </a:r>
            <a:endParaRPr lang="en-US" sz="1050" dirty="0"/>
          </a:p>
        </p:txBody>
      </p:sp>
      <p:sp>
        <p:nvSpPr>
          <p:cNvPr id="19" name="Text 17"/>
          <p:cNvSpPr/>
          <p:nvPr/>
        </p:nvSpPr>
        <p:spPr>
          <a:xfrm>
            <a:off x="4828032" y="1380744"/>
            <a:ext cx="1417320" cy="182880"/>
          </a:xfrm>
          <a:prstGeom prst="rect">
            <a:avLst/>
          </a:prstGeom>
          <a:noFill/>
          <a:ln/>
        </p:spPr>
        <p:txBody>
          <a:bodyPr wrap="square" lIns="0" tIns="0" rIns="0" bIns="0" rtlCol="0" anchor="ctr">
            <a:normAutofit/>
          </a:bodyPr>
          <a:lstStyle/>
          <a:p>
            <a:pPr indent="0" marL="0">
              <a:buNone/>
            </a:pPr>
            <a:r>
              <a:rPr lang="en-US" sz="900" b="1" dirty="0">
                <a:solidFill>
                  <a:srgbClr val="9F1239"/>
                </a:solidFill>
                <a:latin typeface="Calibri" pitchFamily="34" charset="0"/>
                <a:ea typeface="Calibri" pitchFamily="34" charset="-122"/>
                <a:cs typeface="Calibri" pitchFamily="34" charset="-120"/>
              </a:rPr>
              <a:t>StandardScaler:</a:t>
            </a:r>
            <a:endParaRPr lang="en-US" sz="900" dirty="0"/>
          </a:p>
        </p:txBody>
      </p:sp>
      <p:sp>
        <p:nvSpPr>
          <p:cNvPr id="20" name="Text 18"/>
          <p:cNvSpPr/>
          <p:nvPr/>
        </p:nvSpPr>
        <p:spPr>
          <a:xfrm>
            <a:off x="4828032" y="1563624"/>
            <a:ext cx="4005072" cy="292608"/>
          </a:xfrm>
          <a:prstGeom prst="rect">
            <a:avLst/>
          </a:prstGeom>
          <a:noFill/>
          <a:ln/>
        </p:spPr>
        <p:txBody>
          <a:bodyPr wrap="square" lIns="0" tIns="0" rIns="0" bIns="0" rtlCol="0" anchor="ctr">
            <a:normAutofit/>
          </a:bodyPr>
          <a:lstStyle/>
          <a:p>
            <a:pPr indent="0" marL="0">
              <a:buNone/>
            </a:pPr>
            <a:r>
              <a:rPr lang="en-US" sz="850" dirty="0">
                <a:solidFill>
                  <a:srgbClr val="1E293B"/>
                </a:solidFill>
                <a:latin typeface="Calibri" pitchFamily="34" charset="0"/>
                <a:ea typeface="Calibri" pitchFamily="34" charset="-122"/>
                <a:cs typeface="Calibri" pitchFamily="34" charset="-120"/>
              </a:rPr>
              <a:t>Subtract mean, divide by std. Output: mean=0, std=1. Required for: Logistic Regression, SVM, KNN. NOT needed for: Decision Trees, RF, XGBoost (tree-based models are scale-invariant).</a:t>
            </a:r>
            <a:endParaRPr lang="en-US" sz="850" dirty="0"/>
          </a:p>
        </p:txBody>
      </p:sp>
      <p:sp>
        <p:nvSpPr>
          <p:cNvPr id="21" name="Text 19"/>
          <p:cNvSpPr/>
          <p:nvPr/>
        </p:nvSpPr>
        <p:spPr>
          <a:xfrm>
            <a:off x="4828032" y="1892808"/>
            <a:ext cx="1417320" cy="182880"/>
          </a:xfrm>
          <a:prstGeom prst="rect">
            <a:avLst/>
          </a:prstGeom>
          <a:noFill/>
          <a:ln/>
        </p:spPr>
        <p:txBody>
          <a:bodyPr wrap="square" lIns="0" tIns="0" rIns="0" bIns="0" rtlCol="0" anchor="ctr">
            <a:normAutofit/>
          </a:bodyPr>
          <a:lstStyle/>
          <a:p>
            <a:pPr indent="0" marL="0">
              <a:buNone/>
            </a:pPr>
            <a:r>
              <a:rPr lang="en-US" sz="900" b="1" dirty="0">
                <a:solidFill>
                  <a:srgbClr val="9F1239"/>
                </a:solidFill>
                <a:latin typeface="Calibri" pitchFamily="34" charset="0"/>
                <a:ea typeface="Calibri" pitchFamily="34" charset="-122"/>
                <a:cs typeface="Calibri" pitchFamily="34" charset="-120"/>
              </a:rPr>
              <a:t>MinMaxScaler:</a:t>
            </a:r>
            <a:endParaRPr lang="en-US" sz="900" dirty="0"/>
          </a:p>
        </p:txBody>
      </p:sp>
      <p:sp>
        <p:nvSpPr>
          <p:cNvPr id="22" name="Text 20"/>
          <p:cNvSpPr/>
          <p:nvPr/>
        </p:nvSpPr>
        <p:spPr>
          <a:xfrm>
            <a:off x="4828032" y="2075688"/>
            <a:ext cx="4005072" cy="292608"/>
          </a:xfrm>
          <a:prstGeom prst="rect">
            <a:avLst/>
          </a:prstGeom>
          <a:noFill/>
          <a:ln/>
        </p:spPr>
        <p:txBody>
          <a:bodyPr wrap="square" lIns="0" tIns="0" rIns="0" bIns="0" rtlCol="0" anchor="ctr">
            <a:normAutofit/>
          </a:bodyPr>
          <a:lstStyle/>
          <a:p>
            <a:pPr indent="0" marL="0">
              <a:buNone/>
            </a:pPr>
            <a:r>
              <a:rPr lang="en-US" sz="850" dirty="0">
                <a:solidFill>
                  <a:srgbClr val="1E293B"/>
                </a:solidFill>
                <a:latin typeface="Calibri" pitchFamily="34" charset="0"/>
                <a:ea typeface="Calibri" pitchFamily="34" charset="-122"/>
                <a:cs typeface="Calibri" pitchFamily="34" charset="-120"/>
              </a:rPr>
              <a:t>Scales to [0,1] range. Use when you need bounded output (neural networks). Sensitive to outliers — one extreme value compresses all others.</a:t>
            </a:r>
            <a:endParaRPr lang="en-US" sz="850" dirty="0"/>
          </a:p>
        </p:txBody>
      </p:sp>
      <p:sp>
        <p:nvSpPr>
          <p:cNvPr id="23" name="Text 21"/>
          <p:cNvSpPr/>
          <p:nvPr/>
        </p:nvSpPr>
        <p:spPr>
          <a:xfrm>
            <a:off x="4828032" y="2404872"/>
            <a:ext cx="1417320" cy="182880"/>
          </a:xfrm>
          <a:prstGeom prst="rect">
            <a:avLst/>
          </a:prstGeom>
          <a:noFill/>
          <a:ln/>
        </p:spPr>
        <p:txBody>
          <a:bodyPr wrap="square" lIns="0" tIns="0" rIns="0" bIns="0" rtlCol="0" anchor="ctr">
            <a:normAutofit/>
          </a:bodyPr>
          <a:lstStyle/>
          <a:p>
            <a:pPr indent="0" marL="0">
              <a:buNone/>
            </a:pPr>
            <a:r>
              <a:rPr lang="en-US" sz="900" b="1" dirty="0">
                <a:solidFill>
                  <a:srgbClr val="9F1239"/>
                </a:solidFill>
                <a:latin typeface="Calibri" pitchFamily="34" charset="0"/>
                <a:ea typeface="Calibri" pitchFamily="34" charset="-122"/>
                <a:cs typeface="Calibri" pitchFamily="34" charset="-120"/>
              </a:rPr>
              <a:t>Log Transform:</a:t>
            </a:r>
            <a:endParaRPr lang="en-US" sz="900" dirty="0"/>
          </a:p>
        </p:txBody>
      </p:sp>
      <p:sp>
        <p:nvSpPr>
          <p:cNvPr id="24" name="Text 22"/>
          <p:cNvSpPr/>
          <p:nvPr/>
        </p:nvSpPr>
        <p:spPr>
          <a:xfrm>
            <a:off x="4828032" y="2587752"/>
            <a:ext cx="4005072" cy="292608"/>
          </a:xfrm>
          <a:prstGeom prst="rect">
            <a:avLst/>
          </a:prstGeom>
          <a:noFill/>
          <a:ln/>
        </p:spPr>
        <p:txBody>
          <a:bodyPr wrap="square" lIns="0" tIns="0" rIns="0" bIns="0" rtlCol="0" anchor="ctr">
            <a:normAutofit/>
          </a:bodyPr>
          <a:lstStyle/>
          <a:p>
            <a:pPr indent="0" marL="0">
              <a:buNone/>
            </a:pPr>
            <a:r>
              <a:rPr lang="en-US" sz="850" dirty="0">
                <a:solidFill>
                  <a:srgbClr val="1E293B"/>
                </a:solidFill>
                <a:latin typeface="Calibri" pitchFamily="34" charset="0"/>
                <a:ea typeface="Calibri" pitchFamily="34" charset="-122"/>
                <a:cs typeface="Calibri" pitchFamily="34" charset="-120"/>
              </a:rPr>
              <a:t>log1p(cost_usd) for right-skewed distributions (cost, salary). Compresses the long tail, makes distribution more Gaussian. Helps linear models significantly.</a:t>
            </a:r>
            <a:endParaRPr lang="en-US" sz="850" dirty="0"/>
          </a:p>
        </p:txBody>
      </p:sp>
      <p:sp>
        <p:nvSpPr>
          <p:cNvPr id="25" name="Shape 23"/>
          <p:cNvSpPr/>
          <p:nvPr/>
        </p:nvSpPr>
        <p:spPr>
          <a:xfrm>
            <a:off x="256032" y="3063240"/>
            <a:ext cx="4224528" cy="2011680"/>
          </a:xfrm>
          <a:prstGeom prst="rect">
            <a:avLst/>
          </a:prstGeom>
          <a:solidFill>
            <a:srgbClr val="FFFFFF"/>
          </a:solidFill>
          <a:ln w="10160">
            <a:solidFill>
              <a:srgbClr val="E2E8F0"/>
            </a:solidFill>
            <a:prstDash val="solid"/>
          </a:ln>
          <a:effectLst>
            <a:outerShdw sx="100000" sy="100000" kx="0" ky="0" algn="bl" rotWithShape="0" blurRad="101600" dist="38100" dir="8100000">
              <a:srgbClr val="000000">
                <a:alpha val="10000"/>
              </a:srgbClr>
            </a:outerShdw>
          </a:effectLst>
        </p:spPr>
      </p:sp>
      <p:sp>
        <p:nvSpPr>
          <p:cNvPr id="26" name="Shape 24"/>
          <p:cNvSpPr/>
          <p:nvPr/>
        </p:nvSpPr>
        <p:spPr>
          <a:xfrm>
            <a:off x="256032" y="3063240"/>
            <a:ext cx="4224528" cy="365760"/>
          </a:xfrm>
          <a:prstGeom prst="rect">
            <a:avLst/>
          </a:prstGeom>
          <a:solidFill>
            <a:srgbClr val="0891B2"/>
          </a:solidFill>
          <a:ln w="12700">
            <a:solidFill>
              <a:srgbClr val="0891B2">
                <a:alpha val="0"/>
              </a:srgbClr>
            </a:solidFill>
            <a:prstDash val="solid"/>
          </a:ln>
        </p:spPr>
      </p:sp>
      <p:sp>
        <p:nvSpPr>
          <p:cNvPr id="27" name="Text 25"/>
          <p:cNvSpPr/>
          <p:nvPr/>
        </p:nvSpPr>
        <p:spPr>
          <a:xfrm>
            <a:off x="347472" y="3063240"/>
            <a:ext cx="4041648" cy="365760"/>
          </a:xfrm>
          <a:prstGeom prst="rect">
            <a:avLst/>
          </a:prstGeom>
          <a:noFill/>
          <a:ln/>
        </p:spPr>
        <p:txBody>
          <a:bodyPr wrap="square" lIns="0" tIns="0" rIns="0" bIns="0" rtlCol="0" anchor="ctr">
            <a:normAutofit/>
          </a:bodyPr>
          <a:lstStyle/>
          <a:p>
            <a:pPr indent="0" marL="0">
              <a:buNone/>
            </a:pPr>
            <a:r>
              <a:rPr lang="en-US" sz="1050" b="1" dirty="0">
                <a:solidFill>
                  <a:srgbClr val="FFFFFF"/>
                </a:solidFill>
                <a:latin typeface="Calibri" pitchFamily="34" charset="0"/>
                <a:ea typeface="Calibri" pitchFamily="34" charset="-122"/>
                <a:cs typeface="Calibri" pitchFamily="34" charset="-120"/>
              </a:rPr>
              <a:t>Creating New Features</a:t>
            </a:r>
            <a:endParaRPr lang="en-US" sz="1050" dirty="0"/>
          </a:p>
        </p:txBody>
      </p:sp>
      <p:sp>
        <p:nvSpPr>
          <p:cNvPr id="28" name="Text 26"/>
          <p:cNvSpPr/>
          <p:nvPr/>
        </p:nvSpPr>
        <p:spPr>
          <a:xfrm>
            <a:off x="365760" y="3483864"/>
            <a:ext cx="1417320" cy="182880"/>
          </a:xfrm>
          <a:prstGeom prst="rect">
            <a:avLst/>
          </a:prstGeom>
          <a:noFill/>
          <a:ln/>
        </p:spPr>
        <p:txBody>
          <a:bodyPr wrap="square" lIns="0" tIns="0" rIns="0" bIns="0" rtlCol="0" anchor="ctr">
            <a:normAutofit/>
          </a:bodyPr>
          <a:lstStyle/>
          <a:p>
            <a:pPr indent="0" marL="0">
              <a:buNone/>
            </a:pPr>
            <a:r>
              <a:rPr lang="en-US" sz="900" b="1" dirty="0">
                <a:solidFill>
                  <a:srgbClr val="0891B2"/>
                </a:solidFill>
                <a:latin typeface="Calibri" pitchFamily="34" charset="0"/>
                <a:ea typeface="Calibri" pitchFamily="34" charset="-122"/>
                <a:cs typeface="Calibri" pitchFamily="34" charset="-120"/>
              </a:rPr>
              <a:t>Interaction Terms:</a:t>
            </a:r>
            <a:endParaRPr lang="en-US" sz="900" dirty="0"/>
          </a:p>
        </p:txBody>
      </p:sp>
      <p:sp>
        <p:nvSpPr>
          <p:cNvPr id="29" name="Text 27"/>
          <p:cNvSpPr/>
          <p:nvPr/>
        </p:nvSpPr>
        <p:spPr>
          <a:xfrm>
            <a:off x="365760" y="3666744"/>
            <a:ext cx="4005072" cy="292608"/>
          </a:xfrm>
          <a:prstGeom prst="rect">
            <a:avLst/>
          </a:prstGeom>
          <a:noFill/>
          <a:ln/>
        </p:spPr>
        <p:txBody>
          <a:bodyPr wrap="square" lIns="0" tIns="0" rIns="0" bIns="0" rtlCol="0" anchor="ctr">
            <a:normAutofit/>
          </a:bodyPr>
          <a:lstStyle/>
          <a:p>
            <a:pPr indent="0" marL="0">
              <a:buNone/>
            </a:pPr>
            <a:r>
              <a:rPr lang="en-US" sz="850" dirty="0">
                <a:solidFill>
                  <a:srgbClr val="1E293B"/>
                </a:solidFill>
                <a:latin typeface="Calibri" pitchFamily="34" charset="0"/>
                <a:ea typeface="Calibri" pitchFamily="34" charset="-122"/>
                <a:cs typeface="Calibri" pitchFamily="34" charset="-120"/>
              </a:rPr>
              <a:t>age × bmi, systolic × diastolic. Captures synergy that linear models cannot. 'Elderly AND obese' is different from either alone. XGBoost learns these automatically — LR does not.</a:t>
            </a:r>
            <a:endParaRPr lang="en-US" sz="850" dirty="0"/>
          </a:p>
        </p:txBody>
      </p:sp>
      <p:sp>
        <p:nvSpPr>
          <p:cNvPr id="30" name="Text 28"/>
          <p:cNvSpPr/>
          <p:nvPr/>
        </p:nvSpPr>
        <p:spPr>
          <a:xfrm>
            <a:off x="365760" y="3995928"/>
            <a:ext cx="1417320" cy="182880"/>
          </a:xfrm>
          <a:prstGeom prst="rect">
            <a:avLst/>
          </a:prstGeom>
          <a:noFill/>
          <a:ln/>
        </p:spPr>
        <p:txBody>
          <a:bodyPr wrap="square" lIns="0" tIns="0" rIns="0" bIns="0" rtlCol="0" anchor="ctr">
            <a:normAutofit/>
          </a:bodyPr>
          <a:lstStyle/>
          <a:p>
            <a:pPr indent="0" marL="0">
              <a:buNone/>
            </a:pPr>
            <a:r>
              <a:rPr lang="en-US" sz="900" b="1" dirty="0">
                <a:solidFill>
                  <a:srgbClr val="0891B2"/>
                </a:solidFill>
                <a:latin typeface="Calibri" pitchFamily="34" charset="0"/>
                <a:ea typeface="Calibri" pitchFamily="34" charset="-122"/>
                <a:cs typeface="Calibri" pitchFamily="34" charset="-120"/>
              </a:rPr>
              <a:t>Binning / Discretisation:</a:t>
            </a:r>
            <a:endParaRPr lang="en-US" sz="900" dirty="0"/>
          </a:p>
        </p:txBody>
      </p:sp>
      <p:sp>
        <p:nvSpPr>
          <p:cNvPr id="31" name="Text 29"/>
          <p:cNvSpPr/>
          <p:nvPr/>
        </p:nvSpPr>
        <p:spPr>
          <a:xfrm>
            <a:off x="365760" y="4178808"/>
            <a:ext cx="4005072" cy="292608"/>
          </a:xfrm>
          <a:prstGeom prst="rect">
            <a:avLst/>
          </a:prstGeom>
          <a:noFill/>
          <a:ln/>
        </p:spPr>
        <p:txBody>
          <a:bodyPr wrap="square" lIns="0" tIns="0" rIns="0" bIns="0" rtlCol="0" anchor="ctr">
            <a:normAutofit/>
          </a:bodyPr>
          <a:lstStyle/>
          <a:p>
            <a:pPr indent="0" marL="0">
              <a:buNone/>
            </a:pPr>
            <a:r>
              <a:rPr lang="en-US" sz="850" dirty="0">
                <a:solidFill>
                  <a:srgbClr val="1E293B"/>
                </a:solidFill>
                <a:latin typeface="Calibri" pitchFamily="34" charset="0"/>
                <a:ea typeface="Calibri" pitchFamily="34" charset="-122"/>
                <a:cs typeface="Calibri" pitchFamily="34" charset="-120"/>
              </a:rPr>
              <a:t>pd.cut(age, bins=[0,30,50,65,120]) → age groups. Can expose non-monotonic relationships (U-shaped: very low and very high BMI are both risky).</a:t>
            </a:r>
            <a:endParaRPr lang="en-US" sz="850" dirty="0"/>
          </a:p>
        </p:txBody>
      </p:sp>
      <p:sp>
        <p:nvSpPr>
          <p:cNvPr id="32" name="Text 30"/>
          <p:cNvSpPr/>
          <p:nvPr/>
        </p:nvSpPr>
        <p:spPr>
          <a:xfrm>
            <a:off x="365760" y="4507992"/>
            <a:ext cx="1417320" cy="182880"/>
          </a:xfrm>
          <a:prstGeom prst="rect">
            <a:avLst/>
          </a:prstGeom>
          <a:noFill/>
          <a:ln/>
        </p:spPr>
        <p:txBody>
          <a:bodyPr wrap="square" lIns="0" tIns="0" rIns="0" bIns="0" rtlCol="0" anchor="ctr">
            <a:normAutofit/>
          </a:bodyPr>
          <a:lstStyle/>
          <a:p>
            <a:pPr indent="0" marL="0">
              <a:buNone/>
            </a:pPr>
            <a:r>
              <a:rPr lang="en-US" sz="900" b="1" dirty="0">
                <a:solidFill>
                  <a:srgbClr val="0891B2"/>
                </a:solidFill>
                <a:latin typeface="Calibri" pitchFamily="34" charset="0"/>
                <a:ea typeface="Calibri" pitchFamily="34" charset="-122"/>
                <a:cs typeface="Calibri" pitchFamily="34" charset="-120"/>
              </a:rPr>
              <a:t>Ratio Features:</a:t>
            </a:r>
            <a:endParaRPr lang="en-US" sz="900" dirty="0"/>
          </a:p>
        </p:txBody>
      </p:sp>
      <p:sp>
        <p:nvSpPr>
          <p:cNvPr id="33" name="Text 31"/>
          <p:cNvSpPr/>
          <p:nvPr/>
        </p:nvSpPr>
        <p:spPr>
          <a:xfrm>
            <a:off x="365760" y="4690872"/>
            <a:ext cx="4005072" cy="292608"/>
          </a:xfrm>
          <a:prstGeom prst="rect">
            <a:avLst/>
          </a:prstGeom>
          <a:noFill/>
          <a:ln/>
        </p:spPr>
        <p:txBody>
          <a:bodyPr wrap="square" lIns="0" tIns="0" rIns="0" bIns="0" rtlCol="0" anchor="ctr">
            <a:normAutofit/>
          </a:bodyPr>
          <a:lstStyle/>
          <a:p>
            <a:pPr indent="0" marL="0">
              <a:buNone/>
            </a:pPr>
            <a:r>
              <a:rPr lang="en-US" sz="850" dirty="0">
                <a:solidFill>
                  <a:srgbClr val="1E293B"/>
                </a:solidFill>
                <a:latin typeface="Calibri" pitchFamily="34" charset="0"/>
                <a:ea typeface="Calibri" pitchFamily="34" charset="-122"/>
                <a:cs typeface="Calibri" pitchFamily="34" charset="-120"/>
              </a:rPr>
              <a:t>cost_per_day = cost_usd/los_days. score_improvement = discharge_score - admission_score. Normalises for different patient lengths of stay.</a:t>
            </a:r>
            <a:endParaRPr lang="en-US" sz="850" dirty="0"/>
          </a:p>
        </p:txBody>
      </p:sp>
      <p:sp>
        <p:nvSpPr>
          <p:cNvPr id="34" name="Shape 32"/>
          <p:cNvSpPr/>
          <p:nvPr/>
        </p:nvSpPr>
        <p:spPr>
          <a:xfrm>
            <a:off x="4718304" y="3063240"/>
            <a:ext cx="4224528" cy="2011680"/>
          </a:xfrm>
          <a:prstGeom prst="rect">
            <a:avLst/>
          </a:prstGeom>
          <a:solidFill>
            <a:srgbClr val="FFFFFF"/>
          </a:solidFill>
          <a:ln w="10160">
            <a:solidFill>
              <a:srgbClr val="E2E8F0"/>
            </a:solidFill>
            <a:prstDash val="solid"/>
          </a:ln>
          <a:effectLst>
            <a:outerShdw sx="100000" sy="100000" kx="0" ky="0" algn="bl" rotWithShape="0" blurRad="101600" dist="38100" dir="8100000">
              <a:srgbClr val="000000">
                <a:alpha val="10000"/>
              </a:srgbClr>
            </a:outerShdw>
          </a:effectLst>
        </p:spPr>
      </p:sp>
      <p:sp>
        <p:nvSpPr>
          <p:cNvPr id="35" name="Shape 33"/>
          <p:cNvSpPr/>
          <p:nvPr/>
        </p:nvSpPr>
        <p:spPr>
          <a:xfrm>
            <a:off x="4718304" y="3063240"/>
            <a:ext cx="4224528" cy="365760"/>
          </a:xfrm>
          <a:prstGeom prst="rect">
            <a:avLst/>
          </a:prstGeom>
          <a:solidFill>
            <a:srgbClr val="DC2626"/>
          </a:solidFill>
          <a:ln w="12700">
            <a:solidFill>
              <a:srgbClr val="DC2626">
                <a:alpha val="0"/>
              </a:srgbClr>
            </a:solidFill>
            <a:prstDash val="solid"/>
          </a:ln>
        </p:spPr>
      </p:sp>
      <p:sp>
        <p:nvSpPr>
          <p:cNvPr id="36" name="Text 34"/>
          <p:cNvSpPr/>
          <p:nvPr/>
        </p:nvSpPr>
        <p:spPr>
          <a:xfrm>
            <a:off x="4809744" y="3063240"/>
            <a:ext cx="4041648" cy="365760"/>
          </a:xfrm>
          <a:prstGeom prst="rect">
            <a:avLst/>
          </a:prstGeom>
          <a:noFill/>
          <a:ln/>
        </p:spPr>
        <p:txBody>
          <a:bodyPr wrap="square" lIns="0" tIns="0" rIns="0" bIns="0" rtlCol="0" anchor="ctr">
            <a:normAutofit/>
          </a:bodyPr>
          <a:lstStyle/>
          <a:p>
            <a:pPr indent="0" marL="0">
              <a:buNone/>
            </a:pPr>
            <a:r>
              <a:rPr lang="en-US" sz="1050" b="1" dirty="0">
                <a:solidFill>
                  <a:srgbClr val="FFFFFF"/>
                </a:solidFill>
                <a:latin typeface="Calibri" pitchFamily="34" charset="0"/>
                <a:ea typeface="Calibri" pitchFamily="34" charset="-122"/>
                <a:cs typeface="Calibri" pitchFamily="34" charset="-120"/>
              </a:rPr>
              <a:t>Feature Leakage — The Silent Error</a:t>
            </a:r>
            <a:endParaRPr lang="en-US" sz="1050" dirty="0"/>
          </a:p>
        </p:txBody>
      </p:sp>
      <p:sp>
        <p:nvSpPr>
          <p:cNvPr id="37" name="Text 35"/>
          <p:cNvSpPr/>
          <p:nvPr/>
        </p:nvSpPr>
        <p:spPr>
          <a:xfrm>
            <a:off x="4828032" y="3483864"/>
            <a:ext cx="1417320" cy="182880"/>
          </a:xfrm>
          <a:prstGeom prst="rect">
            <a:avLst/>
          </a:prstGeom>
          <a:noFill/>
          <a:ln/>
        </p:spPr>
        <p:txBody>
          <a:bodyPr wrap="square" lIns="0" tIns="0" rIns="0" bIns="0" rtlCol="0" anchor="ctr">
            <a:normAutofit/>
          </a:bodyPr>
          <a:lstStyle/>
          <a:p>
            <a:pPr indent="0" marL="0">
              <a:buNone/>
            </a:pPr>
            <a:r>
              <a:rPr lang="en-US" sz="900" b="1" dirty="0">
                <a:solidFill>
                  <a:srgbClr val="DC2626"/>
                </a:solidFill>
                <a:latin typeface="Calibri" pitchFamily="34" charset="0"/>
                <a:ea typeface="Calibri" pitchFamily="34" charset="-122"/>
                <a:cs typeface="Calibri" pitchFamily="34" charset="-120"/>
              </a:rPr>
              <a:t>What it is:</a:t>
            </a:r>
            <a:endParaRPr lang="en-US" sz="900" dirty="0"/>
          </a:p>
        </p:txBody>
      </p:sp>
      <p:sp>
        <p:nvSpPr>
          <p:cNvPr id="38" name="Text 36"/>
          <p:cNvSpPr/>
          <p:nvPr/>
        </p:nvSpPr>
        <p:spPr>
          <a:xfrm>
            <a:off x="4828032" y="3666744"/>
            <a:ext cx="4005072" cy="292608"/>
          </a:xfrm>
          <a:prstGeom prst="rect">
            <a:avLst/>
          </a:prstGeom>
          <a:noFill/>
          <a:ln/>
        </p:spPr>
        <p:txBody>
          <a:bodyPr wrap="square" lIns="0" tIns="0" rIns="0" bIns="0" rtlCol="0" anchor="ctr">
            <a:normAutofit/>
          </a:bodyPr>
          <a:lstStyle/>
          <a:p>
            <a:pPr indent="0" marL="0">
              <a:buNone/>
            </a:pPr>
            <a:r>
              <a:rPr lang="en-US" sz="850" dirty="0">
                <a:solidFill>
                  <a:srgbClr val="1E293B"/>
                </a:solidFill>
                <a:latin typeface="Calibri" pitchFamily="34" charset="0"/>
                <a:ea typeface="Calibri" pitchFamily="34" charset="-122"/>
                <a:cs typeface="Calibri" pitchFamily="34" charset="-120"/>
              </a:rPr>
              <a:t>Including information in features that would not be available at prediction time. If you predict 30-day readmission using discharge_score — you have the discharge score BEFORE the patient leaves, but it's set AT discharge. Check: 'would I have this feature when the model runs?'</a:t>
            </a:r>
            <a:endParaRPr lang="en-US" sz="850" dirty="0"/>
          </a:p>
        </p:txBody>
      </p:sp>
      <p:sp>
        <p:nvSpPr>
          <p:cNvPr id="39" name="Text 37"/>
          <p:cNvSpPr/>
          <p:nvPr/>
        </p:nvSpPr>
        <p:spPr>
          <a:xfrm>
            <a:off x="4828032" y="3995928"/>
            <a:ext cx="1417320" cy="182880"/>
          </a:xfrm>
          <a:prstGeom prst="rect">
            <a:avLst/>
          </a:prstGeom>
          <a:noFill/>
          <a:ln/>
        </p:spPr>
        <p:txBody>
          <a:bodyPr wrap="square" lIns="0" tIns="0" rIns="0" bIns="0" rtlCol="0" anchor="ctr">
            <a:normAutofit/>
          </a:bodyPr>
          <a:lstStyle/>
          <a:p>
            <a:pPr indent="0" marL="0">
              <a:buNone/>
            </a:pPr>
            <a:r>
              <a:rPr lang="en-US" sz="900" b="1" dirty="0">
                <a:solidFill>
                  <a:srgbClr val="DC2626"/>
                </a:solidFill>
                <a:latin typeface="Calibri" pitchFamily="34" charset="0"/>
                <a:ea typeface="Calibri" pitchFamily="34" charset="-122"/>
                <a:cs typeface="Calibri" pitchFamily="34" charset="-120"/>
              </a:rPr>
              <a:t>Temporal leakage:</a:t>
            </a:r>
            <a:endParaRPr lang="en-US" sz="900" dirty="0"/>
          </a:p>
        </p:txBody>
      </p:sp>
      <p:sp>
        <p:nvSpPr>
          <p:cNvPr id="40" name="Text 38"/>
          <p:cNvSpPr/>
          <p:nvPr/>
        </p:nvSpPr>
        <p:spPr>
          <a:xfrm>
            <a:off x="4828032" y="4178808"/>
            <a:ext cx="4005072" cy="292608"/>
          </a:xfrm>
          <a:prstGeom prst="rect">
            <a:avLst/>
          </a:prstGeom>
          <a:noFill/>
          <a:ln/>
        </p:spPr>
        <p:txBody>
          <a:bodyPr wrap="square" lIns="0" tIns="0" rIns="0" bIns="0" rtlCol="0" anchor="ctr">
            <a:normAutofit/>
          </a:bodyPr>
          <a:lstStyle/>
          <a:p>
            <a:pPr indent="0" marL="0">
              <a:buNone/>
            </a:pPr>
            <a:r>
              <a:rPr lang="en-US" sz="850" dirty="0">
                <a:solidFill>
                  <a:srgbClr val="1E293B"/>
                </a:solidFill>
                <a:latin typeface="Calibri" pitchFamily="34" charset="0"/>
                <a:ea typeface="Calibri" pitchFamily="34" charset="-122"/>
                <a:cs typeface="Calibri" pitchFamily="34" charset="-120"/>
              </a:rPr>
              <a:t>Training on future data that predicts past events. Always ensure temporal ordering: train on month 1-9, test on month 10-12 for time series problems.</a:t>
            </a:r>
            <a:endParaRPr lang="en-US" sz="850" dirty="0"/>
          </a:p>
        </p:txBody>
      </p:sp>
      <p:sp>
        <p:nvSpPr>
          <p:cNvPr id="41" name="Text 39"/>
          <p:cNvSpPr/>
          <p:nvPr/>
        </p:nvSpPr>
        <p:spPr>
          <a:xfrm>
            <a:off x="4828032" y="4507992"/>
            <a:ext cx="1417320" cy="182880"/>
          </a:xfrm>
          <a:prstGeom prst="rect">
            <a:avLst/>
          </a:prstGeom>
          <a:noFill/>
          <a:ln/>
        </p:spPr>
        <p:txBody>
          <a:bodyPr wrap="square" lIns="0" tIns="0" rIns="0" bIns="0" rtlCol="0" anchor="ctr">
            <a:normAutofit/>
          </a:bodyPr>
          <a:lstStyle/>
          <a:p>
            <a:pPr indent="0" marL="0">
              <a:buNone/>
            </a:pPr>
            <a:r>
              <a:rPr lang="en-US" sz="900" b="1" dirty="0">
                <a:solidFill>
                  <a:srgbClr val="DC2626"/>
                </a:solidFill>
                <a:latin typeface="Calibri" pitchFamily="34" charset="0"/>
                <a:ea typeface="Calibri" pitchFamily="34" charset="-122"/>
                <a:cs typeface="Calibri" pitchFamily="34" charset="-120"/>
              </a:rPr>
              <a:t>Target leakage:</a:t>
            </a:r>
            <a:endParaRPr lang="en-US" sz="900" dirty="0"/>
          </a:p>
        </p:txBody>
      </p:sp>
      <p:sp>
        <p:nvSpPr>
          <p:cNvPr id="42" name="Text 40"/>
          <p:cNvSpPr/>
          <p:nvPr/>
        </p:nvSpPr>
        <p:spPr>
          <a:xfrm>
            <a:off x="4828032" y="4690872"/>
            <a:ext cx="4005072" cy="292608"/>
          </a:xfrm>
          <a:prstGeom prst="rect">
            <a:avLst/>
          </a:prstGeom>
          <a:noFill/>
          <a:ln/>
        </p:spPr>
        <p:txBody>
          <a:bodyPr wrap="square" lIns="0" tIns="0" rIns="0" bIns="0" rtlCol="0" anchor="ctr">
            <a:normAutofit/>
          </a:bodyPr>
          <a:lstStyle/>
          <a:p>
            <a:pPr indent="0" marL="0">
              <a:buNone/>
            </a:pPr>
            <a:r>
              <a:rPr lang="en-US" sz="850" dirty="0">
                <a:solidFill>
                  <a:srgbClr val="1E293B"/>
                </a:solidFill>
                <a:latin typeface="Calibri" pitchFamily="34" charset="0"/>
                <a:ea typeface="Calibri" pitchFamily="34" charset="-122"/>
                <a:cs typeface="Calibri" pitchFamily="34" charset="-120"/>
              </a:rPr>
              <a:t>Features computed from the target. icd_code='E11' (diabetes diagnosis code) perfectly predicts 'diabetic=1' — but only because it's the same information.</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9F0"/>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9F1239"/>
          </a:solidFill>
          <a:ln w="12700">
            <a:solidFill>
              <a:srgbClr val="9F1239">
                <a:alpha val="0"/>
              </a:srgbClr>
            </a:solidFill>
            <a:prstDash val="solid"/>
          </a:ln>
        </p:spPr>
      </p:sp>
      <p:sp>
        <p:nvSpPr>
          <p:cNvPr id="3" name="Text 1"/>
          <p:cNvSpPr/>
          <p:nvPr/>
        </p:nvSpPr>
        <p:spPr>
          <a:xfrm>
            <a:off x="347472" y="0"/>
            <a:ext cx="8458200" cy="640080"/>
          </a:xfrm>
          <a:prstGeom prst="rect">
            <a:avLst/>
          </a:prstGeom>
          <a:noFill/>
          <a:ln/>
        </p:spPr>
        <p:txBody>
          <a:bodyPr wrap="square" lIns="0" tIns="0" rIns="0" bIns="0" rtlCol="0" anchor="ctr">
            <a:normAutofit/>
          </a:bodyPr>
          <a:lstStyle/>
          <a:p>
            <a:pPr indent="0" marL="0">
              <a:buNone/>
            </a:pPr>
            <a:r>
              <a:rPr lang="en-US" sz="1400" b="1" spc="100" kern="0" dirty="0">
                <a:solidFill>
                  <a:srgbClr val="FFFFFF"/>
                </a:solidFill>
                <a:latin typeface="Calibri" pitchFamily="34" charset="0"/>
                <a:ea typeface="Calibri" pitchFamily="34" charset="-122"/>
                <a:cs typeface="Calibri" pitchFamily="34" charset="-120"/>
              </a:rPr>
              <a:t>ADVANCED EVALUATION — THEORY  (25 MIN)</a:t>
            </a:r>
            <a:endParaRPr lang="en-US" sz="1400" dirty="0"/>
          </a:p>
        </p:txBody>
      </p:sp>
      <p:sp>
        <p:nvSpPr>
          <p:cNvPr id="4" name="Shape 2"/>
          <p:cNvSpPr/>
          <p:nvPr/>
        </p:nvSpPr>
        <p:spPr>
          <a:xfrm>
            <a:off x="8229600" y="658368"/>
            <a:ext cx="1234440" cy="256032"/>
          </a:xfrm>
          <a:prstGeom prst="rect">
            <a:avLst/>
          </a:prstGeom>
          <a:solidFill>
            <a:srgbClr val="9F1239"/>
          </a:solidFill>
          <a:ln w="12700">
            <a:solidFill>
              <a:srgbClr val="9F1239">
                <a:alpha val="0"/>
              </a:srgbClr>
            </a:solidFill>
            <a:prstDash val="solid"/>
          </a:ln>
        </p:spPr>
      </p:sp>
      <p:sp>
        <p:nvSpPr>
          <p:cNvPr id="5" name="Text 3"/>
          <p:cNvSpPr/>
          <p:nvPr/>
        </p:nvSpPr>
        <p:spPr>
          <a:xfrm>
            <a:off x="8229600" y="658368"/>
            <a:ext cx="1234440" cy="256032"/>
          </a:xfrm>
          <a:prstGeom prst="rect">
            <a:avLst/>
          </a:prstGeom>
          <a:noFill/>
          <a:ln/>
        </p:spPr>
        <p:txBody>
          <a:bodyPr wrap="square" lIns="0" tIns="0" rIns="0" bIns="0" rtlCol="0" anchor="ctr">
            <a:normAutofit/>
          </a:bodyPr>
          <a:lstStyle/>
          <a:p>
            <a:pPr algn="ctr" indent="0" marL="0">
              <a:buNone/>
            </a:pPr>
            <a:r>
              <a:rPr lang="en-US" sz="800" b="1" dirty="0">
                <a:solidFill>
                  <a:srgbClr val="FFFFFF"/>
                </a:solidFill>
                <a:latin typeface="Calibri" pitchFamily="34" charset="0"/>
                <a:ea typeface="Calibri" pitchFamily="34" charset="-122"/>
                <a:cs typeface="Calibri" pitchFamily="34" charset="-120"/>
              </a:rPr>
              <a:t>THEORY</a:t>
            </a:r>
            <a:endParaRPr lang="en-US" sz="800" dirty="0"/>
          </a:p>
        </p:txBody>
      </p:sp>
      <p:sp>
        <p:nvSpPr>
          <p:cNvPr id="6" name="Text 4"/>
          <p:cNvSpPr/>
          <p:nvPr/>
        </p:nvSpPr>
        <p:spPr>
          <a:xfrm>
            <a:off x="347472" y="667512"/>
            <a:ext cx="8458200" cy="256032"/>
          </a:xfrm>
          <a:prstGeom prst="rect">
            <a:avLst/>
          </a:prstGeom>
          <a:noFill/>
          <a:ln/>
        </p:spPr>
        <p:txBody>
          <a:bodyPr wrap="square" lIns="0" tIns="0" rIns="0" bIns="0" rtlCol="0" anchor="ctr">
            <a:normAutofit/>
          </a:bodyPr>
          <a:lstStyle/>
          <a:p>
            <a:pPr indent="0" marL="0">
              <a:buNone/>
            </a:pPr>
            <a:r>
              <a:rPr lang="en-US" sz="1000" i="1" dirty="0">
                <a:solidFill>
                  <a:srgbClr val="64748B"/>
                </a:solidFill>
                <a:latin typeface="Calibri" pitchFamily="34" charset="0"/>
                <a:ea typeface="Calibri" pitchFamily="34" charset="-122"/>
                <a:cs typeface="Calibri" pitchFamily="34" charset="-120"/>
              </a:rPr>
              <a:t>Knowing WHICH metric to optimise and how to read evaluation curves separates data engineers from ML engineers</a:t>
            </a:r>
            <a:endParaRPr lang="en-US" sz="1000" dirty="0"/>
          </a:p>
        </p:txBody>
      </p:sp>
      <p:sp>
        <p:nvSpPr>
          <p:cNvPr id="7" name="Text 5"/>
          <p:cNvSpPr/>
          <p:nvPr/>
        </p:nvSpPr>
        <p:spPr>
          <a:xfrm>
            <a:off x="256032" y="960120"/>
            <a:ext cx="8631936" cy="237744"/>
          </a:xfrm>
          <a:prstGeom prst="rect">
            <a:avLst/>
          </a:prstGeom>
          <a:noFill/>
          <a:ln/>
        </p:spPr>
        <p:txBody>
          <a:bodyPr wrap="square" lIns="0" tIns="0" rIns="0" bIns="0" rtlCol="0" anchor="ctr">
            <a:normAutofit/>
          </a:bodyPr>
          <a:lstStyle/>
          <a:p>
            <a:pPr indent="0" marL="0">
              <a:buNone/>
            </a:pPr>
            <a:r>
              <a:rPr lang="en-US" sz="1100" b="1" dirty="0">
                <a:solidFill>
                  <a:srgbClr val="0D1B3E"/>
                </a:solidFill>
                <a:latin typeface="Calibri" pitchFamily="34" charset="0"/>
                <a:ea typeface="Calibri" pitchFamily="34" charset="-122"/>
                <a:cs typeface="Calibri" pitchFamily="34" charset="-120"/>
              </a:rPr>
              <a:t>ROC Curve vs Precision-Recall Curve — When to use which:</a:t>
            </a:r>
            <a:endParaRPr lang="en-US" sz="1100" dirty="0"/>
          </a:p>
        </p:txBody>
      </p:sp>
      <p:sp>
        <p:nvSpPr>
          <p:cNvPr id="8" name="Shape 6"/>
          <p:cNvSpPr/>
          <p:nvPr/>
        </p:nvSpPr>
        <p:spPr>
          <a:xfrm>
            <a:off x="256032" y="1243584"/>
            <a:ext cx="2816352" cy="3419856"/>
          </a:xfrm>
          <a:prstGeom prst="rect">
            <a:avLst/>
          </a:prstGeom>
          <a:solidFill>
            <a:srgbClr val="FFFFFF"/>
          </a:solidFill>
          <a:ln w="12700">
            <a:solidFill>
              <a:srgbClr val="0D1B3E"/>
            </a:solidFill>
            <a:prstDash val="solid"/>
          </a:ln>
          <a:effectLst>
            <a:outerShdw sx="100000" sy="100000" kx="0" ky="0" algn="bl" rotWithShape="0" blurRad="101600" dist="38100" dir="8100000">
              <a:srgbClr val="000000">
                <a:alpha val="10000"/>
              </a:srgbClr>
            </a:outerShdw>
          </a:effectLst>
        </p:spPr>
      </p:sp>
      <p:sp>
        <p:nvSpPr>
          <p:cNvPr id="9" name="Shape 7"/>
          <p:cNvSpPr/>
          <p:nvPr/>
        </p:nvSpPr>
        <p:spPr>
          <a:xfrm>
            <a:off x="256032" y="1243584"/>
            <a:ext cx="2816352" cy="402336"/>
          </a:xfrm>
          <a:prstGeom prst="rect">
            <a:avLst/>
          </a:prstGeom>
          <a:solidFill>
            <a:srgbClr val="0D1B3E"/>
          </a:solidFill>
          <a:ln w="12700">
            <a:solidFill>
              <a:srgbClr val="0D1B3E">
                <a:alpha val="0"/>
              </a:srgbClr>
            </a:solidFill>
            <a:prstDash val="solid"/>
          </a:ln>
        </p:spPr>
      </p:sp>
      <p:sp>
        <p:nvSpPr>
          <p:cNvPr id="10" name="Text 8"/>
          <p:cNvSpPr/>
          <p:nvPr/>
        </p:nvSpPr>
        <p:spPr>
          <a:xfrm>
            <a:off x="347472" y="1243584"/>
            <a:ext cx="2633472" cy="402336"/>
          </a:xfrm>
          <a:prstGeom prst="rect">
            <a:avLst/>
          </a:prstGeom>
          <a:noFill/>
          <a:ln/>
        </p:spPr>
        <p:txBody>
          <a:bodyPr wrap="square" lIns="0" tIns="0" rIns="0" bIns="0" rtlCol="0" anchor="ctr">
            <a:normAutofit/>
          </a:bodyPr>
          <a:lstStyle/>
          <a:p>
            <a:pPr indent="0" marL="0">
              <a:buNone/>
            </a:pPr>
            <a:r>
              <a:rPr lang="en-US" sz="1000" b="1" dirty="0">
                <a:solidFill>
                  <a:srgbClr val="FFFFFF"/>
                </a:solidFill>
                <a:latin typeface="Calibri" pitchFamily="34" charset="0"/>
                <a:ea typeface="Calibri" pitchFamily="34" charset="-122"/>
                <a:cs typeface="Calibri" pitchFamily="34" charset="-120"/>
              </a:rPr>
              <a:t>ROC Curve (Receiver Operating Characteristic)</a:t>
            </a:r>
            <a:endParaRPr lang="en-US" sz="1000" dirty="0"/>
          </a:p>
        </p:txBody>
      </p:sp>
      <p:sp>
        <p:nvSpPr>
          <p:cNvPr id="11" name="Text 9"/>
          <p:cNvSpPr/>
          <p:nvPr/>
        </p:nvSpPr>
        <p:spPr>
          <a:xfrm>
            <a:off x="365760" y="1700784"/>
            <a:ext cx="2596896" cy="2907792"/>
          </a:xfrm>
          <a:prstGeom prst="rect">
            <a:avLst/>
          </a:prstGeom>
          <a:noFill/>
          <a:ln/>
        </p:spPr>
        <p:txBody>
          <a:bodyPr wrap="square" lIns="0" tIns="0" rIns="0" bIns="0" rtlCol="0" anchor="ctr">
            <a:normAutofit/>
          </a:bodyPr>
          <a:lstStyle/>
          <a:p>
            <a:pPr indent="0" marL="0">
              <a:buNone/>
            </a:pPr>
            <a:r>
              <a:rPr lang="en-US" sz="920" dirty="0">
                <a:solidFill>
                  <a:srgbClr val="1E293B"/>
                </a:solidFill>
                <a:latin typeface="Calibri" pitchFamily="34" charset="0"/>
                <a:ea typeface="Calibri" pitchFamily="34" charset="-122"/>
                <a:cs typeface="Calibri" pitchFamily="34" charset="-120"/>
              </a:rPr>
              <a:t>X-axis: False Positive Rate (FPR = FP/N). Y-axis: True Positive Rate (Recall = TP/P).</a:t>
            </a:r>
            <a:endParaRPr lang="en-US" sz="920" dirty="0"/>
          </a:p>
          <a:p>
            <a:pPr indent="0" marL="0">
              <a:buNone/>
            </a:pPr>
            <a:endParaRPr lang="en-US" sz="920" dirty="0"/>
          </a:p>
          <a:p>
            <a:pPr indent="0" marL="0">
              <a:buNone/>
            </a:pPr>
            <a:r>
              <a:rPr lang="en-US" sz="920" dirty="0">
                <a:solidFill>
                  <a:srgbClr val="1E293B"/>
                </a:solidFill>
                <a:latin typeface="Calibri" pitchFamily="34" charset="0"/>
                <a:ea typeface="Calibri" pitchFamily="34" charset="-122"/>
                <a:cs typeface="Calibri" pitchFamily="34" charset="-120"/>
              </a:rPr>
              <a:t>Each point = one classification threshold. AUC = area under curve. AUC=0.5 → random. AUC=1.0 → perfect.</a:t>
            </a:r>
            <a:endParaRPr lang="en-US" sz="920" dirty="0"/>
          </a:p>
          <a:p>
            <a:pPr indent="0" marL="0">
              <a:buNone/>
            </a:pPr>
            <a:endParaRPr lang="en-US" sz="920" dirty="0"/>
          </a:p>
          <a:p>
            <a:pPr indent="0" marL="0">
              <a:buNone/>
            </a:pPr>
            <a:r>
              <a:rPr lang="en-US" sz="920" dirty="0">
                <a:solidFill>
                  <a:srgbClr val="1E293B"/>
                </a:solidFill>
                <a:latin typeface="Calibri" pitchFamily="34" charset="0"/>
                <a:ea typeface="Calibri" pitchFamily="34" charset="-122"/>
                <a:cs typeface="Calibri" pitchFamily="34" charset="-120"/>
              </a:rPr>
              <a:t>USE WHEN: classes are roughly balanced. The curve tells you: 'for a given false alarm rate, what's my detection rate?'</a:t>
            </a:r>
            <a:endParaRPr lang="en-US" sz="920" dirty="0"/>
          </a:p>
          <a:p>
            <a:pPr indent="0" marL="0">
              <a:buNone/>
            </a:pPr>
            <a:endParaRPr lang="en-US" sz="920" dirty="0"/>
          </a:p>
          <a:p>
            <a:pPr indent="0" marL="0">
              <a:buNone/>
            </a:pPr>
            <a:r>
              <a:rPr lang="en-US" sz="920" dirty="0">
                <a:solidFill>
                  <a:srgbClr val="1E293B"/>
                </a:solidFill>
                <a:latin typeface="Calibri" pitchFamily="34" charset="0"/>
                <a:ea typeface="Calibri" pitchFamily="34" charset="-122"/>
                <a:cs typeface="Calibri" pitchFamily="34" charset="-120"/>
              </a:rPr>
              <a:t>HEALTHCARE: 'If I'm willing to flag 20% of healthy patients for follow-up, what % of at-risk patients do I catch?'</a:t>
            </a:r>
            <a:endParaRPr lang="en-US" sz="920" dirty="0"/>
          </a:p>
        </p:txBody>
      </p:sp>
      <p:sp>
        <p:nvSpPr>
          <p:cNvPr id="12" name="Shape 10"/>
          <p:cNvSpPr/>
          <p:nvPr/>
        </p:nvSpPr>
        <p:spPr>
          <a:xfrm>
            <a:off x="3200400" y="1243584"/>
            <a:ext cx="2816352" cy="3419856"/>
          </a:xfrm>
          <a:prstGeom prst="rect">
            <a:avLst/>
          </a:prstGeom>
          <a:solidFill>
            <a:srgbClr val="FFFFFF"/>
          </a:solidFill>
          <a:ln w="12700">
            <a:solidFill>
              <a:srgbClr val="9F1239"/>
            </a:solidFill>
            <a:prstDash val="solid"/>
          </a:ln>
          <a:effectLst>
            <a:outerShdw sx="100000" sy="100000" kx="0" ky="0" algn="bl" rotWithShape="0" blurRad="101600" dist="38100" dir="8100000">
              <a:srgbClr val="000000">
                <a:alpha val="10000"/>
              </a:srgbClr>
            </a:outerShdw>
          </a:effectLst>
        </p:spPr>
      </p:sp>
      <p:sp>
        <p:nvSpPr>
          <p:cNvPr id="13" name="Shape 11"/>
          <p:cNvSpPr/>
          <p:nvPr/>
        </p:nvSpPr>
        <p:spPr>
          <a:xfrm>
            <a:off x="3200400" y="1243584"/>
            <a:ext cx="2816352" cy="402336"/>
          </a:xfrm>
          <a:prstGeom prst="rect">
            <a:avLst/>
          </a:prstGeom>
          <a:solidFill>
            <a:srgbClr val="9F1239"/>
          </a:solidFill>
          <a:ln w="12700">
            <a:solidFill>
              <a:srgbClr val="9F1239">
                <a:alpha val="0"/>
              </a:srgbClr>
            </a:solidFill>
            <a:prstDash val="solid"/>
          </a:ln>
        </p:spPr>
      </p:sp>
      <p:sp>
        <p:nvSpPr>
          <p:cNvPr id="14" name="Text 12"/>
          <p:cNvSpPr/>
          <p:nvPr/>
        </p:nvSpPr>
        <p:spPr>
          <a:xfrm>
            <a:off x="3291840" y="1243584"/>
            <a:ext cx="2633472" cy="402336"/>
          </a:xfrm>
          <a:prstGeom prst="rect">
            <a:avLst/>
          </a:prstGeom>
          <a:noFill/>
          <a:ln/>
        </p:spPr>
        <p:txBody>
          <a:bodyPr wrap="square" lIns="0" tIns="0" rIns="0" bIns="0" rtlCol="0" anchor="ctr">
            <a:normAutofit/>
          </a:bodyPr>
          <a:lstStyle/>
          <a:p>
            <a:pPr indent="0" marL="0">
              <a:buNone/>
            </a:pPr>
            <a:r>
              <a:rPr lang="en-US" sz="1000" b="1" dirty="0">
                <a:solidFill>
                  <a:srgbClr val="FFFFFF"/>
                </a:solidFill>
                <a:latin typeface="Calibri" pitchFamily="34" charset="0"/>
                <a:ea typeface="Calibri" pitchFamily="34" charset="-122"/>
                <a:cs typeface="Calibri" pitchFamily="34" charset="-120"/>
              </a:rPr>
              <a:t>Precision-Recall Curve</a:t>
            </a:r>
            <a:endParaRPr lang="en-US" sz="1000" dirty="0"/>
          </a:p>
        </p:txBody>
      </p:sp>
      <p:sp>
        <p:nvSpPr>
          <p:cNvPr id="15" name="Text 13"/>
          <p:cNvSpPr/>
          <p:nvPr/>
        </p:nvSpPr>
        <p:spPr>
          <a:xfrm>
            <a:off x="3310128" y="1700784"/>
            <a:ext cx="2596896" cy="2907792"/>
          </a:xfrm>
          <a:prstGeom prst="rect">
            <a:avLst/>
          </a:prstGeom>
          <a:noFill/>
          <a:ln/>
        </p:spPr>
        <p:txBody>
          <a:bodyPr wrap="square" lIns="0" tIns="0" rIns="0" bIns="0" rtlCol="0" anchor="ctr">
            <a:normAutofit/>
          </a:bodyPr>
          <a:lstStyle/>
          <a:p>
            <a:pPr indent="0" marL="0">
              <a:buNone/>
            </a:pPr>
            <a:r>
              <a:rPr lang="en-US" sz="920" dirty="0">
                <a:solidFill>
                  <a:srgbClr val="1E293B"/>
                </a:solidFill>
                <a:latin typeface="Calibri" pitchFamily="34" charset="0"/>
                <a:ea typeface="Calibri" pitchFamily="34" charset="-122"/>
                <a:cs typeface="Calibri" pitchFamily="34" charset="-120"/>
              </a:rPr>
              <a:t>X-axis: Recall (= Sensitivity = TP/(TP+FN)). Y-axis: Precision (= TP/(TP+FP)).</a:t>
            </a:r>
            <a:endParaRPr lang="en-US" sz="920" dirty="0"/>
          </a:p>
          <a:p>
            <a:pPr indent="0" marL="0">
              <a:buNone/>
            </a:pPr>
            <a:endParaRPr lang="en-US" sz="920" dirty="0"/>
          </a:p>
          <a:p>
            <a:pPr indent="0" marL="0">
              <a:buNone/>
            </a:pPr>
            <a:r>
              <a:rPr lang="en-US" sz="920" dirty="0">
                <a:solidFill>
                  <a:srgbClr val="1E293B"/>
                </a:solidFill>
                <a:latin typeface="Calibri" pitchFamily="34" charset="0"/>
                <a:ea typeface="Calibri" pitchFamily="34" charset="-122"/>
                <a:cs typeface="Calibri" pitchFamily="34" charset="-120"/>
              </a:rPr>
              <a:t>AP = Average Precision = area under PR curve. Baseline = prevalence of positive class.</a:t>
            </a:r>
            <a:endParaRPr lang="en-US" sz="920" dirty="0"/>
          </a:p>
          <a:p>
            <a:pPr indent="0" marL="0">
              <a:buNone/>
            </a:pPr>
            <a:endParaRPr lang="en-US" sz="920" dirty="0"/>
          </a:p>
          <a:p>
            <a:pPr indent="0" marL="0">
              <a:buNone/>
            </a:pPr>
            <a:r>
              <a:rPr lang="en-US" sz="920" dirty="0">
                <a:solidFill>
                  <a:srgbClr val="1E293B"/>
                </a:solidFill>
                <a:latin typeface="Calibri" pitchFamily="34" charset="0"/>
                <a:ea typeface="Calibri" pitchFamily="34" charset="-122"/>
                <a:cs typeface="Calibri" pitchFamily="34" charset="-120"/>
              </a:rPr>
              <a:t>USE WHEN: class imbalance is severe (readmission=22%, ICU=5%). ROC can be misleadingly optimistic with imbalanced classes.</a:t>
            </a:r>
            <a:endParaRPr lang="en-US" sz="920" dirty="0"/>
          </a:p>
          <a:p>
            <a:pPr indent="0" marL="0">
              <a:buNone/>
            </a:pPr>
            <a:endParaRPr lang="en-US" sz="920" dirty="0"/>
          </a:p>
          <a:p>
            <a:pPr indent="0" marL="0">
              <a:buNone/>
            </a:pPr>
            <a:r>
              <a:rPr lang="en-US" sz="920" dirty="0">
                <a:solidFill>
                  <a:srgbClr val="1E293B"/>
                </a:solidFill>
                <a:latin typeface="Calibri" pitchFamily="34" charset="0"/>
                <a:ea typeface="Calibri" pitchFamily="34" charset="-122"/>
                <a:cs typeface="Calibri" pitchFamily="34" charset="-120"/>
              </a:rPr>
              <a:t>HEALTHCARE: 'Of patients I flag as high-risk, how many actually get readmitted?' — This is a clinical resource question.</a:t>
            </a:r>
            <a:endParaRPr lang="en-US" sz="920" dirty="0"/>
          </a:p>
        </p:txBody>
      </p:sp>
      <p:sp>
        <p:nvSpPr>
          <p:cNvPr id="16" name="Shape 14"/>
          <p:cNvSpPr/>
          <p:nvPr/>
        </p:nvSpPr>
        <p:spPr>
          <a:xfrm>
            <a:off x="6144768" y="1243584"/>
            <a:ext cx="2816352" cy="3419856"/>
          </a:xfrm>
          <a:prstGeom prst="rect">
            <a:avLst/>
          </a:prstGeom>
          <a:solidFill>
            <a:srgbClr val="FFFFFF"/>
          </a:solidFill>
          <a:ln w="12700">
            <a:solidFill>
              <a:srgbClr val="7C3AED"/>
            </a:solidFill>
            <a:prstDash val="solid"/>
          </a:ln>
          <a:effectLst>
            <a:outerShdw sx="100000" sy="100000" kx="0" ky="0" algn="bl" rotWithShape="0" blurRad="101600" dist="38100" dir="8100000">
              <a:srgbClr val="000000">
                <a:alpha val="10000"/>
              </a:srgbClr>
            </a:outerShdw>
          </a:effectLst>
        </p:spPr>
      </p:sp>
      <p:sp>
        <p:nvSpPr>
          <p:cNvPr id="17" name="Shape 15"/>
          <p:cNvSpPr/>
          <p:nvPr/>
        </p:nvSpPr>
        <p:spPr>
          <a:xfrm>
            <a:off x="6144768" y="1243584"/>
            <a:ext cx="2816352" cy="402336"/>
          </a:xfrm>
          <a:prstGeom prst="rect">
            <a:avLst/>
          </a:prstGeom>
          <a:solidFill>
            <a:srgbClr val="7C3AED"/>
          </a:solidFill>
          <a:ln w="12700">
            <a:solidFill>
              <a:srgbClr val="7C3AED">
                <a:alpha val="0"/>
              </a:srgbClr>
            </a:solidFill>
            <a:prstDash val="solid"/>
          </a:ln>
        </p:spPr>
      </p:sp>
      <p:sp>
        <p:nvSpPr>
          <p:cNvPr id="18" name="Text 16"/>
          <p:cNvSpPr/>
          <p:nvPr/>
        </p:nvSpPr>
        <p:spPr>
          <a:xfrm>
            <a:off x="6236208" y="1243584"/>
            <a:ext cx="2633472" cy="402336"/>
          </a:xfrm>
          <a:prstGeom prst="rect">
            <a:avLst/>
          </a:prstGeom>
          <a:noFill/>
          <a:ln/>
        </p:spPr>
        <p:txBody>
          <a:bodyPr wrap="square" lIns="0" tIns="0" rIns="0" bIns="0" rtlCol="0" anchor="ctr">
            <a:normAutofit/>
          </a:bodyPr>
          <a:lstStyle/>
          <a:p>
            <a:pPr indent="0" marL="0">
              <a:buNone/>
            </a:pPr>
            <a:r>
              <a:rPr lang="en-US" sz="1000" b="1" dirty="0">
                <a:solidFill>
                  <a:srgbClr val="FFFFFF"/>
                </a:solidFill>
                <a:latin typeface="Calibri" pitchFamily="34" charset="0"/>
                <a:ea typeface="Calibri" pitchFamily="34" charset="-122"/>
                <a:cs typeface="Calibri" pitchFamily="34" charset="-120"/>
              </a:rPr>
              <a:t>Calibration — Are Probabilities Honest?</a:t>
            </a:r>
            <a:endParaRPr lang="en-US" sz="1000" dirty="0"/>
          </a:p>
        </p:txBody>
      </p:sp>
      <p:sp>
        <p:nvSpPr>
          <p:cNvPr id="19" name="Text 17"/>
          <p:cNvSpPr/>
          <p:nvPr/>
        </p:nvSpPr>
        <p:spPr>
          <a:xfrm>
            <a:off x="6254496" y="1700784"/>
            <a:ext cx="2596896" cy="2907792"/>
          </a:xfrm>
          <a:prstGeom prst="rect">
            <a:avLst/>
          </a:prstGeom>
          <a:noFill/>
          <a:ln/>
        </p:spPr>
        <p:txBody>
          <a:bodyPr wrap="square" lIns="0" tIns="0" rIns="0" bIns="0" rtlCol="0" anchor="ctr">
            <a:normAutofit/>
          </a:bodyPr>
          <a:lstStyle/>
          <a:p>
            <a:pPr indent="0" marL="0">
              <a:buNone/>
            </a:pPr>
            <a:r>
              <a:rPr lang="en-US" sz="920" dirty="0">
                <a:solidFill>
                  <a:srgbClr val="1E293B"/>
                </a:solidFill>
                <a:latin typeface="Calibri" pitchFamily="34" charset="0"/>
                <a:ea typeface="Calibri" pitchFamily="34" charset="-122"/>
                <a:cs typeface="Calibri" pitchFamily="34" charset="-120"/>
              </a:rPr>
              <a:t>A well-calibrated model: when it says P=0.7, 70% of those patients actually get readmitted.</a:t>
            </a:r>
            <a:endParaRPr lang="en-US" sz="920" dirty="0"/>
          </a:p>
          <a:p>
            <a:pPr indent="0" marL="0">
              <a:buNone/>
            </a:pPr>
            <a:endParaRPr lang="en-US" sz="920" dirty="0"/>
          </a:p>
          <a:p>
            <a:pPr indent="0" marL="0">
              <a:buNone/>
            </a:pPr>
            <a:r>
              <a:rPr lang="en-US" sz="920" dirty="0">
                <a:solidFill>
                  <a:srgbClr val="1E293B"/>
                </a:solidFill>
                <a:latin typeface="Calibri" pitchFamily="34" charset="0"/>
                <a:ea typeface="Calibri" pitchFamily="34" charset="-122"/>
                <a:cs typeface="Calibri" pitchFamily="34" charset="-120"/>
              </a:rPr>
              <a:t>Calibration curve: predicted probability (x) vs actual fraction (y). Perfect = diagonal line.</a:t>
            </a:r>
            <a:endParaRPr lang="en-US" sz="920" dirty="0"/>
          </a:p>
          <a:p>
            <a:pPr indent="0" marL="0">
              <a:buNone/>
            </a:pPr>
            <a:endParaRPr lang="en-US" sz="920" dirty="0"/>
          </a:p>
          <a:p>
            <a:pPr indent="0" marL="0">
              <a:buNone/>
            </a:pPr>
            <a:r>
              <a:rPr lang="en-US" sz="920" dirty="0">
                <a:solidFill>
                  <a:srgbClr val="1E293B"/>
                </a:solidFill>
                <a:latin typeface="Calibri" pitchFamily="34" charset="0"/>
                <a:ea typeface="Calibri" pitchFamily="34" charset="-122"/>
                <a:cs typeface="Calibri" pitchFamily="34" charset="-120"/>
              </a:rPr>
              <a:t>RF: tends to be overconfident (probabilities too extreme). XGBoost: better calibrated. LR: best calibrated.</a:t>
            </a:r>
            <a:endParaRPr lang="en-US" sz="920" dirty="0"/>
          </a:p>
          <a:p>
            <a:pPr indent="0" marL="0">
              <a:buNone/>
            </a:pPr>
            <a:endParaRPr lang="en-US" sz="920" dirty="0"/>
          </a:p>
          <a:p>
            <a:pPr indent="0" marL="0">
              <a:buNone/>
            </a:pPr>
            <a:r>
              <a:rPr lang="en-US" sz="920" dirty="0">
                <a:solidFill>
                  <a:srgbClr val="1E293B"/>
                </a:solidFill>
                <a:latin typeface="Calibri" pitchFamily="34" charset="0"/>
                <a:ea typeface="Calibri" pitchFamily="34" charset="-122"/>
                <a:cs typeface="Calibri" pitchFamily="34" charset="-120"/>
              </a:rPr>
              <a:t>FIX: CalibratedClassifierCV with method='isotonic' or 'sigmoid'. Critical for clinical decision support.</a:t>
            </a:r>
            <a:endParaRPr lang="en-US" sz="920" dirty="0"/>
          </a:p>
        </p:txBody>
      </p:sp>
      <p:sp>
        <p:nvSpPr>
          <p:cNvPr id="20" name="Text 18"/>
          <p:cNvSpPr/>
          <p:nvPr/>
        </p:nvSpPr>
        <p:spPr>
          <a:xfrm>
            <a:off x="256032" y="4617720"/>
            <a:ext cx="8631936" cy="201168"/>
          </a:xfrm>
          <a:prstGeom prst="rect">
            <a:avLst/>
          </a:prstGeom>
          <a:noFill/>
          <a:ln/>
        </p:spPr>
        <p:txBody>
          <a:bodyPr wrap="square" lIns="0" tIns="0" rIns="0" bIns="0" rtlCol="0" anchor="ctr">
            <a:normAutofit/>
          </a:bodyPr>
          <a:lstStyle/>
          <a:p>
            <a:pPr indent="0" marL="0">
              <a:buNone/>
            </a:pPr>
            <a:r>
              <a:rPr lang="en-US" sz="1000" b="1" dirty="0">
                <a:solidFill>
                  <a:srgbClr val="0D1B3E"/>
                </a:solidFill>
                <a:latin typeface="Calibri" pitchFamily="34" charset="0"/>
                <a:ea typeface="Calibri" pitchFamily="34" charset="-122"/>
                <a:cs typeface="Calibri" pitchFamily="34" charset="-120"/>
              </a:rPr>
              <a:t>Class Imbalance Strategies:</a:t>
            </a:r>
            <a:endParaRPr lang="en-US" sz="1000" dirty="0"/>
          </a:p>
        </p:txBody>
      </p:sp>
      <p:sp>
        <p:nvSpPr>
          <p:cNvPr id="21" name="Shape 19"/>
          <p:cNvSpPr/>
          <p:nvPr/>
        </p:nvSpPr>
        <p:spPr>
          <a:xfrm>
            <a:off x="256032" y="4809744"/>
            <a:ext cx="2103120" cy="219456"/>
          </a:xfrm>
          <a:prstGeom prst="rect">
            <a:avLst/>
          </a:prstGeom>
          <a:solidFill>
            <a:srgbClr val="9F1239">
              <a:alpha val="12000"/>
            </a:srgbClr>
          </a:solidFill>
          <a:ln w="12700">
            <a:solidFill>
              <a:srgbClr val="9F1239">
                <a:alpha val="0"/>
              </a:srgbClr>
            </a:solidFill>
            <a:prstDash val="solid"/>
          </a:ln>
        </p:spPr>
      </p:sp>
      <p:sp>
        <p:nvSpPr>
          <p:cNvPr id="22" name="Text 20"/>
          <p:cNvSpPr/>
          <p:nvPr/>
        </p:nvSpPr>
        <p:spPr>
          <a:xfrm>
            <a:off x="310896" y="4809744"/>
            <a:ext cx="2011680" cy="118872"/>
          </a:xfrm>
          <a:prstGeom prst="rect">
            <a:avLst/>
          </a:prstGeom>
          <a:noFill/>
          <a:ln/>
        </p:spPr>
        <p:txBody>
          <a:bodyPr wrap="square" lIns="0" tIns="0" rIns="0" bIns="0" rtlCol="0" anchor="ctr">
            <a:normAutofit/>
          </a:bodyPr>
          <a:lstStyle/>
          <a:p>
            <a:pPr indent="0" marL="0">
              <a:buNone/>
            </a:pPr>
            <a:r>
              <a:rPr lang="en-US" sz="800" b="1" dirty="0">
                <a:solidFill>
                  <a:srgbClr val="9F1239"/>
                </a:solidFill>
                <a:latin typeface="Calibri" pitchFamily="34" charset="0"/>
                <a:ea typeface="Calibri" pitchFamily="34" charset="-122"/>
                <a:cs typeface="Calibri" pitchFamily="34" charset="-120"/>
              </a:rPr>
              <a:t>class_weight='balanced'</a:t>
            </a:r>
            <a:endParaRPr lang="en-US" sz="800" dirty="0"/>
          </a:p>
        </p:txBody>
      </p:sp>
      <p:sp>
        <p:nvSpPr>
          <p:cNvPr id="23" name="Text 21"/>
          <p:cNvSpPr/>
          <p:nvPr/>
        </p:nvSpPr>
        <p:spPr>
          <a:xfrm>
            <a:off x="310896" y="4937760"/>
            <a:ext cx="2011680" cy="146304"/>
          </a:xfrm>
          <a:prstGeom prst="rect">
            <a:avLst/>
          </a:prstGeom>
          <a:noFill/>
          <a:ln/>
        </p:spPr>
        <p:txBody>
          <a:bodyPr wrap="square" lIns="0" tIns="0" rIns="0" bIns="0" rtlCol="0" anchor="ctr">
            <a:normAutofit/>
          </a:bodyPr>
          <a:lstStyle/>
          <a:p>
            <a:pPr indent="0" marL="0">
              <a:buNone/>
            </a:pPr>
            <a:r>
              <a:rPr lang="en-US" sz="780" dirty="0">
                <a:solidFill>
                  <a:srgbClr val="1E293B"/>
                </a:solidFill>
                <a:latin typeface="Calibri" pitchFamily="34" charset="0"/>
                <a:ea typeface="Calibri" pitchFamily="34" charset="-122"/>
                <a:cs typeface="Calibri" pitchFamily="34" charset="-120"/>
              </a:rPr>
              <a:t>Easiest — penalises misclassification of minority class more</a:t>
            </a:r>
            <a:endParaRPr lang="en-US" sz="780" dirty="0"/>
          </a:p>
        </p:txBody>
      </p:sp>
      <p:sp>
        <p:nvSpPr>
          <p:cNvPr id="24" name="Shape 22"/>
          <p:cNvSpPr/>
          <p:nvPr/>
        </p:nvSpPr>
        <p:spPr>
          <a:xfrm>
            <a:off x="2468880" y="4809744"/>
            <a:ext cx="2103120" cy="219456"/>
          </a:xfrm>
          <a:prstGeom prst="rect">
            <a:avLst/>
          </a:prstGeom>
          <a:solidFill>
            <a:srgbClr val="9F1239">
              <a:alpha val="12000"/>
            </a:srgbClr>
          </a:solidFill>
          <a:ln w="12700">
            <a:solidFill>
              <a:srgbClr val="9F1239">
                <a:alpha val="0"/>
              </a:srgbClr>
            </a:solidFill>
            <a:prstDash val="solid"/>
          </a:ln>
        </p:spPr>
      </p:sp>
      <p:sp>
        <p:nvSpPr>
          <p:cNvPr id="25" name="Text 23"/>
          <p:cNvSpPr/>
          <p:nvPr/>
        </p:nvSpPr>
        <p:spPr>
          <a:xfrm>
            <a:off x="2523744" y="4809744"/>
            <a:ext cx="2011680" cy="118872"/>
          </a:xfrm>
          <a:prstGeom prst="rect">
            <a:avLst/>
          </a:prstGeom>
          <a:noFill/>
          <a:ln/>
        </p:spPr>
        <p:txBody>
          <a:bodyPr wrap="square" lIns="0" tIns="0" rIns="0" bIns="0" rtlCol="0" anchor="ctr">
            <a:normAutofit/>
          </a:bodyPr>
          <a:lstStyle/>
          <a:p>
            <a:pPr indent="0" marL="0">
              <a:buNone/>
            </a:pPr>
            <a:r>
              <a:rPr lang="en-US" sz="800" b="1" dirty="0">
                <a:solidFill>
                  <a:srgbClr val="9F1239"/>
                </a:solidFill>
                <a:latin typeface="Calibri" pitchFamily="34" charset="0"/>
                <a:ea typeface="Calibri" pitchFamily="34" charset="-122"/>
                <a:cs typeface="Calibri" pitchFamily="34" charset="-120"/>
              </a:rPr>
              <a:t>scale_pos_weight (XGBoost)</a:t>
            </a:r>
            <a:endParaRPr lang="en-US" sz="800" dirty="0"/>
          </a:p>
        </p:txBody>
      </p:sp>
      <p:sp>
        <p:nvSpPr>
          <p:cNvPr id="26" name="Text 24"/>
          <p:cNvSpPr/>
          <p:nvPr/>
        </p:nvSpPr>
        <p:spPr>
          <a:xfrm>
            <a:off x="2523744" y="4937760"/>
            <a:ext cx="2011680" cy="146304"/>
          </a:xfrm>
          <a:prstGeom prst="rect">
            <a:avLst/>
          </a:prstGeom>
          <a:noFill/>
          <a:ln/>
        </p:spPr>
        <p:txBody>
          <a:bodyPr wrap="square" lIns="0" tIns="0" rIns="0" bIns="0" rtlCol="0" anchor="ctr">
            <a:normAutofit/>
          </a:bodyPr>
          <a:lstStyle/>
          <a:p>
            <a:pPr indent="0" marL="0">
              <a:buNone/>
            </a:pPr>
            <a:r>
              <a:rPr lang="en-US" sz="780" dirty="0">
                <a:solidFill>
                  <a:srgbClr val="1E293B"/>
                </a:solidFill>
                <a:latin typeface="Calibri" pitchFamily="34" charset="0"/>
                <a:ea typeface="Calibri" pitchFamily="34" charset="-122"/>
                <a:cs typeface="Calibri" pitchFamily="34" charset="-120"/>
              </a:rPr>
              <a:t>= neg_count/pos_count — same effect as class_weight for XGBoost</a:t>
            </a:r>
            <a:endParaRPr lang="en-US" sz="780" dirty="0"/>
          </a:p>
        </p:txBody>
      </p:sp>
      <p:sp>
        <p:nvSpPr>
          <p:cNvPr id="27" name="Shape 25"/>
          <p:cNvSpPr/>
          <p:nvPr/>
        </p:nvSpPr>
        <p:spPr>
          <a:xfrm>
            <a:off x="4681728" y="4809744"/>
            <a:ext cx="2103120" cy="219456"/>
          </a:xfrm>
          <a:prstGeom prst="rect">
            <a:avLst/>
          </a:prstGeom>
          <a:solidFill>
            <a:srgbClr val="9F1239">
              <a:alpha val="12000"/>
            </a:srgbClr>
          </a:solidFill>
          <a:ln w="12700">
            <a:solidFill>
              <a:srgbClr val="9F1239">
                <a:alpha val="0"/>
              </a:srgbClr>
            </a:solidFill>
            <a:prstDash val="solid"/>
          </a:ln>
        </p:spPr>
      </p:sp>
      <p:sp>
        <p:nvSpPr>
          <p:cNvPr id="28" name="Text 26"/>
          <p:cNvSpPr/>
          <p:nvPr/>
        </p:nvSpPr>
        <p:spPr>
          <a:xfrm>
            <a:off x="4736592" y="4809744"/>
            <a:ext cx="2011680" cy="118872"/>
          </a:xfrm>
          <a:prstGeom prst="rect">
            <a:avLst/>
          </a:prstGeom>
          <a:noFill/>
          <a:ln/>
        </p:spPr>
        <p:txBody>
          <a:bodyPr wrap="square" lIns="0" tIns="0" rIns="0" bIns="0" rtlCol="0" anchor="ctr">
            <a:normAutofit/>
          </a:bodyPr>
          <a:lstStyle/>
          <a:p>
            <a:pPr indent="0" marL="0">
              <a:buNone/>
            </a:pPr>
            <a:r>
              <a:rPr lang="en-US" sz="800" b="1" dirty="0">
                <a:solidFill>
                  <a:srgbClr val="9F1239"/>
                </a:solidFill>
                <a:latin typeface="Calibri" pitchFamily="34" charset="0"/>
                <a:ea typeface="Calibri" pitchFamily="34" charset="-122"/>
                <a:cs typeface="Calibri" pitchFamily="34" charset="-120"/>
              </a:rPr>
              <a:t>SMOTE (oversample)</a:t>
            </a:r>
            <a:endParaRPr lang="en-US" sz="800" dirty="0"/>
          </a:p>
        </p:txBody>
      </p:sp>
      <p:sp>
        <p:nvSpPr>
          <p:cNvPr id="29" name="Text 27"/>
          <p:cNvSpPr/>
          <p:nvPr/>
        </p:nvSpPr>
        <p:spPr>
          <a:xfrm>
            <a:off x="4736592" y="4937760"/>
            <a:ext cx="2011680" cy="146304"/>
          </a:xfrm>
          <a:prstGeom prst="rect">
            <a:avLst/>
          </a:prstGeom>
          <a:noFill/>
          <a:ln/>
        </p:spPr>
        <p:txBody>
          <a:bodyPr wrap="square" lIns="0" tIns="0" rIns="0" bIns="0" rtlCol="0" anchor="ctr">
            <a:normAutofit/>
          </a:bodyPr>
          <a:lstStyle/>
          <a:p>
            <a:pPr indent="0" marL="0">
              <a:buNone/>
            </a:pPr>
            <a:r>
              <a:rPr lang="en-US" sz="780" dirty="0">
                <a:solidFill>
                  <a:srgbClr val="1E293B"/>
                </a:solidFill>
                <a:latin typeface="Calibri" pitchFamily="34" charset="0"/>
                <a:ea typeface="Calibri" pitchFamily="34" charset="-122"/>
                <a:cs typeface="Calibri" pitchFamily="34" charset="-120"/>
              </a:rPr>
              <a:t>Synthetic Minority Oversampling — generates synthetic positive examples. Use with imbalanced-learn.</a:t>
            </a:r>
            <a:endParaRPr lang="en-US" sz="780" dirty="0"/>
          </a:p>
        </p:txBody>
      </p:sp>
      <p:sp>
        <p:nvSpPr>
          <p:cNvPr id="30" name="Shape 28"/>
          <p:cNvSpPr/>
          <p:nvPr/>
        </p:nvSpPr>
        <p:spPr>
          <a:xfrm>
            <a:off x="6894576" y="4809744"/>
            <a:ext cx="2103120" cy="219456"/>
          </a:xfrm>
          <a:prstGeom prst="rect">
            <a:avLst/>
          </a:prstGeom>
          <a:solidFill>
            <a:srgbClr val="9F1239">
              <a:alpha val="12000"/>
            </a:srgbClr>
          </a:solidFill>
          <a:ln w="12700">
            <a:solidFill>
              <a:srgbClr val="9F1239">
                <a:alpha val="0"/>
              </a:srgbClr>
            </a:solidFill>
            <a:prstDash val="solid"/>
          </a:ln>
        </p:spPr>
      </p:sp>
      <p:sp>
        <p:nvSpPr>
          <p:cNvPr id="31" name="Text 29"/>
          <p:cNvSpPr/>
          <p:nvPr/>
        </p:nvSpPr>
        <p:spPr>
          <a:xfrm>
            <a:off x="6949440" y="4809744"/>
            <a:ext cx="2011680" cy="118872"/>
          </a:xfrm>
          <a:prstGeom prst="rect">
            <a:avLst/>
          </a:prstGeom>
          <a:noFill/>
          <a:ln/>
        </p:spPr>
        <p:txBody>
          <a:bodyPr wrap="square" lIns="0" tIns="0" rIns="0" bIns="0" rtlCol="0" anchor="ctr">
            <a:normAutofit/>
          </a:bodyPr>
          <a:lstStyle/>
          <a:p>
            <a:pPr indent="0" marL="0">
              <a:buNone/>
            </a:pPr>
            <a:r>
              <a:rPr lang="en-US" sz="800" b="1" dirty="0">
                <a:solidFill>
                  <a:srgbClr val="9F1239"/>
                </a:solidFill>
                <a:latin typeface="Calibri" pitchFamily="34" charset="0"/>
                <a:ea typeface="Calibri" pitchFamily="34" charset="-122"/>
                <a:cs typeface="Calibri" pitchFamily="34" charset="-120"/>
              </a:rPr>
              <a:t>Threshold tuning</a:t>
            </a:r>
            <a:endParaRPr lang="en-US" sz="800" dirty="0"/>
          </a:p>
        </p:txBody>
      </p:sp>
      <p:sp>
        <p:nvSpPr>
          <p:cNvPr id="32" name="Text 30"/>
          <p:cNvSpPr/>
          <p:nvPr/>
        </p:nvSpPr>
        <p:spPr>
          <a:xfrm>
            <a:off x="6949440" y="4937760"/>
            <a:ext cx="2011680" cy="146304"/>
          </a:xfrm>
          <a:prstGeom prst="rect">
            <a:avLst/>
          </a:prstGeom>
          <a:noFill/>
          <a:ln/>
        </p:spPr>
        <p:txBody>
          <a:bodyPr wrap="square" lIns="0" tIns="0" rIns="0" bIns="0" rtlCol="0" anchor="ctr">
            <a:normAutofit/>
          </a:bodyPr>
          <a:lstStyle/>
          <a:p>
            <a:pPr indent="0" marL="0">
              <a:buNone/>
            </a:pPr>
            <a:r>
              <a:rPr lang="en-US" sz="780" dirty="0">
                <a:solidFill>
                  <a:srgbClr val="1E293B"/>
                </a:solidFill>
                <a:latin typeface="Calibri" pitchFamily="34" charset="0"/>
                <a:ea typeface="Calibri" pitchFamily="34" charset="-122"/>
                <a:cs typeface="Calibri" pitchFamily="34" charset="-120"/>
              </a:rPr>
              <a:t>Lower threshold from 0.5 to 0.3 → more positives flagged → higher recall. Use PR curve to pick.</a:t>
            </a:r>
            <a:endParaRPr lang="en-US" sz="78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9F0"/>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1B3E"/>
          </a:solidFill>
          <a:ln w="12700">
            <a:solidFill>
              <a:srgbClr val="0D1B3E">
                <a:alpha val="0"/>
              </a:srgbClr>
            </a:solidFill>
            <a:prstDash val="solid"/>
          </a:ln>
        </p:spPr>
      </p:sp>
      <p:sp>
        <p:nvSpPr>
          <p:cNvPr id="3" name="Text 1"/>
          <p:cNvSpPr/>
          <p:nvPr/>
        </p:nvSpPr>
        <p:spPr>
          <a:xfrm>
            <a:off x="347472" y="0"/>
            <a:ext cx="8458200" cy="640080"/>
          </a:xfrm>
          <a:prstGeom prst="rect">
            <a:avLst/>
          </a:prstGeom>
          <a:noFill/>
          <a:ln/>
        </p:spPr>
        <p:txBody>
          <a:bodyPr wrap="square" lIns="0" tIns="0" rIns="0" bIns="0" rtlCol="0" anchor="ctr">
            <a:normAutofit/>
          </a:bodyPr>
          <a:lstStyle/>
          <a:p>
            <a:pPr indent="0" marL="0">
              <a:buNone/>
            </a:pPr>
            <a:r>
              <a:rPr lang="en-US" sz="1400" b="1" spc="100" kern="0" dirty="0">
                <a:solidFill>
                  <a:srgbClr val="FFFFFF"/>
                </a:solidFill>
                <a:latin typeface="Calibri" pitchFamily="34" charset="0"/>
                <a:ea typeface="Calibri" pitchFamily="34" charset="-122"/>
                <a:cs typeface="Calibri" pitchFamily="34" charset="-120"/>
              </a:rPr>
              <a:t>RANDOM FOREST vs XGBOOST — THEORY COMPARISON  (15 MIN)</a:t>
            </a:r>
            <a:endParaRPr lang="en-US" sz="1400" dirty="0"/>
          </a:p>
        </p:txBody>
      </p:sp>
      <p:sp>
        <p:nvSpPr>
          <p:cNvPr id="4" name="Shape 2"/>
          <p:cNvSpPr/>
          <p:nvPr/>
        </p:nvSpPr>
        <p:spPr>
          <a:xfrm>
            <a:off x="8229600" y="658368"/>
            <a:ext cx="1234440" cy="256032"/>
          </a:xfrm>
          <a:prstGeom prst="rect">
            <a:avLst/>
          </a:prstGeom>
          <a:solidFill>
            <a:srgbClr val="0D1B3E"/>
          </a:solidFill>
          <a:ln w="12700">
            <a:solidFill>
              <a:srgbClr val="0D1B3E">
                <a:alpha val="0"/>
              </a:srgbClr>
            </a:solidFill>
            <a:prstDash val="solid"/>
          </a:ln>
        </p:spPr>
      </p:sp>
      <p:sp>
        <p:nvSpPr>
          <p:cNvPr id="5" name="Text 3"/>
          <p:cNvSpPr/>
          <p:nvPr/>
        </p:nvSpPr>
        <p:spPr>
          <a:xfrm>
            <a:off x="8229600" y="658368"/>
            <a:ext cx="1234440" cy="256032"/>
          </a:xfrm>
          <a:prstGeom prst="rect">
            <a:avLst/>
          </a:prstGeom>
          <a:noFill/>
          <a:ln/>
        </p:spPr>
        <p:txBody>
          <a:bodyPr wrap="square" lIns="0" tIns="0" rIns="0" bIns="0" rtlCol="0" anchor="ctr">
            <a:normAutofit/>
          </a:bodyPr>
          <a:lstStyle/>
          <a:p>
            <a:pPr algn="ctr" indent="0" marL="0">
              <a:buNone/>
            </a:pPr>
            <a:r>
              <a:rPr lang="en-US" sz="800" b="1" dirty="0">
                <a:solidFill>
                  <a:srgbClr val="FFFFFF"/>
                </a:solidFill>
                <a:latin typeface="Calibri" pitchFamily="34" charset="0"/>
                <a:ea typeface="Calibri" pitchFamily="34" charset="-122"/>
                <a:cs typeface="Calibri" pitchFamily="34" charset="-120"/>
              </a:rPr>
              <a:t>THEORY</a:t>
            </a:r>
            <a:endParaRPr lang="en-US" sz="800" dirty="0"/>
          </a:p>
        </p:txBody>
      </p:sp>
      <p:sp>
        <p:nvSpPr>
          <p:cNvPr id="6" name="Text 4"/>
          <p:cNvSpPr/>
          <p:nvPr/>
        </p:nvSpPr>
        <p:spPr>
          <a:xfrm>
            <a:off x="347472" y="667512"/>
            <a:ext cx="8458200" cy="256032"/>
          </a:xfrm>
          <a:prstGeom prst="rect">
            <a:avLst/>
          </a:prstGeom>
          <a:noFill/>
          <a:ln/>
        </p:spPr>
        <p:txBody>
          <a:bodyPr wrap="square" lIns="0" tIns="0" rIns="0" bIns="0" rtlCol="0" anchor="ctr">
            <a:normAutofit/>
          </a:bodyPr>
          <a:lstStyle/>
          <a:p>
            <a:pPr indent="0" marL="0">
              <a:buNone/>
            </a:pPr>
            <a:r>
              <a:rPr lang="en-US" sz="1000" i="1" dirty="0">
                <a:solidFill>
                  <a:srgbClr val="64748B"/>
                </a:solidFill>
                <a:latin typeface="Calibri" pitchFamily="34" charset="0"/>
                <a:ea typeface="Calibri" pitchFamily="34" charset="-122"/>
                <a:cs typeface="Calibri" pitchFamily="34" charset="-120"/>
              </a:rPr>
              <a:t>Know when to use which — this is a question you will be asked in every data engineering role</a:t>
            </a:r>
            <a:endParaRPr lang="en-US" sz="1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256032" y="960120"/>
          <a:ext cx="8631936" cy="3429000"/>
        </p:xfrm>
        <a:graphic>
          <a:graphicData uri="http://schemas.openxmlformats.org/drawingml/2006/table">
            <a:tbl>
              <a:tblPr/>
              <a:tblGrid>
                <a:gridCol w="1920240"/>
                <a:gridCol w="3355848"/>
                <a:gridCol w="3355848"/>
              </a:tblGrid>
              <a:tr h="28575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Dimension</a:t>
                      </a:r>
                      <a:endParaRPr lang="en-US" sz="1000" dirty="0">
                        <a:latin typeface="Calibri" charset="0"/>
                        <a:ea typeface="Calibri" charset="0"/>
                        <a:cs typeface="Calibri" charset="0"/>
                      </a:endParaRPr>
                    </a:p>
                  </a:txBody>
                  <a:tcPr marL="36576" marR="36576" marT="36576" marB="36576">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B3E"/>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Random Forest</a:t>
                      </a:r>
                      <a:endParaRPr lang="en-US" sz="1000" dirty="0">
                        <a:latin typeface="Calibri" charset="0"/>
                        <a:ea typeface="Calibri" charset="0"/>
                        <a:cs typeface="Calibri" charset="0"/>
                      </a:endParaRPr>
                    </a:p>
                  </a:txBody>
                  <a:tcPr marL="36576" marR="36576" marT="36576" marB="36576">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9F1239"/>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XGBoost</a:t>
                      </a:r>
                      <a:endParaRPr lang="en-US" sz="1000" dirty="0">
                        <a:latin typeface="Calibri" charset="0"/>
                        <a:ea typeface="Calibri" charset="0"/>
                        <a:cs typeface="Calibri" charset="0"/>
                      </a:endParaRPr>
                    </a:p>
                  </a:txBody>
                  <a:tcPr marL="36576" marR="36576" marT="36576" marB="36576">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3730A3"/>
                    </a:solidFill>
                  </a:tcPr>
                </a:tc>
              </a:tr>
              <a:tr h="285750">
                <a:tc>
                  <a:txBody>
                    <a:bodyPr/>
                    <a:lstStyle/>
                    <a:p>
                      <a:pPr indent="0" marL="0">
                        <a:buNone/>
                      </a:pPr>
                      <a:r>
                        <a:rPr lang="en-US" sz="950" b="1" dirty="0">
                          <a:solidFill>
                            <a:srgbClr val="1E293B"/>
                          </a:solidFill>
                          <a:latin typeface="Calibri" pitchFamily="34" charset="0"/>
                          <a:ea typeface="Calibri" pitchFamily="34" charset="-122"/>
                          <a:cs typeface="Calibri" pitchFamily="34" charset="-120"/>
                        </a:rPr>
                        <a:t>Training strategy</a:t>
                      </a:r>
                      <a:endParaRPr lang="en-US" sz="950" dirty="0">
                        <a:latin typeface="Calibri" charset="0"/>
                        <a:ea typeface="Calibri" charset="0"/>
                        <a:cs typeface="Calibri" charset="0"/>
                      </a:endParaRPr>
                    </a:p>
                  </a:txBody>
                  <a:tcPr marL="36576" marR="36576" marT="36576" marB="36576">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9FAFB"/>
                    </a:solidFill>
                  </a:tcPr>
                </a:tc>
                <a:tc>
                  <a:txBody>
                    <a:bodyPr/>
                    <a:lstStyle/>
                    <a:p>
                      <a:pPr indent="0" marL="0">
                        <a:buNone/>
                      </a:pPr>
                      <a:r>
                        <a:rPr lang="en-US" sz="950" dirty="0">
                          <a:solidFill>
                            <a:srgbClr val="9F1239"/>
                          </a:solidFill>
                          <a:latin typeface="Calibri" pitchFamily="34" charset="0"/>
                          <a:ea typeface="Calibri" pitchFamily="34" charset="-122"/>
                          <a:cs typeface="Calibri" pitchFamily="34" charset="-120"/>
                        </a:rPr>
                        <a:t>Parallel (all trees at once)</a:t>
                      </a:r>
                      <a:endParaRPr lang="en-US" sz="950" dirty="0">
                        <a:latin typeface="Calibri" charset="0"/>
                        <a:ea typeface="Calibri" charset="0"/>
                        <a:cs typeface="Calibri" charset="0"/>
                      </a:endParaRPr>
                    </a:p>
                  </a:txBody>
                  <a:tcPr marL="36576" marR="36576" marT="36576" marB="36576">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9FAFB"/>
                    </a:solidFill>
                  </a:tcPr>
                </a:tc>
                <a:tc>
                  <a:txBody>
                    <a:bodyPr/>
                    <a:lstStyle/>
                    <a:p>
                      <a:pPr indent="0" marL="0">
                        <a:buNone/>
                      </a:pPr>
                      <a:r>
                        <a:rPr lang="en-US" sz="950" dirty="0">
                          <a:solidFill>
                            <a:srgbClr val="3730A3"/>
                          </a:solidFill>
                          <a:latin typeface="Calibri" pitchFamily="34" charset="0"/>
                          <a:ea typeface="Calibri" pitchFamily="34" charset="-122"/>
                          <a:cs typeface="Calibri" pitchFamily="34" charset="-120"/>
                        </a:rPr>
                        <a:t>Sequential (each tree learns from previous)</a:t>
                      </a:r>
                      <a:endParaRPr lang="en-US" sz="950" dirty="0">
                        <a:latin typeface="Calibri" charset="0"/>
                        <a:ea typeface="Calibri" charset="0"/>
                        <a:cs typeface="Calibri" charset="0"/>
                      </a:endParaRPr>
                    </a:p>
                  </a:txBody>
                  <a:tcPr marL="36576" marR="36576" marT="36576" marB="36576">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9FAFB"/>
                    </a:solidFill>
                  </a:tcPr>
                </a:tc>
              </a:tr>
              <a:tr h="285750">
                <a:tc>
                  <a:txBody>
                    <a:bodyPr/>
                    <a:lstStyle/>
                    <a:p>
                      <a:pPr indent="0" marL="0">
                        <a:buNone/>
                      </a:pPr>
                      <a:r>
                        <a:rPr lang="en-US" sz="950" b="1" dirty="0">
                          <a:solidFill>
                            <a:srgbClr val="1E293B"/>
                          </a:solidFill>
                          <a:latin typeface="Calibri" pitchFamily="34" charset="0"/>
                          <a:ea typeface="Calibri" pitchFamily="34" charset="-122"/>
                          <a:cs typeface="Calibri" pitchFamily="34" charset="-120"/>
                        </a:rPr>
                        <a:t>Speed to train</a:t>
                      </a:r>
                      <a:endParaRPr lang="en-US" sz="950" dirty="0">
                        <a:latin typeface="Calibri" charset="0"/>
                        <a:ea typeface="Calibri" charset="0"/>
                        <a:cs typeface="Calibri" charset="0"/>
                      </a:endParaRPr>
                    </a:p>
                  </a:txBody>
                  <a:tcPr marL="36576" marR="36576" marT="36576" marB="36576">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9F1239"/>
                          </a:solidFill>
                          <a:latin typeface="Calibri" pitchFamily="34" charset="0"/>
                          <a:ea typeface="Calibri" pitchFamily="34" charset="-122"/>
                          <a:cs typeface="Calibri" pitchFamily="34" charset="-120"/>
                        </a:rPr>
                        <a:t>Fast — easy to parallelise</a:t>
                      </a:r>
                      <a:endParaRPr lang="en-US" sz="950" dirty="0">
                        <a:latin typeface="Calibri" charset="0"/>
                        <a:ea typeface="Calibri" charset="0"/>
                        <a:cs typeface="Calibri" charset="0"/>
                      </a:endParaRPr>
                    </a:p>
                  </a:txBody>
                  <a:tcPr marL="36576" marR="36576" marT="36576" marB="36576">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730A3"/>
                          </a:solidFill>
                          <a:latin typeface="Calibri" pitchFamily="34" charset="0"/>
                          <a:ea typeface="Calibri" pitchFamily="34" charset="-122"/>
                          <a:cs typeface="Calibri" pitchFamily="34" charset="-120"/>
                        </a:rPr>
                        <a:t>Slower — sequential by design</a:t>
                      </a:r>
                      <a:endParaRPr lang="en-US" sz="950" dirty="0">
                        <a:latin typeface="Calibri" charset="0"/>
                        <a:ea typeface="Calibri" charset="0"/>
                        <a:cs typeface="Calibri" charset="0"/>
                      </a:endParaRPr>
                    </a:p>
                  </a:txBody>
                  <a:tcPr marL="36576" marR="36576" marT="36576" marB="36576">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285750">
                <a:tc>
                  <a:txBody>
                    <a:bodyPr/>
                    <a:lstStyle/>
                    <a:p>
                      <a:pPr indent="0" marL="0">
                        <a:buNone/>
                      </a:pPr>
                      <a:r>
                        <a:rPr lang="en-US" sz="950" b="1" dirty="0">
                          <a:solidFill>
                            <a:srgbClr val="1E293B"/>
                          </a:solidFill>
                          <a:latin typeface="Calibri" pitchFamily="34" charset="0"/>
                          <a:ea typeface="Calibri" pitchFamily="34" charset="-122"/>
                          <a:cs typeface="Calibri" pitchFamily="34" charset="-120"/>
                        </a:rPr>
                        <a:t>Inference speed</a:t>
                      </a:r>
                      <a:endParaRPr lang="en-US" sz="950" dirty="0">
                        <a:latin typeface="Calibri" charset="0"/>
                        <a:ea typeface="Calibri" charset="0"/>
                        <a:cs typeface="Calibri" charset="0"/>
                      </a:endParaRPr>
                    </a:p>
                  </a:txBody>
                  <a:tcPr marL="36576" marR="36576" marT="36576" marB="36576">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9FAFB"/>
                    </a:solidFill>
                  </a:tcPr>
                </a:tc>
                <a:tc>
                  <a:txBody>
                    <a:bodyPr/>
                    <a:lstStyle/>
                    <a:p>
                      <a:pPr indent="0" marL="0">
                        <a:buNone/>
                      </a:pPr>
                      <a:r>
                        <a:rPr lang="en-US" sz="950" dirty="0">
                          <a:solidFill>
                            <a:srgbClr val="9F1239"/>
                          </a:solidFill>
                          <a:latin typeface="Calibri" pitchFamily="34" charset="0"/>
                          <a:ea typeface="Calibri" pitchFamily="34" charset="-122"/>
                          <a:cs typeface="Calibri" pitchFamily="34" charset="-120"/>
                        </a:rPr>
                        <a:t>Moderate (runs 500 trees)</a:t>
                      </a:r>
                      <a:endParaRPr lang="en-US" sz="950" dirty="0">
                        <a:latin typeface="Calibri" charset="0"/>
                        <a:ea typeface="Calibri" charset="0"/>
                        <a:cs typeface="Calibri" charset="0"/>
                      </a:endParaRPr>
                    </a:p>
                  </a:txBody>
                  <a:tcPr marL="36576" marR="36576" marT="36576" marB="36576">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9FAFB"/>
                    </a:solidFill>
                  </a:tcPr>
                </a:tc>
                <a:tc>
                  <a:txBody>
                    <a:bodyPr/>
                    <a:lstStyle/>
                    <a:p>
                      <a:pPr indent="0" marL="0">
                        <a:buNone/>
                      </a:pPr>
                      <a:r>
                        <a:rPr lang="en-US" sz="950" dirty="0">
                          <a:solidFill>
                            <a:srgbClr val="3730A3"/>
                          </a:solidFill>
                          <a:latin typeface="Calibri" pitchFamily="34" charset="0"/>
                          <a:ea typeface="Calibri" pitchFamily="34" charset="-122"/>
                          <a:cs typeface="Calibri" pitchFamily="34" charset="-120"/>
                        </a:rPr>
                        <a:t>Fast (shallow trees, early stop)</a:t>
                      </a:r>
                      <a:endParaRPr lang="en-US" sz="950" dirty="0">
                        <a:latin typeface="Calibri" charset="0"/>
                        <a:ea typeface="Calibri" charset="0"/>
                        <a:cs typeface="Calibri" charset="0"/>
                      </a:endParaRPr>
                    </a:p>
                  </a:txBody>
                  <a:tcPr marL="36576" marR="36576" marT="36576" marB="36576">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9FAFB"/>
                    </a:solidFill>
                  </a:tcPr>
                </a:tc>
              </a:tr>
              <a:tr h="285750">
                <a:tc>
                  <a:txBody>
                    <a:bodyPr/>
                    <a:lstStyle/>
                    <a:p>
                      <a:pPr indent="0" marL="0">
                        <a:buNone/>
                      </a:pPr>
                      <a:r>
                        <a:rPr lang="en-US" sz="950" b="1" dirty="0">
                          <a:solidFill>
                            <a:srgbClr val="1E293B"/>
                          </a:solidFill>
                          <a:latin typeface="Calibri" pitchFamily="34" charset="0"/>
                          <a:ea typeface="Calibri" pitchFamily="34" charset="-122"/>
                          <a:cs typeface="Calibri" pitchFamily="34" charset="-120"/>
                        </a:rPr>
                        <a:t>Ease of tuning</a:t>
                      </a:r>
                      <a:endParaRPr lang="en-US" sz="950" dirty="0">
                        <a:latin typeface="Calibri" charset="0"/>
                        <a:ea typeface="Calibri" charset="0"/>
                        <a:cs typeface="Calibri" charset="0"/>
                      </a:endParaRPr>
                    </a:p>
                  </a:txBody>
                  <a:tcPr marL="36576" marR="36576" marT="36576" marB="36576">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9F1239"/>
                          </a:solidFill>
                          <a:latin typeface="Calibri" pitchFamily="34" charset="0"/>
                          <a:ea typeface="Calibri" pitchFamily="34" charset="-122"/>
                          <a:cs typeface="Calibri" pitchFamily="34" charset="-120"/>
                        </a:rPr>
                        <a:t>Very easy — mostly n_estimators</a:t>
                      </a:r>
                      <a:endParaRPr lang="en-US" sz="950" dirty="0">
                        <a:latin typeface="Calibri" charset="0"/>
                        <a:ea typeface="Calibri" charset="0"/>
                        <a:cs typeface="Calibri" charset="0"/>
                      </a:endParaRPr>
                    </a:p>
                  </a:txBody>
                  <a:tcPr marL="36576" marR="36576" marT="36576" marB="36576">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730A3"/>
                          </a:solidFill>
                          <a:latin typeface="Calibri" pitchFamily="34" charset="0"/>
                          <a:ea typeface="Calibri" pitchFamily="34" charset="-122"/>
                          <a:cs typeface="Calibri" pitchFamily="34" charset="-120"/>
                        </a:rPr>
                        <a:t>Moderate — learning_rate + n_estimators interact</a:t>
                      </a:r>
                      <a:endParaRPr lang="en-US" sz="950" dirty="0">
                        <a:latin typeface="Calibri" charset="0"/>
                        <a:ea typeface="Calibri" charset="0"/>
                        <a:cs typeface="Calibri" charset="0"/>
                      </a:endParaRPr>
                    </a:p>
                  </a:txBody>
                  <a:tcPr marL="36576" marR="36576" marT="36576" marB="36576">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285750">
                <a:tc>
                  <a:txBody>
                    <a:bodyPr/>
                    <a:lstStyle/>
                    <a:p>
                      <a:pPr indent="0" marL="0">
                        <a:buNone/>
                      </a:pPr>
                      <a:r>
                        <a:rPr lang="en-US" sz="950" b="1" dirty="0">
                          <a:solidFill>
                            <a:srgbClr val="1E293B"/>
                          </a:solidFill>
                          <a:latin typeface="Calibri" pitchFamily="34" charset="0"/>
                          <a:ea typeface="Calibri" pitchFamily="34" charset="-122"/>
                          <a:cs typeface="Calibri" pitchFamily="34" charset="-120"/>
                        </a:rPr>
                        <a:t>Overfitting risk</a:t>
                      </a:r>
                      <a:endParaRPr lang="en-US" sz="950" dirty="0">
                        <a:latin typeface="Calibri" charset="0"/>
                        <a:ea typeface="Calibri" charset="0"/>
                        <a:cs typeface="Calibri" charset="0"/>
                      </a:endParaRPr>
                    </a:p>
                  </a:txBody>
                  <a:tcPr marL="36576" marR="36576" marT="36576" marB="36576">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9FAFB"/>
                    </a:solidFill>
                  </a:tcPr>
                </a:tc>
                <a:tc>
                  <a:txBody>
                    <a:bodyPr/>
                    <a:lstStyle/>
                    <a:p>
                      <a:pPr indent="0" marL="0">
                        <a:buNone/>
                      </a:pPr>
                      <a:r>
                        <a:rPr lang="en-US" sz="950" dirty="0">
                          <a:solidFill>
                            <a:srgbClr val="9F1239"/>
                          </a:solidFill>
                          <a:latin typeface="Calibri" pitchFamily="34" charset="0"/>
                          <a:ea typeface="Calibri" pitchFamily="34" charset="-122"/>
                          <a:cs typeface="Calibri" pitchFamily="34" charset="-120"/>
                        </a:rPr>
                        <a:t>Lower — bagging adds regularisation</a:t>
                      </a:r>
                      <a:endParaRPr lang="en-US" sz="950" dirty="0">
                        <a:latin typeface="Calibri" charset="0"/>
                        <a:ea typeface="Calibri" charset="0"/>
                        <a:cs typeface="Calibri" charset="0"/>
                      </a:endParaRPr>
                    </a:p>
                  </a:txBody>
                  <a:tcPr marL="36576" marR="36576" marT="36576" marB="36576">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9FAFB"/>
                    </a:solidFill>
                  </a:tcPr>
                </a:tc>
                <a:tc>
                  <a:txBody>
                    <a:bodyPr/>
                    <a:lstStyle/>
                    <a:p>
                      <a:pPr indent="0" marL="0">
                        <a:buNone/>
                      </a:pPr>
                      <a:r>
                        <a:rPr lang="en-US" sz="950" dirty="0">
                          <a:solidFill>
                            <a:srgbClr val="3730A3"/>
                          </a:solidFill>
                          <a:latin typeface="Calibri" pitchFamily="34" charset="0"/>
                          <a:ea typeface="Calibri" pitchFamily="34" charset="-122"/>
                          <a:cs typeface="Calibri" pitchFamily="34" charset="-120"/>
                        </a:rPr>
                        <a:t>Higher — needs early stopping or reg params</a:t>
                      </a:r>
                      <a:endParaRPr lang="en-US" sz="950" dirty="0">
                        <a:latin typeface="Calibri" charset="0"/>
                        <a:ea typeface="Calibri" charset="0"/>
                        <a:cs typeface="Calibri" charset="0"/>
                      </a:endParaRPr>
                    </a:p>
                  </a:txBody>
                  <a:tcPr marL="36576" marR="36576" marT="36576" marB="36576">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9FAFB"/>
                    </a:solidFill>
                  </a:tcPr>
                </a:tc>
              </a:tr>
              <a:tr h="285750">
                <a:tc>
                  <a:txBody>
                    <a:bodyPr/>
                    <a:lstStyle/>
                    <a:p>
                      <a:pPr indent="0" marL="0">
                        <a:buNone/>
                      </a:pPr>
                      <a:r>
                        <a:rPr lang="en-US" sz="950" b="1" dirty="0">
                          <a:solidFill>
                            <a:srgbClr val="1E293B"/>
                          </a:solidFill>
                          <a:latin typeface="Calibri" pitchFamily="34" charset="0"/>
                          <a:ea typeface="Calibri" pitchFamily="34" charset="-122"/>
                          <a:cs typeface="Calibri" pitchFamily="34" charset="-120"/>
                        </a:rPr>
                        <a:t>With limited data</a:t>
                      </a:r>
                      <a:endParaRPr lang="en-US" sz="950" dirty="0">
                        <a:latin typeface="Calibri" charset="0"/>
                        <a:ea typeface="Calibri" charset="0"/>
                        <a:cs typeface="Calibri" charset="0"/>
                      </a:endParaRPr>
                    </a:p>
                  </a:txBody>
                  <a:tcPr marL="36576" marR="36576" marT="36576" marB="36576">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9F1239"/>
                          </a:solidFill>
                          <a:latin typeface="Calibri" pitchFamily="34" charset="0"/>
                          <a:ea typeface="Calibri" pitchFamily="34" charset="-122"/>
                          <a:cs typeface="Calibri" pitchFamily="34" charset="-120"/>
                        </a:rPr>
                        <a:t>Good — bootstrapping helps</a:t>
                      </a:r>
                      <a:endParaRPr lang="en-US" sz="950" dirty="0">
                        <a:latin typeface="Calibri" charset="0"/>
                        <a:ea typeface="Calibri" charset="0"/>
                        <a:cs typeface="Calibri" charset="0"/>
                      </a:endParaRPr>
                    </a:p>
                  </a:txBody>
                  <a:tcPr marL="36576" marR="36576" marT="36576" marB="36576">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730A3"/>
                          </a:solidFill>
                          <a:latin typeface="Calibri" pitchFamily="34" charset="0"/>
                          <a:ea typeface="Calibri" pitchFamily="34" charset="-122"/>
                          <a:cs typeface="Calibri" pitchFamily="34" charset="-120"/>
                        </a:rPr>
                        <a:t>Better — residual learning is data-efficient</a:t>
                      </a:r>
                      <a:endParaRPr lang="en-US" sz="950" dirty="0">
                        <a:latin typeface="Calibri" charset="0"/>
                        <a:ea typeface="Calibri" charset="0"/>
                        <a:cs typeface="Calibri" charset="0"/>
                      </a:endParaRPr>
                    </a:p>
                  </a:txBody>
                  <a:tcPr marL="36576" marR="36576" marT="36576" marB="36576">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285750">
                <a:tc>
                  <a:txBody>
                    <a:bodyPr/>
                    <a:lstStyle/>
                    <a:p>
                      <a:pPr indent="0" marL="0">
                        <a:buNone/>
                      </a:pPr>
                      <a:r>
                        <a:rPr lang="en-US" sz="950" b="1" dirty="0">
                          <a:solidFill>
                            <a:srgbClr val="1E293B"/>
                          </a:solidFill>
                          <a:latin typeface="Calibri" pitchFamily="34" charset="0"/>
                          <a:ea typeface="Calibri" pitchFamily="34" charset="-122"/>
                          <a:cs typeface="Calibri" pitchFamily="34" charset="-120"/>
                        </a:rPr>
                        <a:t>Feature importance</a:t>
                      </a:r>
                      <a:endParaRPr lang="en-US" sz="950" dirty="0">
                        <a:latin typeface="Calibri" charset="0"/>
                        <a:ea typeface="Calibri" charset="0"/>
                        <a:cs typeface="Calibri" charset="0"/>
                      </a:endParaRPr>
                    </a:p>
                  </a:txBody>
                  <a:tcPr marL="36576" marR="36576" marT="36576" marB="36576">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9FAFB"/>
                    </a:solidFill>
                  </a:tcPr>
                </a:tc>
                <a:tc>
                  <a:txBody>
                    <a:bodyPr/>
                    <a:lstStyle/>
                    <a:p>
                      <a:pPr indent="0" marL="0">
                        <a:buNone/>
                      </a:pPr>
                      <a:r>
                        <a:rPr lang="en-US" sz="950" dirty="0">
                          <a:solidFill>
                            <a:srgbClr val="9F1239"/>
                          </a:solidFill>
                          <a:latin typeface="Calibri" pitchFamily="34" charset="0"/>
                          <a:ea typeface="Calibri" pitchFamily="34" charset="-122"/>
                          <a:cs typeface="Calibri" pitchFamily="34" charset="-120"/>
                        </a:rPr>
                        <a:t>MDI or Permutation</a:t>
                      </a:r>
                      <a:endParaRPr lang="en-US" sz="950" dirty="0">
                        <a:latin typeface="Calibri" charset="0"/>
                        <a:ea typeface="Calibri" charset="0"/>
                        <a:cs typeface="Calibri" charset="0"/>
                      </a:endParaRPr>
                    </a:p>
                  </a:txBody>
                  <a:tcPr marL="36576" marR="36576" marT="36576" marB="36576">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9FAFB"/>
                    </a:solidFill>
                  </a:tcPr>
                </a:tc>
                <a:tc>
                  <a:txBody>
                    <a:bodyPr/>
                    <a:lstStyle/>
                    <a:p>
                      <a:pPr indent="0" marL="0">
                        <a:buNone/>
                      </a:pPr>
                      <a:r>
                        <a:rPr lang="en-US" sz="950" dirty="0">
                          <a:solidFill>
                            <a:srgbClr val="3730A3"/>
                          </a:solidFill>
                          <a:latin typeface="Calibri" pitchFamily="34" charset="0"/>
                          <a:ea typeface="Calibri" pitchFamily="34" charset="-122"/>
                          <a:cs typeface="Calibri" pitchFamily="34" charset="-120"/>
                        </a:rPr>
                        <a:t>Gain-based or SHAP</a:t>
                      </a:r>
                      <a:endParaRPr lang="en-US" sz="950" dirty="0">
                        <a:latin typeface="Calibri" charset="0"/>
                        <a:ea typeface="Calibri" charset="0"/>
                        <a:cs typeface="Calibri" charset="0"/>
                      </a:endParaRPr>
                    </a:p>
                  </a:txBody>
                  <a:tcPr marL="36576" marR="36576" marT="36576" marB="36576">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9FAFB"/>
                    </a:solidFill>
                  </a:tcPr>
                </a:tc>
              </a:tr>
              <a:tr h="285750">
                <a:tc>
                  <a:txBody>
                    <a:bodyPr/>
                    <a:lstStyle/>
                    <a:p>
                      <a:pPr indent="0" marL="0">
                        <a:buNone/>
                      </a:pPr>
                      <a:r>
                        <a:rPr lang="en-US" sz="950" b="1" dirty="0">
                          <a:solidFill>
                            <a:srgbClr val="1E293B"/>
                          </a:solidFill>
                          <a:latin typeface="Calibri" pitchFamily="34" charset="0"/>
                          <a:ea typeface="Calibri" pitchFamily="34" charset="-122"/>
                          <a:cs typeface="Calibri" pitchFamily="34" charset="-120"/>
                        </a:rPr>
                        <a:t>Missing values</a:t>
                      </a:r>
                      <a:endParaRPr lang="en-US" sz="950" dirty="0">
                        <a:latin typeface="Calibri" charset="0"/>
                        <a:ea typeface="Calibri" charset="0"/>
                        <a:cs typeface="Calibri" charset="0"/>
                      </a:endParaRPr>
                    </a:p>
                  </a:txBody>
                  <a:tcPr marL="36576" marR="36576" marT="36576" marB="36576">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9F1239"/>
                          </a:solidFill>
                          <a:latin typeface="Calibri" pitchFamily="34" charset="0"/>
                          <a:ea typeface="Calibri" pitchFamily="34" charset="-122"/>
                          <a:cs typeface="Calibri" pitchFamily="34" charset="-120"/>
                        </a:rPr>
                        <a:t>Impute required</a:t>
                      </a:r>
                      <a:endParaRPr lang="en-US" sz="950" dirty="0">
                        <a:latin typeface="Calibri" charset="0"/>
                        <a:ea typeface="Calibri" charset="0"/>
                        <a:cs typeface="Calibri" charset="0"/>
                      </a:endParaRPr>
                    </a:p>
                  </a:txBody>
                  <a:tcPr marL="36576" marR="36576" marT="36576" marB="36576">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730A3"/>
                          </a:solidFill>
                          <a:latin typeface="Calibri" pitchFamily="34" charset="0"/>
                          <a:ea typeface="Calibri" pitchFamily="34" charset="-122"/>
                          <a:cs typeface="Calibri" pitchFamily="34" charset="-120"/>
                        </a:rPr>
                        <a:t>Handles natively — no imputation needed</a:t>
                      </a:r>
                      <a:endParaRPr lang="en-US" sz="950" dirty="0">
                        <a:latin typeface="Calibri" charset="0"/>
                        <a:ea typeface="Calibri" charset="0"/>
                        <a:cs typeface="Calibri" charset="0"/>
                      </a:endParaRPr>
                    </a:p>
                  </a:txBody>
                  <a:tcPr marL="36576" marR="36576" marT="36576" marB="36576">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285750">
                <a:tc>
                  <a:txBody>
                    <a:bodyPr/>
                    <a:lstStyle/>
                    <a:p>
                      <a:pPr indent="0" marL="0">
                        <a:buNone/>
                      </a:pPr>
                      <a:r>
                        <a:rPr lang="en-US" sz="950" b="1" dirty="0">
                          <a:solidFill>
                            <a:srgbClr val="1E293B"/>
                          </a:solidFill>
                          <a:latin typeface="Calibri" pitchFamily="34" charset="0"/>
                          <a:ea typeface="Calibri" pitchFamily="34" charset="-122"/>
                          <a:cs typeface="Calibri" pitchFamily="34" charset="-120"/>
                        </a:rPr>
                        <a:t>Extrapolation</a:t>
                      </a:r>
                      <a:endParaRPr lang="en-US" sz="950" dirty="0">
                        <a:latin typeface="Calibri" charset="0"/>
                        <a:ea typeface="Calibri" charset="0"/>
                        <a:cs typeface="Calibri" charset="0"/>
                      </a:endParaRPr>
                    </a:p>
                  </a:txBody>
                  <a:tcPr marL="36576" marR="36576" marT="36576" marB="36576">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9FAFB"/>
                    </a:solidFill>
                  </a:tcPr>
                </a:tc>
                <a:tc>
                  <a:txBody>
                    <a:bodyPr/>
                    <a:lstStyle/>
                    <a:p>
                      <a:pPr indent="0" marL="0">
                        <a:buNone/>
                      </a:pPr>
                      <a:r>
                        <a:rPr lang="en-US" sz="950" dirty="0">
                          <a:solidFill>
                            <a:srgbClr val="9F1239"/>
                          </a:solidFill>
                          <a:latin typeface="Calibri" pitchFamily="34" charset="0"/>
                          <a:ea typeface="Calibri" pitchFamily="34" charset="-122"/>
                          <a:cs typeface="Calibri" pitchFamily="34" charset="-120"/>
                        </a:rPr>
                        <a:t>Cannot extrapolate</a:t>
                      </a:r>
                      <a:endParaRPr lang="en-US" sz="950" dirty="0">
                        <a:latin typeface="Calibri" charset="0"/>
                        <a:ea typeface="Calibri" charset="0"/>
                        <a:cs typeface="Calibri" charset="0"/>
                      </a:endParaRPr>
                    </a:p>
                  </a:txBody>
                  <a:tcPr marL="36576" marR="36576" marT="36576" marB="36576">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9FAFB"/>
                    </a:solidFill>
                  </a:tcPr>
                </a:tc>
                <a:tc>
                  <a:txBody>
                    <a:bodyPr/>
                    <a:lstStyle/>
                    <a:p>
                      <a:pPr indent="0" marL="0">
                        <a:buNone/>
                      </a:pPr>
                      <a:r>
                        <a:rPr lang="en-US" sz="950" dirty="0">
                          <a:solidFill>
                            <a:srgbClr val="3730A3"/>
                          </a:solidFill>
                          <a:latin typeface="Calibri" pitchFamily="34" charset="0"/>
                          <a:ea typeface="Calibri" pitchFamily="34" charset="-122"/>
                          <a:cs typeface="Calibri" pitchFamily="34" charset="-120"/>
                        </a:rPr>
                        <a:t>Cannot extrapolate (same: both are tree-based)</a:t>
                      </a:r>
                      <a:endParaRPr lang="en-US" sz="950" dirty="0">
                        <a:latin typeface="Calibri" charset="0"/>
                        <a:ea typeface="Calibri" charset="0"/>
                        <a:cs typeface="Calibri" charset="0"/>
                      </a:endParaRPr>
                    </a:p>
                  </a:txBody>
                  <a:tcPr marL="36576" marR="36576" marT="36576" marB="36576">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9FAFB"/>
                    </a:solidFill>
                  </a:tcPr>
                </a:tc>
              </a:tr>
              <a:tr h="285750">
                <a:tc>
                  <a:txBody>
                    <a:bodyPr/>
                    <a:lstStyle/>
                    <a:p>
                      <a:pPr indent="0" marL="0">
                        <a:buNone/>
                      </a:pPr>
                      <a:r>
                        <a:rPr lang="en-US" sz="950" b="1" dirty="0">
                          <a:solidFill>
                            <a:srgbClr val="1E293B"/>
                          </a:solidFill>
                          <a:latin typeface="Calibri" pitchFamily="34" charset="0"/>
                          <a:ea typeface="Calibri" pitchFamily="34" charset="-122"/>
                          <a:cs typeface="Calibri" pitchFamily="34" charset="-120"/>
                        </a:rPr>
                        <a:t>Default starting point</a:t>
                      </a:r>
                      <a:endParaRPr lang="en-US" sz="950" dirty="0">
                        <a:latin typeface="Calibri" charset="0"/>
                        <a:ea typeface="Calibri" charset="0"/>
                        <a:cs typeface="Calibri" charset="0"/>
                      </a:endParaRPr>
                    </a:p>
                  </a:txBody>
                  <a:tcPr marL="36576" marR="36576" marT="36576" marB="36576">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9F1239"/>
                          </a:solidFill>
                          <a:latin typeface="Calibri" pitchFamily="34" charset="0"/>
                          <a:ea typeface="Calibri" pitchFamily="34" charset="-122"/>
                          <a:cs typeface="Calibri" pitchFamily="34" charset="-120"/>
                        </a:rPr>
                        <a:t>YES — robust out-of-box</a:t>
                      </a:r>
                      <a:endParaRPr lang="en-US" sz="950" dirty="0">
                        <a:latin typeface="Calibri" charset="0"/>
                        <a:ea typeface="Calibri" charset="0"/>
                        <a:cs typeface="Calibri" charset="0"/>
                      </a:endParaRPr>
                    </a:p>
                  </a:txBody>
                  <a:tcPr marL="36576" marR="36576" marT="36576" marB="36576">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3730A3"/>
                          </a:solidFill>
                          <a:latin typeface="Calibri" pitchFamily="34" charset="0"/>
                          <a:ea typeface="Calibri" pitchFamily="34" charset="-122"/>
                          <a:cs typeface="Calibri" pitchFamily="34" charset="-120"/>
                        </a:rPr>
                        <a:t>After RF baseline established</a:t>
                      </a:r>
                      <a:endParaRPr lang="en-US" sz="950" dirty="0">
                        <a:latin typeface="Calibri" charset="0"/>
                        <a:ea typeface="Calibri" charset="0"/>
                        <a:cs typeface="Calibri" charset="0"/>
                      </a:endParaRPr>
                    </a:p>
                  </a:txBody>
                  <a:tcPr marL="36576" marR="36576" marT="36576" marB="36576">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285750">
                <a:tc>
                  <a:txBody>
                    <a:bodyPr/>
                    <a:lstStyle/>
                    <a:p>
                      <a:pPr indent="0" marL="0">
                        <a:buNone/>
                      </a:pPr>
                      <a:r>
                        <a:rPr lang="en-US" sz="950" b="1" dirty="0">
                          <a:solidFill>
                            <a:srgbClr val="1E293B"/>
                          </a:solidFill>
                          <a:latin typeface="Calibri" pitchFamily="34" charset="0"/>
                          <a:ea typeface="Calibri" pitchFamily="34" charset="-122"/>
                          <a:cs typeface="Calibri" pitchFamily="34" charset="-120"/>
                        </a:rPr>
                        <a:t>Typical AUC improvement</a:t>
                      </a:r>
                      <a:endParaRPr lang="en-US" sz="950" dirty="0">
                        <a:latin typeface="Calibri" charset="0"/>
                        <a:ea typeface="Calibri" charset="0"/>
                        <a:cs typeface="Calibri" charset="0"/>
                      </a:endParaRPr>
                    </a:p>
                  </a:txBody>
                  <a:tcPr marL="36576" marR="36576" marT="36576" marB="36576">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9FAFB"/>
                    </a:solidFill>
                  </a:tcPr>
                </a:tc>
                <a:tc>
                  <a:txBody>
                    <a:bodyPr/>
                    <a:lstStyle/>
                    <a:p>
                      <a:pPr indent="0" marL="0">
                        <a:buNone/>
                      </a:pPr>
                      <a:r>
                        <a:rPr lang="en-US" sz="950" dirty="0">
                          <a:solidFill>
                            <a:srgbClr val="9F1239"/>
                          </a:solidFill>
                          <a:latin typeface="Calibri" pitchFamily="34" charset="0"/>
                          <a:ea typeface="Calibri" pitchFamily="34" charset="-122"/>
                          <a:cs typeface="Calibri" pitchFamily="34" charset="-120"/>
                        </a:rPr>
                        <a:t>Baseline ensemble method</a:t>
                      </a:r>
                      <a:endParaRPr lang="en-US" sz="950" dirty="0">
                        <a:latin typeface="Calibri" charset="0"/>
                        <a:ea typeface="Calibri" charset="0"/>
                        <a:cs typeface="Calibri" charset="0"/>
                      </a:endParaRPr>
                    </a:p>
                  </a:txBody>
                  <a:tcPr marL="36576" marR="36576" marT="36576" marB="36576">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9FAFB"/>
                    </a:solidFill>
                  </a:tcPr>
                </a:tc>
                <a:tc>
                  <a:txBody>
                    <a:bodyPr/>
                    <a:lstStyle/>
                    <a:p>
                      <a:pPr indent="0" marL="0">
                        <a:buNone/>
                      </a:pPr>
                      <a:r>
                        <a:rPr lang="en-US" sz="950" dirty="0">
                          <a:solidFill>
                            <a:srgbClr val="3730A3"/>
                          </a:solidFill>
                          <a:latin typeface="Calibri" pitchFamily="34" charset="0"/>
                          <a:ea typeface="Calibri" pitchFamily="34" charset="-122"/>
                          <a:cs typeface="Calibri" pitchFamily="34" charset="-120"/>
                        </a:rPr>
                        <a:t>Usually 1–5% over RF on same data</a:t>
                      </a:r>
                      <a:endParaRPr lang="en-US" sz="950" dirty="0">
                        <a:latin typeface="Calibri" charset="0"/>
                        <a:ea typeface="Calibri" charset="0"/>
                        <a:cs typeface="Calibri" charset="0"/>
                      </a:endParaRPr>
                    </a:p>
                  </a:txBody>
                  <a:tcPr marL="36576" marR="36576" marT="36576" marB="36576">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9FAFB"/>
                    </a:solidFill>
                  </a:tcPr>
                </a:tc>
              </a:tr>
            </a:tbl>
          </a:graphicData>
        </a:graphic>
      </p:graphicFrame>
      <p:sp>
        <p:nvSpPr>
          <p:cNvPr id="8" name="Shape 5"/>
          <p:cNvSpPr/>
          <p:nvPr/>
        </p:nvSpPr>
        <p:spPr>
          <a:xfrm>
            <a:off x="256032" y="4462272"/>
            <a:ext cx="8631936" cy="585216"/>
          </a:xfrm>
          <a:prstGeom prst="rect">
            <a:avLst/>
          </a:prstGeom>
          <a:solidFill>
            <a:srgbClr val="EEF2FF"/>
          </a:solidFill>
          <a:ln w="12700">
            <a:solidFill>
              <a:srgbClr val="3730A3"/>
            </a:solidFill>
            <a:prstDash val="solid"/>
          </a:ln>
        </p:spPr>
      </p:sp>
      <p:sp>
        <p:nvSpPr>
          <p:cNvPr id="9" name="Text 6"/>
          <p:cNvSpPr/>
          <p:nvPr/>
        </p:nvSpPr>
        <p:spPr>
          <a:xfrm>
            <a:off x="402336" y="4507992"/>
            <a:ext cx="1554480" cy="201168"/>
          </a:xfrm>
          <a:prstGeom prst="rect">
            <a:avLst/>
          </a:prstGeom>
          <a:noFill/>
          <a:ln/>
        </p:spPr>
        <p:txBody>
          <a:bodyPr wrap="square" lIns="0" tIns="0" rIns="0" bIns="0" rtlCol="0" anchor="ctr">
            <a:normAutofit/>
          </a:bodyPr>
          <a:lstStyle/>
          <a:p>
            <a:pPr indent="0" marL="0">
              <a:buNone/>
            </a:pPr>
            <a:r>
              <a:rPr lang="en-US" sz="1000" b="1" dirty="0">
                <a:solidFill>
                  <a:srgbClr val="3730A3"/>
                </a:solidFill>
                <a:latin typeface="Calibri" pitchFamily="34" charset="0"/>
                <a:ea typeface="Calibri" pitchFamily="34" charset="-122"/>
                <a:cs typeface="Calibri" pitchFamily="34" charset="-120"/>
              </a:rPr>
              <a:t>DECISION GUIDE:</a:t>
            </a:r>
            <a:endParaRPr lang="en-US" sz="1000" dirty="0"/>
          </a:p>
        </p:txBody>
      </p:sp>
      <p:sp>
        <p:nvSpPr>
          <p:cNvPr id="10" name="Text 7"/>
          <p:cNvSpPr/>
          <p:nvPr/>
        </p:nvSpPr>
        <p:spPr>
          <a:xfrm>
            <a:off x="2011680" y="4507992"/>
            <a:ext cx="6748272" cy="475488"/>
          </a:xfrm>
          <a:prstGeom prst="rect">
            <a:avLst/>
          </a:prstGeom>
          <a:noFill/>
          <a:ln/>
        </p:spPr>
        <p:txBody>
          <a:bodyPr wrap="square" lIns="0" tIns="0" rIns="0" bIns="0" rtlCol="0" anchor="ctr">
            <a:normAutofit/>
          </a:bodyPr>
          <a:lstStyle/>
          <a:p>
            <a:pPr indent="0" marL="0">
              <a:buNone/>
            </a:pPr>
            <a:r>
              <a:rPr lang="en-US" sz="980" dirty="0">
                <a:solidFill>
                  <a:srgbClr val="1E293B"/>
                </a:solidFill>
                <a:latin typeface="Calibri" pitchFamily="34" charset="0"/>
                <a:ea typeface="Calibri" pitchFamily="34" charset="-122"/>
                <a:cs typeface="Calibri" pitchFamily="34" charset="-120"/>
              </a:rPr>
              <a:t>Start with Random Forest ALWAYS. It gives you a solid, reliable baseline quickly. If you need more performance: add XGBoost and compare. The performance gap is usually 1–3% AUC. If that matters for your clinical use case, use XGBoost. If RF is 'good enough', ship RF — simpler to explain and maintain.</a:t>
            </a:r>
            <a:endParaRPr lang="en-US" sz="98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9F0"/>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891B2"/>
          </a:solidFill>
          <a:ln w="12700">
            <a:solidFill>
              <a:srgbClr val="0891B2">
                <a:alpha val="0"/>
              </a:srgbClr>
            </a:solidFill>
            <a:prstDash val="solid"/>
          </a:ln>
        </p:spPr>
      </p:sp>
      <p:sp>
        <p:nvSpPr>
          <p:cNvPr id="3" name="Text 1"/>
          <p:cNvSpPr/>
          <p:nvPr/>
        </p:nvSpPr>
        <p:spPr>
          <a:xfrm>
            <a:off x="347472" y="0"/>
            <a:ext cx="8458200" cy="640080"/>
          </a:xfrm>
          <a:prstGeom prst="rect">
            <a:avLst/>
          </a:prstGeom>
          <a:noFill/>
          <a:ln/>
        </p:spPr>
        <p:txBody>
          <a:bodyPr wrap="square" lIns="0" tIns="0" rIns="0" bIns="0" rtlCol="0" anchor="ctr">
            <a:normAutofit/>
          </a:bodyPr>
          <a:lstStyle/>
          <a:p>
            <a:pPr indent="0" marL="0">
              <a:buNone/>
            </a:pPr>
            <a:r>
              <a:rPr lang="en-US" sz="1400" b="1" spc="100" kern="0" dirty="0">
                <a:solidFill>
                  <a:srgbClr val="FFFFFF"/>
                </a:solidFill>
                <a:latin typeface="Calibri" pitchFamily="34" charset="0"/>
                <a:ea typeface="Calibri" pitchFamily="34" charset="-122"/>
                <a:cs typeface="Calibri" pitchFamily="34" charset="-120"/>
              </a:rPr>
              <a:t>LIVE CODE — RF + XGBOOST ON HEALTHCARE DATA  (45 MIN)</a:t>
            </a:r>
            <a:endParaRPr lang="en-US" sz="1400" dirty="0"/>
          </a:p>
        </p:txBody>
      </p:sp>
      <p:sp>
        <p:nvSpPr>
          <p:cNvPr id="4" name="Shape 2"/>
          <p:cNvSpPr/>
          <p:nvPr/>
        </p:nvSpPr>
        <p:spPr>
          <a:xfrm>
            <a:off x="7973568" y="658368"/>
            <a:ext cx="1234440" cy="256032"/>
          </a:xfrm>
          <a:prstGeom prst="rect">
            <a:avLst/>
          </a:prstGeom>
          <a:solidFill>
            <a:srgbClr val="0891B2"/>
          </a:solidFill>
          <a:ln w="12700">
            <a:solidFill>
              <a:srgbClr val="0891B2">
                <a:alpha val="0"/>
              </a:srgbClr>
            </a:solidFill>
            <a:prstDash val="solid"/>
          </a:ln>
        </p:spPr>
      </p:sp>
      <p:sp>
        <p:nvSpPr>
          <p:cNvPr id="5" name="Text 3"/>
          <p:cNvSpPr/>
          <p:nvPr/>
        </p:nvSpPr>
        <p:spPr>
          <a:xfrm>
            <a:off x="7973568" y="658368"/>
            <a:ext cx="1234440" cy="256032"/>
          </a:xfrm>
          <a:prstGeom prst="rect">
            <a:avLst/>
          </a:prstGeom>
          <a:noFill/>
          <a:ln/>
        </p:spPr>
        <p:txBody>
          <a:bodyPr wrap="square" lIns="0" tIns="0" rIns="0" bIns="0" rtlCol="0" anchor="ctr">
            <a:normAutofit/>
          </a:bodyPr>
          <a:lstStyle/>
          <a:p>
            <a:pPr algn="ctr" indent="0" marL="0">
              <a:buNone/>
            </a:pPr>
            <a:r>
              <a:rPr lang="en-US" sz="800" b="1" dirty="0">
                <a:solidFill>
                  <a:srgbClr val="FFFFFF"/>
                </a:solidFill>
                <a:latin typeface="Calibri" pitchFamily="34" charset="0"/>
                <a:ea typeface="Calibri" pitchFamily="34" charset="-122"/>
                <a:cs typeface="Calibri" pitchFamily="34" charset="-120"/>
              </a:rPr>
              <a:t>PRACTICE</a:t>
            </a:r>
            <a:endParaRPr lang="en-US" sz="800" dirty="0"/>
          </a:p>
        </p:txBody>
      </p:sp>
      <p:sp>
        <p:nvSpPr>
          <p:cNvPr id="6" name="Text 4"/>
          <p:cNvSpPr/>
          <p:nvPr/>
        </p:nvSpPr>
        <p:spPr>
          <a:xfrm>
            <a:off x="347472" y="667512"/>
            <a:ext cx="8458200" cy="256032"/>
          </a:xfrm>
          <a:prstGeom prst="rect">
            <a:avLst/>
          </a:prstGeom>
          <a:noFill/>
          <a:ln/>
        </p:spPr>
        <p:txBody>
          <a:bodyPr wrap="square" lIns="0" tIns="0" rIns="0" bIns="0" rtlCol="0" anchor="ctr">
            <a:normAutofit/>
          </a:bodyPr>
          <a:lstStyle/>
          <a:p>
            <a:pPr indent="0" marL="0">
              <a:buNone/>
            </a:pPr>
            <a:r>
              <a:rPr lang="en-US" sz="1000" i="1" dirty="0">
                <a:solidFill>
                  <a:srgbClr val="64748B"/>
                </a:solidFill>
                <a:latin typeface="Calibri" pitchFamily="34" charset="0"/>
                <a:ea typeface="Calibri" pitchFamily="34" charset="-122"/>
                <a:cs typeface="Calibri" pitchFamily="34" charset="-120"/>
              </a:rPr>
              <a:t>Type every line. Run after each block. Compare output with your neighbour before moving on.</a:t>
            </a:r>
            <a:endParaRPr lang="en-US" sz="1000" dirty="0"/>
          </a:p>
        </p:txBody>
      </p:sp>
      <p:sp>
        <p:nvSpPr>
          <p:cNvPr id="7" name="Shape 5"/>
          <p:cNvSpPr/>
          <p:nvPr/>
        </p:nvSpPr>
        <p:spPr>
          <a:xfrm>
            <a:off x="256032" y="960120"/>
            <a:ext cx="4224528" cy="3703320"/>
          </a:xfrm>
          <a:prstGeom prst="rect">
            <a:avLst/>
          </a:prstGeom>
          <a:solidFill>
            <a:srgbClr val="111827"/>
          </a:solidFill>
          <a:ln w="12700">
            <a:solidFill>
              <a:srgbClr val="111827">
                <a:alpha val="0"/>
              </a:srgbClr>
            </a:solidFill>
            <a:prstDash val="solid"/>
          </a:ln>
          <a:effectLst>
            <a:outerShdw sx="100000" sy="100000" kx="0" ky="0" algn="bl" rotWithShape="0" blurRad="101600" dist="38100" dir="8100000">
              <a:srgbClr val="000000">
                <a:alpha val="10000"/>
              </a:srgbClr>
            </a:outerShdw>
          </a:effectLst>
        </p:spPr>
      </p:sp>
      <p:sp>
        <p:nvSpPr>
          <p:cNvPr id="8" name="Text 6"/>
          <p:cNvSpPr/>
          <p:nvPr/>
        </p:nvSpPr>
        <p:spPr>
          <a:xfrm>
            <a:off x="393192" y="1051560"/>
            <a:ext cx="3968496" cy="3520440"/>
          </a:xfrm>
          <a:prstGeom prst="rect">
            <a:avLst/>
          </a:prstGeom>
          <a:noFill/>
          <a:ln/>
        </p:spPr>
        <p:txBody>
          <a:bodyPr wrap="square" lIns="0" tIns="0" rIns="0" bIns="0" rtlCol="0" anchor="ctr">
            <a:normAutofit/>
          </a:bodyPr>
          <a:lstStyle/>
          <a:p>
            <a:pPr indent="0" marL="0">
              <a:buNone/>
            </a:pPr>
            <a:r>
              <a:rPr lang="en-US" sz="720" dirty="0">
                <a:solidFill>
                  <a:srgbClr val="F9FAFB"/>
                </a:solidFill>
                <a:latin typeface="Courier New" pitchFamily="34" charset="0"/>
                <a:ea typeface="Courier New" pitchFamily="34" charset="-122"/>
                <a:cs typeface="Courier New" pitchFamily="34" charset="-120"/>
              </a:rPr>
              <a:t>import pandas as pd, numpy as np, joblib</a:t>
            </a:r>
            <a:endParaRPr lang="en-US" sz="720" dirty="0"/>
          </a:p>
          <a:p>
            <a:pPr indent="0" marL="0">
              <a:buNone/>
            </a:pPr>
            <a:r>
              <a:rPr lang="en-US" sz="720" dirty="0">
                <a:solidFill>
                  <a:srgbClr val="F9FAFB"/>
                </a:solidFill>
                <a:latin typeface="Courier New" pitchFamily="34" charset="0"/>
                <a:ea typeface="Courier New" pitchFamily="34" charset="-122"/>
                <a:cs typeface="Courier New" pitchFamily="34" charset="-120"/>
              </a:rPr>
              <a:t>from sklearn.ensemble import RandomForestClassifier</a:t>
            </a:r>
            <a:endParaRPr lang="en-US" sz="720" dirty="0"/>
          </a:p>
          <a:p>
            <a:pPr indent="0" marL="0">
              <a:buNone/>
            </a:pPr>
            <a:r>
              <a:rPr lang="en-US" sz="720" dirty="0">
                <a:solidFill>
                  <a:srgbClr val="F9FAFB"/>
                </a:solidFill>
                <a:latin typeface="Courier New" pitchFamily="34" charset="0"/>
                <a:ea typeface="Courier New" pitchFamily="34" charset="-122"/>
                <a:cs typeface="Courier New" pitchFamily="34" charset="-120"/>
              </a:rPr>
              <a:t>from sklearn.model_selection import (train_test_split,</a:t>
            </a:r>
            <a:endParaRPr lang="en-US" sz="720" dirty="0"/>
          </a:p>
          <a:p>
            <a:pPr indent="0" marL="0">
              <a:buNone/>
            </a:pPr>
            <a:r>
              <a:rPr lang="en-US" sz="720" dirty="0">
                <a:solidFill>
                  <a:srgbClr val="F9FAFB"/>
                </a:solidFill>
                <a:latin typeface="Courier New" pitchFamily="34" charset="0"/>
                <a:ea typeface="Courier New" pitchFamily="34" charset="-122"/>
                <a:cs typeface="Courier New" pitchFamily="34" charset="-120"/>
              </a:rPr>
              <a:t>    cross_val_score, RandomizedSearchCV)</a:t>
            </a:r>
            <a:endParaRPr lang="en-US" sz="720" dirty="0"/>
          </a:p>
          <a:p>
            <a:pPr indent="0" marL="0">
              <a:buNone/>
            </a:pPr>
            <a:r>
              <a:rPr lang="en-US" sz="720" dirty="0">
                <a:solidFill>
                  <a:srgbClr val="F9FAFB"/>
                </a:solidFill>
                <a:latin typeface="Courier New" pitchFamily="34" charset="0"/>
                <a:ea typeface="Courier New" pitchFamily="34" charset="-122"/>
                <a:cs typeface="Courier New" pitchFamily="34" charset="-120"/>
              </a:rPr>
              <a:t>from sklearn.metrics import (roc_auc_score,</a:t>
            </a:r>
            <a:endParaRPr lang="en-US" sz="720" dirty="0"/>
          </a:p>
          <a:p>
            <a:pPr indent="0" marL="0">
              <a:buNone/>
            </a:pPr>
            <a:r>
              <a:rPr lang="en-US" sz="720" dirty="0">
                <a:solidFill>
                  <a:srgbClr val="F9FAFB"/>
                </a:solidFill>
                <a:latin typeface="Courier New" pitchFamily="34" charset="0"/>
                <a:ea typeface="Courier New" pitchFamily="34" charset="-122"/>
                <a:cs typeface="Courier New" pitchFamily="34" charset="-120"/>
              </a:rPr>
              <a:t>    classification_report, average_precision_score)</a:t>
            </a:r>
            <a:endParaRPr lang="en-US" sz="720" dirty="0"/>
          </a:p>
          <a:p>
            <a:pPr indent="0" marL="0">
              <a:buNone/>
            </a:pPr>
            <a:r>
              <a:rPr lang="en-US" sz="720" dirty="0">
                <a:solidFill>
                  <a:srgbClr val="F9FAFB"/>
                </a:solidFill>
                <a:latin typeface="Courier New" pitchFamily="34" charset="0"/>
                <a:ea typeface="Courier New" pitchFamily="34" charset="-122"/>
                <a:cs typeface="Courier New" pitchFamily="34" charset="-120"/>
              </a:rPr>
              <a:t>from sklearn.pipeline import Pipeline</a:t>
            </a:r>
            <a:endParaRPr lang="en-US" sz="720" dirty="0"/>
          </a:p>
          <a:p>
            <a:pPr indent="0" marL="0">
              <a:buNone/>
            </a:pPr>
            <a:r>
              <a:rPr lang="en-US" sz="720" dirty="0">
                <a:solidFill>
                  <a:srgbClr val="F9FAFB"/>
                </a:solidFill>
                <a:latin typeface="Courier New" pitchFamily="34" charset="0"/>
                <a:ea typeface="Courier New" pitchFamily="34" charset="-122"/>
                <a:cs typeface="Courier New" pitchFamily="34" charset="-120"/>
              </a:rPr>
              <a:t>from sklearn.preprocessing import StandardScaler</a:t>
            </a:r>
            <a:endParaRPr lang="en-US" sz="720" dirty="0"/>
          </a:p>
          <a:p>
            <a:pPr indent="0" marL="0">
              <a:buNone/>
            </a:pPr>
            <a:r>
              <a:rPr lang="en-US" sz="720" dirty="0">
                <a:solidFill>
                  <a:srgbClr val="F9FAFB"/>
                </a:solidFill>
                <a:latin typeface="Courier New" pitchFamily="34" charset="0"/>
                <a:ea typeface="Courier New" pitchFamily="34" charset="-122"/>
                <a:cs typeface="Courier New" pitchFamily="34" charset="-120"/>
              </a:rPr>
              <a:t>from sklearn.impute import SimpleImputer</a:t>
            </a:r>
            <a:endParaRPr lang="en-US" sz="720" dirty="0"/>
          </a:p>
          <a:p>
            <a:pPr indent="0" marL="0">
              <a:buNone/>
            </a:pPr>
            <a:r>
              <a:rPr lang="en-US" sz="720" dirty="0">
                <a:solidFill>
                  <a:srgbClr val="F9FAFB"/>
                </a:solidFill>
                <a:latin typeface="Courier New" pitchFamily="34" charset="0"/>
                <a:ea typeface="Courier New" pitchFamily="34" charset="-122"/>
                <a:cs typeface="Courier New" pitchFamily="34" charset="-120"/>
              </a:rPr>
              <a:t>import xgboost as xgb</a:t>
            </a:r>
            <a:endParaRPr lang="en-US" sz="720" dirty="0"/>
          </a:p>
          <a:p>
            <a:pPr indent="0" marL="0">
              <a:buNone/>
            </a:pPr>
            <a:endParaRPr lang="en-US" sz="720" dirty="0"/>
          </a:p>
          <a:p>
            <a:pPr indent="0" marL="0">
              <a:buNone/>
            </a:pPr>
            <a:r>
              <a:rPr lang="en-US" sz="720" dirty="0">
                <a:solidFill>
                  <a:srgbClr val="F9FAFB"/>
                </a:solidFill>
                <a:latin typeface="Courier New" pitchFamily="34" charset="0"/>
                <a:ea typeface="Courier New" pitchFamily="34" charset="-122"/>
                <a:cs typeface="Courier New" pitchFamily="34" charset="-120"/>
              </a:rPr>
              <a:t>df = pd.read_csv("healthcare.csv")</a:t>
            </a:r>
            <a:endParaRPr lang="en-US" sz="720" dirty="0"/>
          </a:p>
          <a:p>
            <a:pPr indent="0" marL="0">
              <a:buNone/>
            </a:pPr>
            <a:r>
              <a:rPr lang="en-US" sz="720" dirty="0">
                <a:solidFill>
                  <a:srgbClr val="F9FAFB"/>
                </a:solidFill>
                <a:latin typeface="Courier New" pitchFamily="34" charset="0"/>
                <a:ea typeface="Courier New" pitchFamily="34" charset="-122"/>
                <a:cs typeface="Courier New" pitchFamily="34" charset="-120"/>
              </a:rPr>
              <a:t>features = ["age","bmi","hba1c","systolic_bp",</a:t>
            </a:r>
            <a:endParaRPr lang="en-US" sz="720" dirty="0"/>
          </a:p>
          <a:p>
            <a:pPr indent="0" marL="0">
              <a:buNone/>
            </a:pPr>
            <a:r>
              <a:rPr lang="en-US" sz="720" dirty="0">
                <a:solidFill>
                  <a:srgbClr val="F9FAFB"/>
                </a:solidFill>
                <a:latin typeface="Courier New" pitchFamily="34" charset="0"/>
                <a:ea typeface="Courier New" pitchFamily="34" charset="-122"/>
                <a:cs typeface="Courier New" pitchFamily="34" charset="-120"/>
              </a:rPr>
              <a:t>            "diastolic_bp","heart_rate","los_days"]</a:t>
            </a:r>
            <a:endParaRPr lang="en-US" sz="720" dirty="0"/>
          </a:p>
          <a:p>
            <a:pPr indent="0" marL="0">
              <a:buNone/>
            </a:pPr>
            <a:r>
              <a:rPr lang="en-US" sz="720" dirty="0">
                <a:solidFill>
                  <a:srgbClr val="F9FAFB"/>
                </a:solidFill>
                <a:latin typeface="Courier New" pitchFamily="34" charset="0"/>
                <a:ea typeface="Courier New" pitchFamily="34" charset="-122"/>
                <a:cs typeface="Courier New" pitchFamily="34" charset="-120"/>
              </a:rPr>
              <a:t>X = df[features]</a:t>
            </a:r>
            <a:endParaRPr lang="en-US" sz="720" dirty="0"/>
          </a:p>
          <a:p>
            <a:pPr indent="0" marL="0">
              <a:buNone/>
            </a:pPr>
            <a:r>
              <a:rPr lang="en-US" sz="720" dirty="0">
                <a:solidFill>
                  <a:srgbClr val="F9FAFB"/>
                </a:solidFill>
                <a:latin typeface="Courier New" pitchFamily="34" charset="0"/>
                <a:ea typeface="Courier New" pitchFamily="34" charset="-122"/>
                <a:cs typeface="Courier New" pitchFamily="34" charset="-120"/>
              </a:rPr>
              <a:t>y = df["readmitted"].astype(int)</a:t>
            </a:r>
            <a:endParaRPr lang="en-US" sz="720" dirty="0"/>
          </a:p>
          <a:p>
            <a:pPr indent="0" marL="0">
              <a:buNone/>
            </a:pPr>
            <a:r>
              <a:rPr lang="en-US" sz="720" dirty="0">
                <a:solidFill>
                  <a:srgbClr val="F9FAFB"/>
                </a:solidFill>
                <a:latin typeface="Courier New" pitchFamily="34" charset="0"/>
                <a:ea typeface="Courier New" pitchFamily="34" charset="-122"/>
                <a:cs typeface="Courier New" pitchFamily="34" charset="-120"/>
              </a:rPr>
              <a:t>X_tr,X_te,y_tr,y_te = train_test_split(</a:t>
            </a:r>
            <a:endParaRPr lang="en-US" sz="720" dirty="0"/>
          </a:p>
          <a:p>
            <a:pPr indent="0" marL="0">
              <a:buNone/>
            </a:pPr>
            <a:r>
              <a:rPr lang="en-US" sz="720" dirty="0">
                <a:solidFill>
                  <a:srgbClr val="F9FAFB"/>
                </a:solidFill>
                <a:latin typeface="Courier New" pitchFamily="34" charset="0"/>
                <a:ea typeface="Courier New" pitchFamily="34" charset="-122"/>
                <a:cs typeface="Courier New" pitchFamily="34" charset="-120"/>
              </a:rPr>
              <a:t>    X,y,test_size=0.2,stratify=y,random_state=42)</a:t>
            </a:r>
            <a:endParaRPr lang="en-US" sz="720" dirty="0"/>
          </a:p>
          <a:p>
            <a:pPr indent="0" marL="0">
              <a:buNone/>
            </a:pPr>
            <a:endParaRPr lang="en-US" sz="720" dirty="0"/>
          </a:p>
          <a:p>
            <a:pPr indent="0" marL="0">
              <a:buNone/>
            </a:pPr>
            <a:r>
              <a:rPr lang="en-US" sz="720" dirty="0">
                <a:solidFill>
                  <a:srgbClr val="F9FAFB"/>
                </a:solidFill>
                <a:latin typeface="Courier New" pitchFamily="34" charset="0"/>
                <a:ea typeface="Courier New" pitchFamily="34" charset="-122"/>
                <a:cs typeface="Courier New" pitchFamily="34" charset="-120"/>
              </a:rPr>
              <a:t># ── Random Forest ─────────────────────────────────────────</a:t>
            </a:r>
            <a:endParaRPr lang="en-US" sz="720" dirty="0"/>
          </a:p>
          <a:p>
            <a:pPr indent="0" marL="0">
              <a:buNone/>
            </a:pPr>
            <a:r>
              <a:rPr lang="en-US" sz="720" dirty="0">
                <a:solidFill>
                  <a:srgbClr val="F9FAFB"/>
                </a:solidFill>
                <a:latin typeface="Courier New" pitchFamily="34" charset="0"/>
                <a:ea typeface="Courier New" pitchFamily="34" charset="-122"/>
                <a:cs typeface="Courier New" pitchFamily="34" charset="-120"/>
              </a:rPr>
              <a:t>rf = RandomForestClassifier(</a:t>
            </a:r>
            <a:endParaRPr lang="en-US" sz="720" dirty="0"/>
          </a:p>
          <a:p>
            <a:pPr indent="0" marL="0">
              <a:buNone/>
            </a:pPr>
            <a:r>
              <a:rPr lang="en-US" sz="720" dirty="0">
                <a:solidFill>
                  <a:srgbClr val="F9FAFB"/>
                </a:solidFill>
                <a:latin typeface="Courier New" pitchFamily="34" charset="0"/>
                <a:ea typeface="Courier New" pitchFamily="34" charset="-122"/>
                <a:cs typeface="Courier New" pitchFamily="34" charset="-120"/>
              </a:rPr>
              <a:t>    n_estimators   = 300,</a:t>
            </a:r>
            <a:endParaRPr lang="en-US" sz="720" dirty="0"/>
          </a:p>
          <a:p>
            <a:pPr indent="0" marL="0">
              <a:buNone/>
            </a:pPr>
            <a:r>
              <a:rPr lang="en-US" sz="720" dirty="0">
                <a:solidFill>
                  <a:srgbClr val="F9FAFB"/>
                </a:solidFill>
                <a:latin typeface="Courier New" pitchFamily="34" charset="0"/>
                <a:ea typeface="Courier New" pitchFamily="34" charset="-122"/>
                <a:cs typeface="Courier New" pitchFamily="34" charset="-120"/>
              </a:rPr>
              <a:t>    max_features   = "sqrt",</a:t>
            </a:r>
            <a:endParaRPr lang="en-US" sz="720" dirty="0"/>
          </a:p>
          <a:p>
            <a:pPr indent="0" marL="0">
              <a:buNone/>
            </a:pPr>
            <a:r>
              <a:rPr lang="en-US" sz="720" dirty="0">
                <a:solidFill>
                  <a:srgbClr val="F9FAFB"/>
                </a:solidFill>
                <a:latin typeface="Courier New" pitchFamily="34" charset="0"/>
                <a:ea typeface="Courier New" pitchFamily="34" charset="-122"/>
                <a:cs typeface="Courier New" pitchFamily="34" charset="-120"/>
              </a:rPr>
              <a:t>    class_weight   = "balanced",</a:t>
            </a:r>
            <a:endParaRPr lang="en-US" sz="720" dirty="0"/>
          </a:p>
          <a:p>
            <a:pPr indent="0" marL="0">
              <a:buNone/>
            </a:pPr>
            <a:r>
              <a:rPr lang="en-US" sz="720" dirty="0">
                <a:solidFill>
                  <a:srgbClr val="F9FAFB"/>
                </a:solidFill>
                <a:latin typeface="Courier New" pitchFamily="34" charset="0"/>
                <a:ea typeface="Courier New" pitchFamily="34" charset="-122"/>
                <a:cs typeface="Courier New" pitchFamily="34" charset="-120"/>
              </a:rPr>
              <a:t>    oob_score      = True,</a:t>
            </a:r>
            <a:endParaRPr lang="en-US" sz="720" dirty="0"/>
          </a:p>
          <a:p>
            <a:pPr indent="0" marL="0">
              <a:buNone/>
            </a:pPr>
            <a:r>
              <a:rPr lang="en-US" sz="720" dirty="0">
                <a:solidFill>
                  <a:srgbClr val="F9FAFB"/>
                </a:solidFill>
                <a:latin typeface="Courier New" pitchFamily="34" charset="0"/>
                <a:ea typeface="Courier New" pitchFamily="34" charset="-122"/>
                <a:cs typeface="Courier New" pitchFamily="34" charset="-120"/>
              </a:rPr>
              <a:t>    n_jobs         = -1,</a:t>
            </a:r>
            <a:endParaRPr lang="en-US" sz="720" dirty="0"/>
          </a:p>
          <a:p>
            <a:pPr indent="0" marL="0">
              <a:buNone/>
            </a:pPr>
            <a:r>
              <a:rPr lang="en-US" sz="720" dirty="0">
                <a:solidFill>
                  <a:srgbClr val="F9FAFB"/>
                </a:solidFill>
                <a:latin typeface="Courier New" pitchFamily="34" charset="0"/>
                <a:ea typeface="Courier New" pitchFamily="34" charset="-122"/>
                <a:cs typeface="Courier New" pitchFamily="34" charset="-120"/>
              </a:rPr>
              <a:t>    random_state   = 42,</a:t>
            </a:r>
            <a:endParaRPr lang="en-US" sz="720" dirty="0"/>
          </a:p>
          <a:p>
            <a:pPr indent="0" marL="0">
              <a:buNone/>
            </a:pPr>
            <a:r>
              <a:rPr lang="en-US" sz="720" dirty="0">
                <a:solidFill>
                  <a:srgbClr val="F9FAFB"/>
                </a:solidFill>
                <a:latin typeface="Courier New" pitchFamily="34" charset="0"/>
                <a:ea typeface="Courier New" pitchFamily="34" charset="-122"/>
                <a:cs typeface="Courier New" pitchFamily="34" charset="-120"/>
              </a:rPr>
              <a:t>)</a:t>
            </a:r>
            <a:endParaRPr lang="en-US" sz="720" dirty="0"/>
          </a:p>
          <a:p>
            <a:pPr indent="0" marL="0">
              <a:buNone/>
            </a:pPr>
            <a:r>
              <a:rPr lang="en-US" sz="720" dirty="0">
                <a:solidFill>
                  <a:srgbClr val="F9FAFB"/>
                </a:solidFill>
                <a:latin typeface="Courier New" pitchFamily="34" charset="0"/>
                <a:ea typeface="Courier New" pitchFamily="34" charset="-122"/>
                <a:cs typeface="Courier New" pitchFamily="34" charset="-120"/>
              </a:rPr>
              <a:t>rf.fit(X_tr.fillna(X_tr.median()), y_tr)</a:t>
            </a:r>
            <a:endParaRPr lang="en-US" sz="720" dirty="0"/>
          </a:p>
          <a:p>
            <a:pPr indent="0" marL="0">
              <a:buNone/>
            </a:pPr>
            <a:r>
              <a:rPr lang="en-US" sz="720" dirty="0">
                <a:solidFill>
                  <a:srgbClr val="F9FAFB"/>
                </a:solidFill>
                <a:latin typeface="Courier New" pitchFamily="34" charset="0"/>
                <a:ea typeface="Courier New" pitchFamily="34" charset="-122"/>
                <a:cs typeface="Courier New" pitchFamily="34" charset="-120"/>
              </a:rPr>
              <a:t>print(f"RF OOB score: {rf.oob_score_:.4f}")</a:t>
            </a:r>
            <a:endParaRPr lang="en-US" sz="720" dirty="0"/>
          </a:p>
          <a:p>
            <a:pPr indent="0" marL="0">
              <a:buNone/>
            </a:pPr>
            <a:endParaRPr lang="en-US" sz="720" dirty="0"/>
          </a:p>
          <a:p>
            <a:pPr indent="0" marL="0">
              <a:buNone/>
            </a:pPr>
            <a:r>
              <a:rPr lang="en-US" sz="720" dirty="0">
                <a:solidFill>
                  <a:srgbClr val="F9FAFB"/>
                </a:solidFill>
                <a:latin typeface="Courier New" pitchFamily="34" charset="0"/>
                <a:ea typeface="Courier New" pitchFamily="34" charset="-122"/>
                <a:cs typeface="Courier New" pitchFamily="34" charset="-120"/>
              </a:rPr>
              <a:t>rf_prob = rf.predict_proba(X_te.fillna(X_tr.median()))[:,1]</a:t>
            </a:r>
            <a:endParaRPr lang="en-US" sz="720" dirty="0"/>
          </a:p>
          <a:p>
            <a:pPr indent="0" marL="0">
              <a:buNone/>
            </a:pPr>
            <a:r>
              <a:rPr lang="en-US" sz="720" dirty="0">
                <a:solidFill>
                  <a:srgbClr val="F9FAFB"/>
                </a:solidFill>
                <a:latin typeface="Courier New" pitchFamily="34" charset="0"/>
                <a:ea typeface="Courier New" pitchFamily="34" charset="-122"/>
                <a:cs typeface="Courier New" pitchFamily="34" charset="-120"/>
              </a:rPr>
              <a:t>print(f"RF Test AUC:  {roc_auc_score(y_te,rf_prob):.4f}")</a:t>
            </a:r>
            <a:endParaRPr lang="en-US" sz="720" dirty="0"/>
          </a:p>
          <a:p>
            <a:pPr indent="0" marL="0">
              <a:buNone/>
            </a:pPr>
            <a:r>
              <a:rPr lang="en-US" sz="720" dirty="0">
                <a:solidFill>
                  <a:srgbClr val="F9FAFB"/>
                </a:solidFill>
                <a:latin typeface="Courier New" pitchFamily="34" charset="0"/>
                <a:ea typeface="Courier New" pitchFamily="34" charset="-122"/>
                <a:cs typeface="Courier New" pitchFamily="34" charset="-120"/>
              </a:rPr>
              <a:t>print(f"RF AP Score:  {average_precision_score(y_te,rf_prob):.4f}")</a:t>
            </a:r>
            <a:endParaRPr lang="en-US" sz="720" dirty="0"/>
          </a:p>
          <a:p>
            <a:pPr indent="0" marL="0">
              <a:buNone/>
            </a:pPr>
            <a:endParaRPr lang="en-US" sz="720" dirty="0"/>
          </a:p>
          <a:p>
            <a:pPr indent="0" marL="0">
              <a:buNone/>
            </a:pPr>
            <a:r>
              <a:rPr lang="en-US" sz="720" dirty="0">
                <a:solidFill>
                  <a:srgbClr val="F9FAFB"/>
                </a:solidFill>
                <a:latin typeface="Courier New" pitchFamily="34" charset="0"/>
                <a:ea typeface="Courier New" pitchFamily="34" charset="-122"/>
                <a:cs typeface="Courier New" pitchFamily="34" charset="-120"/>
              </a:rPr>
              <a:t># Feature importance</a:t>
            </a:r>
            <a:endParaRPr lang="en-US" sz="720" dirty="0"/>
          </a:p>
          <a:p>
            <a:pPr indent="0" marL="0">
              <a:buNone/>
            </a:pPr>
            <a:r>
              <a:rPr lang="en-US" sz="720" dirty="0">
                <a:solidFill>
                  <a:srgbClr val="F9FAFB"/>
                </a:solidFill>
                <a:latin typeface="Courier New" pitchFamily="34" charset="0"/>
                <a:ea typeface="Courier New" pitchFamily="34" charset="-122"/>
                <a:cs typeface="Courier New" pitchFamily="34" charset="-120"/>
              </a:rPr>
              <a:t>fi = pd.Series(rf.feature_importances_,</a:t>
            </a:r>
            <a:endParaRPr lang="en-US" sz="720" dirty="0"/>
          </a:p>
          <a:p>
            <a:pPr indent="0" marL="0">
              <a:buNone/>
            </a:pPr>
            <a:r>
              <a:rPr lang="en-US" sz="720" dirty="0">
                <a:solidFill>
                  <a:srgbClr val="F9FAFB"/>
                </a:solidFill>
                <a:latin typeface="Courier New" pitchFamily="34" charset="0"/>
                <a:ea typeface="Courier New" pitchFamily="34" charset="-122"/>
                <a:cs typeface="Courier New" pitchFamily="34" charset="-120"/>
              </a:rPr>
              <a:t>               index=features).sort_values(ascending=False)</a:t>
            </a:r>
            <a:endParaRPr lang="en-US" sz="720" dirty="0"/>
          </a:p>
          <a:p>
            <a:pPr indent="0" marL="0">
              <a:buNone/>
            </a:pPr>
            <a:r>
              <a:rPr lang="en-US" sz="720" dirty="0">
                <a:solidFill>
                  <a:srgbClr val="F9FAFB"/>
                </a:solidFill>
                <a:latin typeface="Courier New" pitchFamily="34" charset="0"/>
                <a:ea typeface="Courier New" pitchFamily="34" charset="-122"/>
                <a:cs typeface="Courier New" pitchFamily="34" charset="-120"/>
              </a:rPr>
              <a:t>print("\nRF Feature Importance:")</a:t>
            </a:r>
            <a:endParaRPr lang="en-US" sz="720" dirty="0"/>
          </a:p>
          <a:p>
            <a:pPr indent="0" marL="0">
              <a:buNone/>
            </a:pPr>
            <a:r>
              <a:rPr lang="en-US" sz="720" dirty="0">
                <a:solidFill>
                  <a:srgbClr val="F9FAFB"/>
                </a:solidFill>
                <a:latin typeface="Courier New" pitchFamily="34" charset="0"/>
                <a:ea typeface="Courier New" pitchFamily="34" charset="-122"/>
                <a:cs typeface="Courier New" pitchFamily="34" charset="-120"/>
              </a:rPr>
              <a:t>print(fi.round(4).to_string())</a:t>
            </a:r>
            <a:endParaRPr lang="en-US" sz="720" dirty="0"/>
          </a:p>
        </p:txBody>
      </p:sp>
      <p:sp>
        <p:nvSpPr>
          <p:cNvPr id="9" name="Shape 7"/>
          <p:cNvSpPr/>
          <p:nvPr/>
        </p:nvSpPr>
        <p:spPr>
          <a:xfrm>
            <a:off x="4645152" y="960120"/>
            <a:ext cx="4224528" cy="3703320"/>
          </a:xfrm>
          <a:prstGeom prst="rect">
            <a:avLst/>
          </a:prstGeom>
          <a:solidFill>
            <a:srgbClr val="111827"/>
          </a:solidFill>
          <a:ln w="12700">
            <a:solidFill>
              <a:srgbClr val="111827">
                <a:alpha val="0"/>
              </a:srgbClr>
            </a:solidFill>
            <a:prstDash val="solid"/>
          </a:ln>
          <a:effectLst>
            <a:outerShdw sx="100000" sy="100000" kx="0" ky="0" algn="bl" rotWithShape="0" blurRad="101600" dist="38100" dir="8100000">
              <a:srgbClr val="000000">
                <a:alpha val="10000"/>
              </a:srgbClr>
            </a:outerShdw>
          </a:effectLst>
        </p:spPr>
      </p:sp>
      <p:sp>
        <p:nvSpPr>
          <p:cNvPr id="10" name="Text 8"/>
          <p:cNvSpPr/>
          <p:nvPr/>
        </p:nvSpPr>
        <p:spPr>
          <a:xfrm>
            <a:off x="4782312" y="1051560"/>
            <a:ext cx="3968496" cy="3520440"/>
          </a:xfrm>
          <a:prstGeom prst="rect">
            <a:avLst/>
          </a:prstGeom>
          <a:noFill/>
          <a:ln/>
        </p:spPr>
        <p:txBody>
          <a:bodyPr wrap="square" lIns="0" tIns="0" rIns="0" bIns="0" rtlCol="0" anchor="ctr">
            <a:normAutofit/>
          </a:bodyPr>
          <a:lstStyle/>
          <a:p>
            <a:pPr indent="0" marL="0">
              <a:buNone/>
            </a:pPr>
            <a:r>
              <a:rPr lang="en-US" sz="720" dirty="0">
                <a:solidFill>
                  <a:srgbClr val="F9FAFB"/>
                </a:solidFill>
                <a:latin typeface="Courier New" pitchFamily="34" charset="0"/>
                <a:ea typeface="Courier New" pitchFamily="34" charset="-122"/>
                <a:cs typeface="Courier New" pitchFamily="34" charset="-120"/>
              </a:rPr>
              <a:t># ── XGBoost ──────────────────────────────────────────────</a:t>
            </a:r>
            <a:endParaRPr lang="en-US" sz="720" dirty="0"/>
          </a:p>
          <a:p>
            <a:pPr indent="0" marL="0">
              <a:buNone/>
            </a:pPr>
            <a:r>
              <a:rPr lang="en-US" sz="720" dirty="0">
                <a:solidFill>
                  <a:srgbClr val="F9FAFB"/>
                </a:solidFill>
                <a:latin typeface="Courier New" pitchFamily="34" charset="0"/>
                <a:ea typeface="Courier New" pitchFamily="34" charset="-122"/>
                <a:cs typeface="Courier New" pitchFamily="34" charset="-120"/>
              </a:rPr>
              <a:t>from sklearn.preprocessing import LabelEncoder</a:t>
            </a:r>
            <a:endParaRPr lang="en-US" sz="720" dirty="0"/>
          </a:p>
          <a:p>
            <a:pPr indent="0" marL="0">
              <a:buNone/>
            </a:pPr>
            <a:endParaRPr lang="en-US" sz="720" dirty="0"/>
          </a:p>
          <a:p>
            <a:pPr indent="0" marL="0">
              <a:buNone/>
            </a:pPr>
            <a:r>
              <a:rPr lang="en-US" sz="720" dirty="0">
                <a:solidFill>
                  <a:srgbClr val="F9FAFB"/>
                </a:solidFill>
                <a:latin typeface="Courier New" pitchFamily="34" charset="0"/>
                <a:ea typeface="Courier New" pitchFamily="34" charset="-122"/>
                <a:cs typeface="Courier New" pitchFamily="34" charset="-120"/>
              </a:rPr>
              <a:t>pos = y_tr.sum(); neg = len(y_tr)-pos</a:t>
            </a:r>
            <a:endParaRPr lang="en-US" sz="720" dirty="0"/>
          </a:p>
          <a:p>
            <a:pPr indent="0" marL="0">
              <a:buNone/>
            </a:pPr>
            <a:r>
              <a:rPr lang="en-US" sz="720" dirty="0">
                <a:solidFill>
                  <a:srgbClr val="F9FAFB"/>
                </a:solidFill>
                <a:latin typeface="Courier New" pitchFamily="34" charset="0"/>
                <a:ea typeface="Courier New" pitchFamily="34" charset="-122"/>
                <a:cs typeface="Courier New" pitchFamily="34" charset="-120"/>
              </a:rPr>
              <a:t>xgb_model = xgb.XGBClassifier(</a:t>
            </a:r>
            <a:endParaRPr lang="en-US" sz="720" dirty="0"/>
          </a:p>
          <a:p>
            <a:pPr indent="0" marL="0">
              <a:buNone/>
            </a:pPr>
            <a:r>
              <a:rPr lang="en-US" sz="720" dirty="0">
                <a:solidFill>
                  <a:srgbClr val="F9FAFB"/>
                </a:solidFill>
                <a:latin typeface="Courier New" pitchFamily="34" charset="0"/>
                <a:ea typeface="Courier New" pitchFamily="34" charset="-122"/>
                <a:cs typeface="Courier New" pitchFamily="34" charset="-120"/>
              </a:rPr>
              <a:t>    n_estimators      = 500,</a:t>
            </a:r>
            <a:endParaRPr lang="en-US" sz="720" dirty="0"/>
          </a:p>
          <a:p>
            <a:pPr indent="0" marL="0">
              <a:buNone/>
            </a:pPr>
            <a:r>
              <a:rPr lang="en-US" sz="720" dirty="0">
                <a:solidFill>
                  <a:srgbClr val="F9FAFB"/>
                </a:solidFill>
                <a:latin typeface="Courier New" pitchFamily="34" charset="0"/>
                <a:ea typeface="Courier New" pitchFamily="34" charset="-122"/>
                <a:cs typeface="Courier New" pitchFamily="34" charset="-120"/>
              </a:rPr>
              <a:t>    learning_rate     = 0.05,</a:t>
            </a:r>
            <a:endParaRPr lang="en-US" sz="720" dirty="0"/>
          </a:p>
          <a:p>
            <a:pPr indent="0" marL="0">
              <a:buNone/>
            </a:pPr>
            <a:r>
              <a:rPr lang="en-US" sz="720" dirty="0">
                <a:solidFill>
                  <a:srgbClr val="F9FAFB"/>
                </a:solidFill>
                <a:latin typeface="Courier New" pitchFamily="34" charset="0"/>
                <a:ea typeface="Courier New" pitchFamily="34" charset="-122"/>
                <a:cs typeface="Courier New" pitchFamily="34" charset="-120"/>
              </a:rPr>
              <a:t>    max_depth         = 5,</a:t>
            </a:r>
            <a:endParaRPr lang="en-US" sz="720" dirty="0"/>
          </a:p>
          <a:p>
            <a:pPr indent="0" marL="0">
              <a:buNone/>
            </a:pPr>
            <a:r>
              <a:rPr lang="en-US" sz="720" dirty="0">
                <a:solidFill>
                  <a:srgbClr val="F9FAFB"/>
                </a:solidFill>
                <a:latin typeface="Courier New" pitchFamily="34" charset="0"/>
                <a:ea typeface="Courier New" pitchFamily="34" charset="-122"/>
                <a:cs typeface="Courier New" pitchFamily="34" charset="-120"/>
              </a:rPr>
              <a:t>    subsample         = 0.8,</a:t>
            </a:r>
            <a:endParaRPr lang="en-US" sz="720" dirty="0"/>
          </a:p>
          <a:p>
            <a:pPr indent="0" marL="0">
              <a:buNone/>
            </a:pPr>
            <a:r>
              <a:rPr lang="en-US" sz="720" dirty="0">
                <a:solidFill>
                  <a:srgbClr val="F9FAFB"/>
                </a:solidFill>
                <a:latin typeface="Courier New" pitchFamily="34" charset="0"/>
                <a:ea typeface="Courier New" pitchFamily="34" charset="-122"/>
                <a:cs typeface="Courier New" pitchFamily="34" charset="-120"/>
              </a:rPr>
              <a:t>    colsample_bytree  = 0.8,</a:t>
            </a:r>
            <a:endParaRPr lang="en-US" sz="720" dirty="0"/>
          </a:p>
          <a:p>
            <a:pPr indent="0" marL="0">
              <a:buNone/>
            </a:pPr>
            <a:r>
              <a:rPr lang="en-US" sz="720" dirty="0">
                <a:solidFill>
                  <a:srgbClr val="F9FAFB"/>
                </a:solidFill>
                <a:latin typeface="Courier New" pitchFamily="34" charset="0"/>
                <a:ea typeface="Courier New" pitchFamily="34" charset="-122"/>
                <a:cs typeface="Courier New" pitchFamily="34" charset="-120"/>
              </a:rPr>
              <a:t>    scale_pos_weight  = neg/pos,  # imbalance handling</a:t>
            </a:r>
            <a:endParaRPr lang="en-US" sz="720" dirty="0"/>
          </a:p>
          <a:p>
            <a:pPr indent="0" marL="0">
              <a:buNone/>
            </a:pPr>
            <a:r>
              <a:rPr lang="en-US" sz="720" dirty="0">
                <a:solidFill>
                  <a:srgbClr val="F9FAFB"/>
                </a:solidFill>
                <a:latin typeface="Courier New" pitchFamily="34" charset="0"/>
                <a:ea typeface="Courier New" pitchFamily="34" charset="-122"/>
                <a:cs typeface="Courier New" pitchFamily="34" charset="-120"/>
              </a:rPr>
              <a:t>    early_stopping_rounds = 50,</a:t>
            </a:r>
            <a:endParaRPr lang="en-US" sz="720" dirty="0"/>
          </a:p>
          <a:p>
            <a:pPr indent="0" marL="0">
              <a:buNone/>
            </a:pPr>
            <a:r>
              <a:rPr lang="en-US" sz="720" dirty="0">
                <a:solidFill>
                  <a:srgbClr val="F9FAFB"/>
                </a:solidFill>
                <a:latin typeface="Courier New" pitchFamily="34" charset="0"/>
                <a:ea typeface="Courier New" pitchFamily="34" charset="-122"/>
                <a:cs typeface="Courier New" pitchFamily="34" charset="-120"/>
              </a:rPr>
              <a:t>    eval_metric       = "auc",</a:t>
            </a:r>
            <a:endParaRPr lang="en-US" sz="720" dirty="0"/>
          </a:p>
          <a:p>
            <a:pPr indent="0" marL="0">
              <a:buNone/>
            </a:pPr>
            <a:r>
              <a:rPr lang="en-US" sz="720" dirty="0">
                <a:solidFill>
                  <a:srgbClr val="F9FAFB"/>
                </a:solidFill>
                <a:latin typeface="Courier New" pitchFamily="34" charset="0"/>
                <a:ea typeface="Courier New" pitchFamily="34" charset="-122"/>
                <a:cs typeface="Courier New" pitchFamily="34" charset="-120"/>
              </a:rPr>
              <a:t>    random_state      = 42,</a:t>
            </a:r>
            <a:endParaRPr lang="en-US" sz="720" dirty="0"/>
          </a:p>
          <a:p>
            <a:pPr indent="0" marL="0">
              <a:buNone/>
            </a:pPr>
            <a:r>
              <a:rPr lang="en-US" sz="720" dirty="0">
                <a:solidFill>
                  <a:srgbClr val="F9FAFB"/>
                </a:solidFill>
                <a:latin typeface="Courier New" pitchFamily="34" charset="0"/>
                <a:ea typeface="Courier New" pitchFamily="34" charset="-122"/>
                <a:cs typeface="Courier New" pitchFamily="34" charset="-120"/>
              </a:rPr>
              <a:t>    n_jobs            = -1,</a:t>
            </a:r>
            <a:endParaRPr lang="en-US" sz="720" dirty="0"/>
          </a:p>
          <a:p>
            <a:pPr indent="0" marL="0">
              <a:buNone/>
            </a:pPr>
            <a:r>
              <a:rPr lang="en-US" sz="720" dirty="0">
                <a:solidFill>
                  <a:srgbClr val="F9FAFB"/>
                </a:solidFill>
                <a:latin typeface="Courier New" pitchFamily="34" charset="0"/>
                <a:ea typeface="Courier New" pitchFamily="34" charset="-122"/>
                <a:cs typeface="Courier New" pitchFamily="34" charset="-120"/>
              </a:rPr>
              <a:t>)</a:t>
            </a:r>
            <a:endParaRPr lang="en-US" sz="720" dirty="0"/>
          </a:p>
          <a:p>
            <a:pPr indent="0" marL="0">
              <a:buNone/>
            </a:pPr>
            <a:r>
              <a:rPr lang="en-US" sz="720" dirty="0">
                <a:solidFill>
                  <a:srgbClr val="F9FAFB"/>
                </a:solidFill>
                <a:latin typeface="Courier New" pitchFamily="34" charset="0"/>
                <a:ea typeface="Courier New" pitchFamily="34" charset="-122"/>
                <a:cs typeface="Courier New" pitchFamily="34" charset="-120"/>
              </a:rPr>
              <a:t># XGBoost handles NaN natively!</a:t>
            </a:r>
            <a:endParaRPr lang="en-US" sz="720" dirty="0"/>
          </a:p>
          <a:p>
            <a:pPr indent="0" marL="0">
              <a:buNone/>
            </a:pPr>
            <a:r>
              <a:rPr lang="en-US" sz="720" dirty="0">
                <a:solidFill>
                  <a:srgbClr val="F9FAFB"/>
                </a:solidFill>
                <a:latin typeface="Courier New" pitchFamily="34" charset="0"/>
                <a:ea typeface="Courier New" pitchFamily="34" charset="-122"/>
                <a:cs typeface="Courier New" pitchFamily="34" charset="-120"/>
              </a:rPr>
              <a:t>eval_set = [(X_te, y_te)]</a:t>
            </a:r>
            <a:endParaRPr lang="en-US" sz="720" dirty="0"/>
          </a:p>
          <a:p>
            <a:pPr indent="0" marL="0">
              <a:buNone/>
            </a:pPr>
            <a:r>
              <a:rPr lang="en-US" sz="720" dirty="0">
                <a:solidFill>
                  <a:srgbClr val="F9FAFB"/>
                </a:solidFill>
                <a:latin typeface="Courier New" pitchFamily="34" charset="0"/>
                <a:ea typeface="Courier New" pitchFamily="34" charset="-122"/>
                <a:cs typeface="Courier New" pitchFamily="34" charset="-120"/>
              </a:rPr>
              <a:t>xgb_model.fit(X_tr, y_tr,</a:t>
            </a:r>
            <a:endParaRPr lang="en-US" sz="720" dirty="0"/>
          </a:p>
          <a:p>
            <a:pPr indent="0" marL="0">
              <a:buNone/>
            </a:pPr>
            <a:r>
              <a:rPr lang="en-US" sz="720" dirty="0">
                <a:solidFill>
                  <a:srgbClr val="F9FAFB"/>
                </a:solidFill>
                <a:latin typeface="Courier New" pitchFamily="34" charset="0"/>
                <a:ea typeface="Courier New" pitchFamily="34" charset="-122"/>
                <a:cs typeface="Courier New" pitchFamily="34" charset="-120"/>
              </a:rPr>
              <a:t>              eval_set=eval_set, verbose=False)</a:t>
            </a:r>
            <a:endParaRPr lang="en-US" sz="720" dirty="0"/>
          </a:p>
          <a:p>
            <a:pPr indent="0" marL="0">
              <a:buNone/>
            </a:pPr>
            <a:r>
              <a:rPr lang="en-US" sz="720" dirty="0">
                <a:solidFill>
                  <a:srgbClr val="F9FAFB"/>
                </a:solidFill>
                <a:latin typeface="Courier New" pitchFamily="34" charset="0"/>
                <a:ea typeface="Courier New" pitchFamily="34" charset="-122"/>
                <a:cs typeface="Courier New" pitchFamily="34" charset="-120"/>
              </a:rPr>
              <a:t>best_iter = xgb_model.best_iteration</a:t>
            </a:r>
            <a:endParaRPr lang="en-US" sz="720" dirty="0"/>
          </a:p>
          <a:p>
            <a:pPr indent="0" marL="0">
              <a:buNone/>
            </a:pPr>
            <a:r>
              <a:rPr lang="en-US" sz="720" dirty="0">
                <a:solidFill>
                  <a:srgbClr val="F9FAFB"/>
                </a:solidFill>
                <a:latin typeface="Courier New" pitchFamily="34" charset="0"/>
                <a:ea typeface="Courier New" pitchFamily="34" charset="-122"/>
                <a:cs typeface="Courier New" pitchFamily="34" charset="-120"/>
              </a:rPr>
              <a:t>print(f"XGBoost best iteration: {best_iter}")</a:t>
            </a:r>
            <a:endParaRPr lang="en-US" sz="720" dirty="0"/>
          </a:p>
          <a:p>
            <a:pPr indent="0" marL="0">
              <a:buNone/>
            </a:pPr>
            <a:endParaRPr lang="en-US" sz="720" dirty="0"/>
          </a:p>
          <a:p>
            <a:pPr indent="0" marL="0">
              <a:buNone/>
            </a:pPr>
            <a:r>
              <a:rPr lang="en-US" sz="720" dirty="0">
                <a:solidFill>
                  <a:srgbClr val="F9FAFB"/>
                </a:solidFill>
                <a:latin typeface="Courier New" pitchFamily="34" charset="0"/>
                <a:ea typeface="Courier New" pitchFamily="34" charset="-122"/>
                <a:cs typeface="Courier New" pitchFamily="34" charset="-120"/>
              </a:rPr>
              <a:t>xgb_prob = xgb_model.predict_proba(X_te)[:,1]</a:t>
            </a:r>
            <a:endParaRPr lang="en-US" sz="720" dirty="0"/>
          </a:p>
          <a:p>
            <a:pPr indent="0" marL="0">
              <a:buNone/>
            </a:pPr>
            <a:r>
              <a:rPr lang="en-US" sz="720" dirty="0">
                <a:solidFill>
                  <a:srgbClr val="F9FAFB"/>
                </a:solidFill>
                <a:latin typeface="Courier New" pitchFamily="34" charset="0"/>
                <a:ea typeface="Courier New" pitchFamily="34" charset="-122"/>
                <a:cs typeface="Courier New" pitchFamily="34" charset="-120"/>
              </a:rPr>
              <a:t>print(f"XGB Test AUC: {roc_auc_score(y_te,xgb_prob):.4f}")</a:t>
            </a:r>
            <a:endParaRPr lang="en-US" sz="720" dirty="0"/>
          </a:p>
          <a:p>
            <a:pPr indent="0" marL="0">
              <a:buNone/>
            </a:pPr>
            <a:r>
              <a:rPr lang="en-US" sz="720" dirty="0">
                <a:solidFill>
                  <a:srgbClr val="F9FAFB"/>
                </a:solidFill>
                <a:latin typeface="Courier New" pitchFamily="34" charset="0"/>
                <a:ea typeface="Courier New" pitchFamily="34" charset="-122"/>
                <a:cs typeface="Courier New" pitchFamily="34" charset="-120"/>
              </a:rPr>
              <a:t>print(f"XGB AP Score: {average_precision_score(y_te,xgb_prob):.4f}")</a:t>
            </a:r>
            <a:endParaRPr lang="en-US" sz="720" dirty="0"/>
          </a:p>
          <a:p>
            <a:pPr indent="0" marL="0">
              <a:buNone/>
            </a:pPr>
            <a:endParaRPr lang="en-US" sz="720" dirty="0"/>
          </a:p>
          <a:p>
            <a:pPr indent="0" marL="0">
              <a:buNone/>
            </a:pPr>
            <a:r>
              <a:rPr lang="en-US" sz="720" dirty="0">
                <a:solidFill>
                  <a:srgbClr val="F9FAFB"/>
                </a:solidFill>
                <a:latin typeface="Courier New" pitchFamily="34" charset="0"/>
                <a:ea typeface="Courier New" pitchFamily="34" charset="-122"/>
                <a:cs typeface="Courier New" pitchFamily="34" charset="-120"/>
              </a:rPr>
              <a:t># ── Compare all four models ───────────────────────────────</a:t>
            </a:r>
            <a:endParaRPr lang="en-US" sz="720" dirty="0"/>
          </a:p>
          <a:p>
            <a:pPr indent="0" marL="0">
              <a:buNone/>
            </a:pPr>
            <a:r>
              <a:rPr lang="en-US" sz="720" dirty="0">
                <a:solidFill>
                  <a:srgbClr val="F9FAFB"/>
                </a:solidFill>
                <a:latin typeface="Courier New" pitchFamily="34" charset="0"/>
                <a:ea typeface="Courier New" pitchFamily="34" charset="-122"/>
                <a:cs typeface="Courier New" pitchFamily="34" charset="-120"/>
              </a:rPr>
              <a:t>print("\n=== MODEL COMPARISON ===")</a:t>
            </a:r>
            <a:endParaRPr lang="en-US" sz="720" dirty="0"/>
          </a:p>
          <a:p>
            <a:pPr indent="0" marL="0">
              <a:buNone/>
            </a:pPr>
            <a:r>
              <a:rPr lang="en-US" sz="720" dirty="0">
                <a:solidFill>
                  <a:srgbClr val="F9FAFB"/>
                </a:solidFill>
                <a:latin typeface="Courier New" pitchFamily="34" charset="0"/>
                <a:ea typeface="Courier New" pitchFamily="34" charset="-122"/>
                <a:cs typeface="Courier New" pitchFamily="34" charset="-120"/>
              </a:rPr>
              <a:t>results = {"RF": rf_prob, "XGBoost": xgb_prob}</a:t>
            </a:r>
            <a:endParaRPr lang="en-US" sz="720" dirty="0"/>
          </a:p>
          <a:p>
            <a:pPr indent="0" marL="0">
              <a:buNone/>
            </a:pPr>
            <a:r>
              <a:rPr lang="en-US" sz="720" dirty="0">
                <a:solidFill>
                  <a:srgbClr val="F9FAFB"/>
                </a:solidFill>
                <a:latin typeface="Courier New" pitchFamily="34" charset="0"/>
                <a:ea typeface="Courier New" pitchFamily="34" charset="-122"/>
                <a:cs typeface="Courier New" pitchFamily="34" charset="-120"/>
              </a:rPr>
              <a:t>for name, prob in results.items():</a:t>
            </a:r>
            <a:endParaRPr lang="en-US" sz="720" dirty="0"/>
          </a:p>
          <a:p>
            <a:pPr indent="0" marL="0">
              <a:buNone/>
            </a:pPr>
            <a:r>
              <a:rPr lang="en-US" sz="720" dirty="0">
                <a:solidFill>
                  <a:srgbClr val="F9FAFB"/>
                </a:solidFill>
                <a:latin typeface="Courier New" pitchFamily="34" charset="0"/>
                <a:ea typeface="Courier New" pitchFamily="34" charset="-122"/>
                <a:cs typeface="Courier New" pitchFamily="34" charset="-120"/>
              </a:rPr>
              <a:t>    auc = roc_auc_score(y_te,prob)</a:t>
            </a:r>
            <a:endParaRPr lang="en-US" sz="720" dirty="0"/>
          </a:p>
          <a:p>
            <a:pPr indent="0" marL="0">
              <a:buNone/>
            </a:pPr>
            <a:r>
              <a:rPr lang="en-US" sz="720" dirty="0">
                <a:solidFill>
                  <a:srgbClr val="F9FAFB"/>
                </a:solidFill>
                <a:latin typeface="Courier New" pitchFamily="34" charset="0"/>
                <a:ea typeface="Courier New" pitchFamily="34" charset="-122"/>
                <a:cs typeface="Courier New" pitchFamily="34" charset="-120"/>
              </a:rPr>
              <a:t>    ap  = average_precision_score(y_te,prob)</a:t>
            </a:r>
            <a:endParaRPr lang="en-US" sz="720" dirty="0"/>
          </a:p>
          <a:p>
            <a:pPr indent="0" marL="0">
              <a:buNone/>
            </a:pPr>
            <a:r>
              <a:rPr lang="en-US" sz="720" dirty="0">
                <a:solidFill>
                  <a:srgbClr val="F9FAFB"/>
                </a:solidFill>
                <a:latin typeface="Courier New" pitchFamily="34" charset="0"/>
                <a:ea typeface="Courier New" pitchFamily="34" charset="-122"/>
                <a:cs typeface="Courier New" pitchFamily="34" charset="-120"/>
              </a:rPr>
              <a:t>    print(f"{name:12}: AUC={auc:.4f}  AP={ap:.4f}")</a:t>
            </a:r>
            <a:endParaRPr lang="en-US" sz="720" dirty="0"/>
          </a:p>
          <a:p>
            <a:pPr indent="0" marL="0">
              <a:buNone/>
            </a:pPr>
            <a:endParaRPr lang="en-US" sz="720" dirty="0"/>
          </a:p>
          <a:p>
            <a:pPr indent="0" marL="0">
              <a:buNone/>
            </a:pPr>
            <a:r>
              <a:rPr lang="en-US" sz="720" dirty="0">
                <a:solidFill>
                  <a:srgbClr val="F9FAFB"/>
                </a:solidFill>
                <a:latin typeface="Courier New" pitchFamily="34" charset="0"/>
                <a:ea typeface="Courier New" pitchFamily="34" charset="-122"/>
                <a:cs typeface="Courier New" pitchFamily="34" charset="-120"/>
              </a:rPr>
              <a:t># Save best</a:t>
            </a:r>
            <a:endParaRPr lang="en-US" sz="720" dirty="0"/>
          </a:p>
          <a:p>
            <a:pPr indent="0" marL="0">
              <a:buNone/>
            </a:pPr>
            <a:r>
              <a:rPr lang="en-US" sz="720" dirty="0">
                <a:solidFill>
                  <a:srgbClr val="F9FAFB"/>
                </a:solidFill>
                <a:latin typeface="Courier New" pitchFamily="34" charset="0"/>
                <a:ea typeface="Courier New" pitchFamily="34" charset="-122"/>
                <a:cs typeface="Courier New" pitchFamily="34" charset="-120"/>
              </a:rPr>
              <a:t>best_prob = max(results.values(),</a:t>
            </a:r>
            <a:endParaRPr lang="en-US" sz="720" dirty="0"/>
          </a:p>
          <a:p>
            <a:pPr indent="0" marL="0">
              <a:buNone/>
            </a:pPr>
            <a:r>
              <a:rPr lang="en-US" sz="720" dirty="0">
                <a:solidFill>
                  <a:srgbClr val="F9FAFB"/>
                </a:solidFill>
                <a:latin typeface="Courier New" pitchFamily="34" charset="0"/>
                <a:ea typeface="Courier New" pitchFamily="34" charset="-122"/>
                <a:cs typeface="Courier New" pitchFamily="34" charset="-120"/>
              </a:rPr>
              <a:t>                key=lambda p: roc_auc_score(y_te,p))</a:t>
            </a:r>
            <a:endParaRPr lang="en-US" sz="720" dirty="0"/>
          </a:p>
          <a:p>
            <a:pPr indent="0" marL="0">
              <a:buNone/>
            </a:pPr>
            <a:r>
              <a:rPr lang="en-US" sz="720" dirty="0">
                <a:solidFill>
                  <a:srgbClr val="F9FAFB"/>
                </a:solidFill>
                <a:latin typeface="Courier New" pitchFamily="34" charset="0"/>
                <a:ea typeface="Courier New" pitchFamily="34" charset="-122"/>
                <a:cs typeface="Courier New" pitchFamily="34" charset="-120"/>
              </a:rPr>
              <a:t>best_name = max(results, key=lambda k: roc_auc_score(y_te,results[k]))</a:t>
            </a:r>
            <a:endParaRPr lang="en-US" sz="720" dirty="0"/>
          </a:p>
          <a:p>
            <a:pPr indent="0" marL="0">
              <a:buNone/>
            </a:pPr>
            <a:r>
              <a:rPr lang="en-US" sz="720" dirty="0">
                <a:solidFill>
                  <a:srgbClr val="F9FAFB"/>
                </a:solidFill>
                <a:latin typeface="Courier New" pitchFamily="34" charset="0"/>
                <a:ea typeface="Courier New" pitchFamily="34" charset="-122"/>
                <a:cs typeface="Courier New" pitchFamily="34" charset="-120"/>
              </a:rPr>
              <a:t>print(f"\nBest model: {best_name}")</a:t>
            </a:r>
            <a:endParaRPr lang="en-US" sz="720" dirty="0"/>
          </a:p>
          <a:p>
            <a:pPr indent="0" marL="0">
              <a:buNone/>
            </a:pPr>
            <a:r>
              <a:rPr lang="en-US" sz="720" dirty="0">
                <a:solidFill>
                  <a:srgbClr val="F9FAFB"/>
                </a:solidFill>
                <a:latin typeface="Courier New" pitchFamily="34" charset="0"/>
                <a:ea typeface="Courier New" pitchFamily="34" charset="-122"/>
                <a:cs typeface="Courier New" pitchFamily="34" charset="-120"/>
              </a:rPr>
              <a:t>best_model = rf if best_name=="RF" else xgb_model</a:t>
            </a:r>
            <a:endParaRPr lang="en-US" sz="720" dirty="0"/>
          </a:p>
          <a:p>
            <a:pPr indent="0" marL="0">
              <a:buNone/>
            </a:pPr>
            <a:r>
              <a:rPr lang="en-US" sz="720" dirty="0">
                <a:solidFill>
                  <a:srgbClr val="F9FAFB"/>
                </a:solidFill>
                <a:latin typeface="Courier New" pitchFamily="34" charset="0"/>
                <a:ea typeface="Courier New" pitchFamily="34" charset="-122"/>
                <a:cs typeface="Courier New" pitchFamily="34" charset="-120"/>
              </a:rPr>
              <a:t>joblib.dump(best_model,"best_model.pkl")</a:t>
            </a:r>
            <a:endParaRPr lang="en-US" sz="720" dirty="0"/>
          </a:p>
        </p:txBody>
      </p:sp>
      <p:sp>
        <p:nvSpPr>
          <p:cNvPr id="11" name="Shape 9"/>
          <p:cNvSpPr/>
          <p:nvPr/>
        </p:nvSpPr>
        <p:spPr>
          <a:xfrm>
            <a:off x="274320" y="4846320"/>
            <a:ext cx="8595360" cy="256032"/>
          </a:xfrm>
          <a:prstGeom prst="rect">
            <a:avLst/>
          </a:prstGeom>
          <a:solidFill>
            <a:srgbClr val="ECFEFF"/>
          </a:solidFill>
          <a:ln w="12700">
            <a:solidFill>
              <a:srgbClr val="0891B2"/>
            </a:solidFill>
            <a:prstDash val="solid"/>
          </a:ln>
        </p:spPr>
      </p:sp>
      <p:sp>
        <p:nvSpPr>
          <p:cNvPr id="12" name="Text 10"/>
          <p:cNvSpPr/>
          <p:nvPr/>
        </p:nvSpPr>
        <p:spPr>
          <a:xfrm>
            <a:off x="457200" y="4846320"/>
            <a:ext cx="8321040" cy="256032"/>
          </a:xfrm>
          <a:prstGeom prst="rect">
            <a:avLst/>
          </a:prstGeom>
          <a:noFill/>
          <a:ln/>
        </p:spPr>
        <p:txBody>
          <a:bodyPr wrap="square" lIns="0" tIns="0" rIns="0" bIns="0" rtlCol="0" anchor="ctr">
            <a:normAutofit/>
          </a:bodyPr>
          <a:lstStyle/>
          <a:p>
            <a:pPr indent="0" marL="0">
              <a:buNone/>
            </a:pPr>
            <a:r>
              <a:rPr lang="en-US" sz="900" b="1" dirty="0">
                <a:solidFill>
                  <a:srgbClr val="0891B2"/>
                </a:solidFill>
                <a:latin typeface="Calibri" pitchFamily="34" charset="0"/>
                <a:ea typeface="Calibri" pitchFamily="34" charset="-122"/>
                <a:cs typeface="Calibri" pitchFamily="34" charset="-120"/>
              </a:rPr>
              <a:t>Always compare RF and XGBoost on your specific dataset — there is no universal winner. On clean tabular healthcare data, RF often matches XGBoost with far less tuning.</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11827"/>
        </a:solidFill>
      </p:bgPr>
    </p:bg>
    <p:spTree>
      <p:nvGrpSpPr>
        <p:cNvPr id="1" name=""/>
        <p:cNvGrpSpPr/>
        <p:nvPr/>
      </p:nvGrpSpPr>
      <p:grpSpPr>
        <a:xfrm>
          <a:off x="0" y="0"/>
          <a:ext cx="0" cy="0"/>
          <a:chOff x="0" y="0"/>
          <a:chExt cx="0" cy="0"/>
        </a:xfrm>
      </p:grpSpPr>
      <p:sp>
        <p:nvSpPr>
          <p:cNvPr id="2" name="Shape 0"/>
          <p:cNvSpPr/>
          <p:nvPr/>
        </p:nvSpPr>
        <p:spPr>
          <a:xfrm>
            <a:off x="6583680" y="-914400"/>
            <a:ext cx="4114800" cy="4114800"/>
          </a:xfrm>
          <a:prstGeom prst="ellipse">
            <a:avLst/>
          </a:prstGeom>
          <a:solidFill>
            <a:srgbClr val="9F1239">
              <a:alpha val="14000"/>
            </a:srgbClr>
          </a:solidFill>
          <a:ln w="12700">
            <a:solidFill>
              <a:srgbClr val="9F1239">
                <a:alpha val="0"/>
              </a:srgbClr>
            </a:solidFill>
            <a:prstDash val="solid"/>
          </a:ln>
        </p:spPr>
      </p:sp>
      <p:sp>
        <p:nvSpPr>
          <p:cNvPr id="3" name="Shape 1"/>
          <p:cNvSpPr/>
          <p:nvPr/>
        </p:nvSpPr>
        <p:spPr>
          <a:xfrm>
            <a:off x="0" y="0"/>
            <a:ext cx="9144000" cy="640080"/>
          </a:xfrm>
          <a:prstGeom prst="rect">
            <a:avLst/>
          </a:prstGeom>
          <a:solidFill>
            <a:srgbClr val="9F1239"/>
          </a:solidFill>
          <a:ln w="12700">
            <a:solidFill>
              <a:srgbClr val="9F1239">
                <a:alpha val="0"/>
              </a:srgbClr>
            </a:solidFill>
            <a:prstDash val="solid"/>
          </a:ln>
        </p:spPr>
      </p:sp>
      <p:sp>
        <p:nvSpPr>
          <p:cNvPr id="4" name="Text 2"/>
          <p:cNvSpPr/>
          <p:nvPr/>
        </p:nvSpPr>
        <p:spPr>
          <a:xfrm>
            <a:off x="347472" y="0"/>
            <a:ext cx="8458200" cy="640080"/>
          </a:xfrm>
          <a:prstGeom prst="rect">
            <a:avLst/>
          </a:prstGeom>
          <a:noFill/>
          <a:ln/>
        </p:spPr>
        <p:txBody>
          <a:bodyPr wrap="square" lIns="0" tIns="0" rIns="0" bIns="0" rtlCol="0" anchor="ctr">
            <a:normAutofit/>
          </a:bodyPr>
          <a:lstStyle/>
          <a:p>
            <a:pPr indent="0" marL="0">
              <a:buNone/>
            </a:pPr>
            <a:r>
              <a:rPr lang="en-US" sz="1400" b="1" spc="100" kern="0" dirty="0">
                <a:solidFill>
                  <a:srgbClr val="FFFFFF"/>
                </a:solidFill>
                <a:latin typeface="Calibri" pitchFamily="34" charset="0"/>
                <a:ea typeface="Calibri" pitchFamily="34" charset="-122"/>
                <a:cs typeface="Calibri" pitchFamily="34" charset="-120"/>
              </a:rPr>
              <a:t>🧪  LAB 6 — PATIENT READMISSION PREDICTOR — 60 MINUTES — SOLO</a:t>
            </a:r>
            <a:endParaRPr lang="en-US" sz="1400" dirty="0"/>
          </a:p>
        </p:txBody>
      </p:sp>
      <p:sp>
        <p:nvSpPr>
          <p:cNvPr id="5" name="Shape 3"/>
          <p:cNvSpPr/>
          <p:nvPr/>
        </p:nvSpPr>
        <p:spPr>
          <a:xfrm>
            <a:off x="256032" y="713232"/>
            <a:ext cx="8631936" cy="621792"/>
          </a:xfrm>
          <a:prstGeom prst="rect">
            <a:avLst/>
          </a:prstGeom>
          <a:solidFill>
            <a:srgbClr val="200010"/>
          </a:solidFill>
          <a:ln w="19050">
            <a:solidFill>
              <a:srgbClr val="9F1239"/>
            </a:solidFill>
            <a:prstDash val="solid"/>
          </a:ln>
        </p:spPr>
      </p:sp>
      <p:sp>
        <p:nvSpPr>
          <p:cNvPr id="6" name="Text 4"/>
          <p:cNvSpPr/>
          <p:nvPr/>
        </p:nvSpPr>
        <p:spPr>
          <a:xfrm>
            <a:off x="402336" y="758952"/>
            <a:ext cx="960120" cy="201168"/>
          </a:xfrm>
          <a:prstGeom prst="rect">
            <a:avLst/>
          </a:prstGeom>
          <a:noFill/>
          <a:ln/>
        </p:spPr>
        <p:txBody>
          <a:bodyPr wrap="square" lIns="0" tIns="0" rIns="0" bIns="0" rtlCol="0" anchor="ctr">
            <a:normAutofit/>
          </a:bodyPr>
          <a:lstStyle/>
          <a:p>
            <a:pPr indent="0" marL="0">
              <a:buNone/>
            </a:pPr>
            <a:r>
              <a:rPr lang="en-US" sz="1000" b="1" dirty="0">
                <a:solidFill>
                  <a:srgbClr val="FDA4AF"/>
                </a:solidFill>
                <a:latin typeface="Calibri" pitchFamily="34" charset="0"/>
                <a:ea typeface="Calibri" pitchFamily="34" charset="-122"/>
                <a:cs typeface="Calibri" pitchFamily="34" charset="-120"/>
              </a:rPr>
              <a:t>PROBLEM:</a:t>
            </a:r>
            <a:endParaRPr lang="en-US" sz="1000" dirty="0"/>
          </a:p>
        </p:txBody>
      </p:sp>
      <p:sp>
        <p:nvSpPr>
          <p:cNvPr id="7" name="Text 5"/>
          <p:cNvSpPr/>
          <p:nvPr/>
        </p:nvSpPr>
        <p:spPr>
          <a:xfrm>
            <a:off x="1417320" y="758952"/>
            <a:ext cx="7269480" cy="512064"/>
          </a:xfrm>
          <a:prstGeom prst="rect">
            <a:avLst/>
          </a:prstGeom>
          <a:noFill/>
          <a:ln/>
        </p:spPr>
        <p:txBody>
          <a:bodyPr wrap="square" lIns="0" tIns="0" rIns="0" bIns="0" rtlCol="0" anchor="ctr">
            <a:normAutofit/>
          </a:bodyPr>
          <a:lstStyle/>
          <a:p>
            <a:pPr indent="0" marL="0">
              <a:buNone/>
            </a:pPr>
            <a:r>
              <a:rPr lang="en-US" sz="1000" dirty="0">
                <a:solidFill>
                  <a:srgbClr val="FFFFFF"/>
                </a:solidFill>
                <a:latin typeface="Calibri" pitchFamily="34" charset="0"/>
                <a:ea typeface="Calibri" pitchFamily="34" charset="-122"/>
                <a:cs typeface="Calibri" pitchFamily="34" charset="-120"/>
              </a:rPr>
              <a:t>EXL Healthcare needs a 30-day readmission predictor. Train Random Forest and XGBoost. Do full evaluation including calibration. Save the best model — it will become the FastAPI prediction endpoint in the Day 4 pattern you already built.</a:t>
            </a:r>
            <a:endParaRPr lang="en-US" sz="1000" dirty="0"/>
          </a:p>
        </p:txBody>
      </p:sp>
      <p:sp>
        <p:nvSpPr>
          <p:cNvPr id="8" name="Shape 6"/>
          <p:cNvSpPr/>
          <p:nvPr/>
        </p:nvSpPr>
        <p:spPr>
          <a:xfrm>
            <a:off x="256032" y="1426464"/>
            <a:ext cx="4224528" cy="722376"/>
          </a:xfrm>
          <a:prstGeom prst="rect">
            <a:avLst/>
          </a:prstGeom>
          <a:solidFill>
            <a:srgbClr val="200010"/>
          </a:solidFill>
          <a:ln w="15240">
            <a:solidFill>
              <a:srgbClr val="1A56DB"/>
            </a:solidFill>
            <a:prstDash val="solid"/>
          </a:ln>
        </p:spPr>
      </p:sp>
      <p:sp>
        <p:nvSpPr>
          <p:cNvPr id="9" name="Shape 7"/>
          <p:cNvSpPr/>
          <p:nvPr/>
        </p:nvSpPr>
        <p:spPr>
          <a:xfrm>
            <a:off x="256032" y="1426464"/>
            <a:ext cx="457200" cy="722376"/>
          </a:xfrm>
          <a:prstGeom prst="rect">
            <a:avLst/>
          </a:prstGeom>
          <a:solidFill>
            <a:srgbClr val="1A56DB"/>
          </a:solidFill>
          <a:ln w="12700">
            <a:solidFill>
              <a:srgbClr val="1A56DB">
                <a:alpha val="0"/>
              </a:srgbClr>
            </a:solidFill>
            <a:prstDash val="solid"/>
          </a:ln>
        </p:spPr>
      </p:sp>
      <p:sp>
        <p:nvSpPr>
          <p:cNvPr id="10" name="Text 8"/>
          <p:cNvSpPr/>
          <p:nvPr/>
        </p:nvSpPr>
        <p:spPr>
          <a:xfrm>
            <a:off x="256032" y="1463040"/>
            <a:ext cx="457200" cy="310896"/>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01</a:t>
            </a:r>
            <a:endParaRPr lang="en-US" sz="1100" dirty="0"/>
          </a:p>
        </p:txBody>
      </p:sp>
      <p:sp>
        <p:nvSpPr>
          <p:cNvPr id="11" name="Text 9"/>
          <p:cNvSpPr/>
          <p:nvPr/>
        </p:nvSpPr>
        <p:spPr>
          <a:xfrm>
            <a:off x="256032" y="1828800"/>
            <a:ext cx="457200" cy="274320"/>
          </a:xfrm>
          <a:prstGeom prst="rect">
            <a:avLst/>
          </a:prstGeom>
          <a:noFill/>
          <a:ln/>
        </p:spPr>
        <p:txBody>
          <a:bodyPr wrap="square" lIns="0" tIns="0" rIns="0" bIns="0" rtlCol="0" anchor="ctr">
            <a:normAutofit/>
          </a:bodyPr>
          <a:lstStyle/>
          <a:p>
            <a:pPr algn="ctr" indent="0" marL="0">
              <a:buNone/>
            </a:pPr>
            <a:r>
              <a:rPr lang="en-US" sz="650" b="1" dirty="0">
                <a:solidFill>
                  <a:srgbClr val="FFFFFF"/>
                </a:solidFill>
                <a:latin typeface="Calibri" pitchFamily="34" charset="0"/>
                <a:ea typeface="Calibri" pitchFamily="34" charset="-122"/>
                <a:cs typeface="Calibri" pitchFamily="34" charset="-120"/>
              </a:rPr>
              <a:t>LOAD+CLEAN</a:t>
            </a:r>
            <a:endParaRPr lang="en-US" sz="650" dirty="0"/>
          </a:p>
        </p:txBody>
      </p:sp>
      <p:sp>
        <p:nvSpPr>
          <p:cNvPr id="12" name="Text 10"/>
          <p:cNvSpPr/>
          <p:nvPr/>
        </p:nvSpPr>
        <p:spPr>
          <a:xfrm>
            <a:off x="786384" y="1481328"/>
            <a:ext cx="3602736" cy="603504"/>
          </a:xfrm>
          <a:prstGeom prst="rect">
            <a:avLst/>
          </a:prstGeom>
          <a:noFill/>
          <a:ln/>
        </p:spPr>
        <p:txBody>
          <a:bodyPr wrap="square" lIns="0" tIns="0" rIns="0" bIns="0" rtlCol="0" anchor="ctr">
            <a:normAutofit/>
          </a:bodyPr>
          <a:lstStyle/>
          <a:p>
            <a:pPr indent="0" marL="0">
              <a:buNone/>
            </a:pPr>
            <a:r>
              <a:rPr lang="en-US" sz="900" dirty="0">
                <a:solidFill>
                  <a:srgbClr val="FDA4AF"/>
                </a:solidFill>
                <a:latin typeface="Calibri" pitchFamily="34" charset="0"/>
                <a:ea typeface="Calibri" pitchFamily="34" charset="-122"/>
                <a:cs typeface="Calibri" pitchFamily="34" charset="-120"/>
              </a:rPr>
              <a:t>Load healthcare.csv. fillna with median for numerics. Fix invalid ages/BMI/HbA1c. Drop duplicates. Print before/after shape.</a:t>
            </a:r>
            <a:endParaRPr lang="en-US" sz="900" dirty="0"/>
          </a:p>
        </p:txBody>
      </p:sp>
      <p:sp>
        <p:nvSpPr>
          <p:cNvPr id="13" name="Shape 11"/>
          <p:cNvSpPr/>
          <p:nvPr/>
        </p:nvSpPr>
        <p:spPr>
          <a:xfrm>
            <a:off x="4718304" y="1426464"/>
            <a:ext cx="4224528" cy="722376"/>
          </a:xfrm>
          <a:prstGeom prst="rect">
            <a:avLst/>
          </a:prstGeom>
          <a:solidFill>
            <a:srgbClr val="200010"/>
          </a:solidFill>
          <a:ln w="15240">
            <a:solidFill>
              <a:srgbClr val="0891B2"/>
            </a:solidFill>
            <a:prstDash val="solid"/>
          </a:ln>
        </p:spPr>
      </p:sp>
      <p:sp>
        <p:nvSpPr>
          <p:cNvPr id="14" name="Shape 12"/>
          <p:cNvSpPr/>
          <p:nvPr/>
        </p:nvSpPr>
        <p:spPr>
          <a:xfrm>
            <a:off x="4718304" y="1426464"/>
            <a:ext cx="457200" cy="722376"/>
          </a:xfrm>
          <a:prstGeom prst="rect">
            <a:avLst/>
          </a:prstGeom>
          <a:solidFill>
            <a:srgbClr val="0891B2"/>
          </a:solidFill>
          <a:ln w="12700">
            <a:solidFill>
              <a:srgbClr val="0891B2">
                <a:alpha val="0"/>
              </a:srgbClr>
            </a:solidFill>
            <a:prstDash val="solid"/>
          </a:ln>
        </p:spPr>
      </p:sp>
      <p:sp>
        <p:nvSpPr>
          <p:cNvPr id="15" name="Text 13"/>
          <p:cNvSpPr/>
          <p:nvPr/>
        </p:nvSpPr>
        <p:spPr>
          <a:xfrm>
            <a:off x="4718304" y="1463040"/>
            <a:ext cx="457200" cy="310896"/>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02</a:t>
            </a:r>
            <a:endParaRPr lang="en-US" sz="1100" dirty="0"/>
          </a:p>
        </p:txBody>
      </p:sp>
      <p:sp>
        <p:nvSpPr>
          <p:cNvPr id="16" name="Text 14"/>
          <p:cNvSpPr/>
          <p:nvPr/>
        </p:nvSpPr>
        <p:spPr>
          <a:xfrm>
            <a:off x="4718304" y="1828800"/>
            <a:ext cx="457200" cy="274320"/>
          </a:xfrm>
          <a:prstGeom prst="rect">
            <a:avLst/>
          </a:prstGeom>
          <a:noFill/>
          <a:ln/>
        </p:spPr>
        <p:txBody>
          <a:bodyPr wrap="square" lIns="0" tIns="0" rIns="0" bIns="0" rtlCol="0" anchor="ctr">
            <a:normAutofit/>
          </a:bodyPr>
          <a:lstStyle/>
          <a:p>
            <a:pPr algn="ctr" indent="0" marL="0">
              <a:buNone/>
            </a:pPr>
            <a:r>
              <a:rPr lang="en-US" sz="650" b="1" dirty="0">
                <a:solidFill>
                  <a:srgbClr val="FFFFFF"/>
                </a:solidFill>
                <a:latin typeface="Calibri" pitchFamily="34" charset="0"/>
                <a:ea typeface="Calibri" pitchFamily="34" charset="-122"/>
                <a:cs typeface="Calibri" pitchFamily="34" charset="-120"/>
              </a:rPr>
              <a:t>FEATURES</a:t>
            </a:r>
            <a:endParaRPr lang="en-US" sz="650" dirty="0"/>
          </a:p>
        </p:txBody>
      </p:sp>
      <p:sp>
        <p:nvSpPr>
          <p:cNvPr id="17" name="Text 15"/>
          <p:cNvSpPr/>
          <p:nvPr/>
        </p:nvSpPr>
        <p:spPr>
          <a:xfrm>
            <a:off x="5248656" y="1481328"/>
            <a:ext cx="3602736" cy="603504"/>
          </a:xfrm>
          <a:prstGeom prst="rect">
            <a:avLst/>
          </a:prstGeom>
          <a:noFill/>
          <a:ln/>
        </p:spPr>
        <p:txBody>
          <a:bodyPr wrap="square" lIns="0" tIns="0" rIns="0" bIns="0" rtlCol="0" anchor="ctr">
            <a:normAutofit/>
          </a:bodyPr>
          <a:lstStyle/>
          <a:p>
            <a:pPr indent="0" marL="0">
              <a:buNone/>
            </a:pPr>
            <a:r>
              <a:rPr lang="en-US" sz="900" dirty="0">
                <a:solidFill>
                  <a:srgbClr val="FDA4AF"/>
                </a:solidFill>
                <a:latin typeface="Calibri" pitchFamily="34" charset="0"/>
                <a:ea typeface="Calibri" pitchFamily="34" charset="-122"/>
                <a:cs typeface="Calibri" pitchFamily="34" charset="-120"/>
              </a:rPr>
              <a:t>Select 8+ features including at least one categorical (encode it). Define y=readmitted. Print class balance.</a:t>
            </a:r>
            <a:endParaRPr lang="en-US" sz="900" dirty="0"/>
          </a:p>
        </p:txBody>
      </p:sp>
      <p:sp>
        <p:nvSpPr>
          <p:cNvPr id="18" name="Shape 16"/>
          <p:cNvSpPr/>
          <p:nvPr/>
        </p:nvSpPr>
        <p:spPr>
          <a:xfrm>
            <a:off x="256032" y="2221992"/>
            <a:ext cx="4224528" cy="722376"/>
          </a:xfrm>
          <a:prstGeom prst="rect">
            <a:avLst/>
          </a:prstGeom>
          <a:solidFill>
            <a:srgbClr val="200010"/>
          </a:solidFill>
          <a:ln w="15240">
            <a:solidFill>
              <a:srgbClr val="7C3AED"/>
            </a:solidFill>
            <a:prstDash val="solid"/>
          </a:ln>
        </p:spPr>
      </p:sp>
      <p:sp>
        <p:nvSpPr>
          <p:cNvPr id="19" name="Shape 17"/>
          <p:cNvSpPr/>
          <p:nvPr/>
        </p:nvSpPr>
        <p:spPr>
          <a:xfrm>
            <a:off x="256032" y="2221992"/>
            <a:ext cx="457200" cy="722376"/>
          </a:xfrm>
          <a:prstGeom prst="rect">
            <a:avLst/>
          </a:prstGeom>
          <a:solidFill>
            <a:srgbClr val="7C3AED"/>
          </a:solidFill>
          <a:ln w="12700">
            <a:solidFill>
              <a:srgbClr val="7C3AED">
                <a:alpha val="0"/>
              </a:srgbClr>
            </a:solidFill>
            <a:prstDash val="solid"/>
          </a:ln>
        </p:spPr>
      </p:sp>
      <p:sp>
        <p:nvSpPr>
          <p:cNvPr id="20" name="Text 18"/>
          <p:cNvSpPr/>
          <p:nvPr/>
        </p:nvSpPr>
        <p:spPr>
          <a:xfrm>
            <a:off x="256032" y="2258568"/>
            <a:ext cx="457200" cy="310896"/>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03</a:t>
            </a:r>
            <a:endParaRPr lang="en-US" sz="1100" dirty="0"/>
          </a:p>
        </p:txBody>
      </p:sp>
      <p:sp>
        <p:nvSpPr>
          <p:cNvPr id="21" name="Text 19"/>
          <p:cNvSpPr/>
          <p:nvPr/>
        </p:nvSpPr>
        <p:spPr>
          <a:xfrm>
            <a:off x="256032" y="2624328"/>
            <a:ext cx="457200" cy="274320"/>
          </a:xfrm>
          <a:prstGeom prst="rect">
            <a:avLst/>
          </a:prstGeom>
          <a:noFill/>
          <a:ln/>
        </p:spPr>
        <p:txBody>
          <a:bodyPr wrap="square" lIns="0" tIns="0" rIns="0" bIns="0" rtlCol="0" anchor="ctr">
            <a:normAutofit/>
          </a:bodyPr>
          <a:lstStyle/>
          <a:p>
            <a:pPr algn="ctr" indent="0" marL="0">
              <a:buNone/>
            </a:pPr>
            <a:r>
              <a:rPr lang="en-US" sz="650" b="1" dirty="0">
                <a:solidFill>
                  <a:srgbClr val="FFFFFF"/>
                </a:solidFill>
                <a:latin typeface="Calibri" pitchFamily="34" charset="0"/>
                <a:ea typeface="Calibri" pitchFamily="34" charset="-122"/>
                <a:cs typeface="Calibri" pitchFamily="34" charset="-120"/>
              </a:rPr>
              <a:t>SPLIT</a:t>
            </a:r>
            <a:endParaRPr lang="en-US" sz="650" dirty="0"/>
          </a:p>
        </p:txBody>
      </p:sp>
      <p:sp>
        <p:nvSpPr>
          <p:cNvPr id="22" name="Text 20"/>
          <p:cNvSpPr/>
          <p:nvPr/>
        </p:nvSpPr>
        <p:spPr>
          <a:xfrm>
            <a:off x="786384" y="2276856"/>
            <a:ext cx="3602736" cy="603504"/>
          </a:xfrm>
          <a:prstGeom prst="rect">
            <a:avLst/>
          </a:prstGeom>
          <a:noFill/>
          <a:ln/>
        </p:spPr>
        <p:txBody>
          <a:bodyPr wrap="square" lIns="0" tIns="0" rIns="0" bIns="0" rtlCol="0" anchor="ctr">
            <a:normAutofit/>
          </a:bodyPr>
          <a:lstStyle/>
          <a:p>
            <a:pPr indent="0" marL="0">
              <a:buNone/>
            </a:pPr>
            <a:r>
              <a:rPr lang="en-US" sz="900" dirty="0">
                <a:solidFill>
                  <a:srgbClr val="FDA4AF"/>
                </a:solidFill>
                <a:latin typeface="Calibri" pitchFamily="34" charset="0"/>
                <a:ea typeface="Calibri" pitchFamily="34" charset="-122"/>
                <a:cs typeface="Calibri" pitchFamily="34" charset="-120"/>
              </a:rPr>
              <a:t>80/20 stratified split. Verify class balance is preserved in both sets using value_counts(normalize=True).</a:t>
            </a:r>
            <a:endParaRPr lang="en-US" sz="900" dirty="0"/>
          </a:p>
        </p:txBody>
      </p:sp>
      <p:sp>
        <p:nvSpPr>
          <p:cNvPr id="23" name="Shape 21"/>
          <p:cNvSpPr/>
          <p:nvPr/>
        </p:nvSpPr>
        <p:spPr>
          <a:xfrm>
            <a:off x="4718304" y="2221992"/>
            <a:ext cx="4224528" cy="722376"/>
          </a:xfrm>
          <a:prstGeom prst="rect">
            <a:avLst/>
          </a:prstGeom>
          <a:solidFill>
            <a:srgbClr val="200010"/>
          </a:solidFill>
          <a:ln w="15240">
            <a:solidFill>
              <a:srgbClr val="9F1239"/>
            </a:solidFill>
            <a:prstDash val="solid"/>
          </a:ln>
        </p:spPr>
      </p:sp>
      <p:sp>
        <p:nvSpPr>
          <p:cNvPr id="24" name="Shape 22"/>
          <p:cNvSpPr/>
          <p:nvPr/>
        </p:nvSpPr>
        <p:spPr>
          <a:xfrm>
            <a:off x="4718304" y="2221992"/>
            <a:ext cx="457200" cy="722376"/>
          </a:xfrm>
          <a:prstGeom prst="rect">
            <a:avLst/>
          </a:prstGeom>
          <a:solidFill>
            <a:srgbClr val="9F1239"/>
          </a:solidFill>
          <a:ln w="12700">
            <a:solidFill>
              <a:srgbClr val="9F1239">
                <a:alpha val="0"/>
              </a:srgbClr>
            </a:solidFill>
            <a:prstDash val="solid"/>
          </a:ln>
        </p:spPr>
      </p:sp>
      <p:sp>
        <p:nvSpPr>
          <p:cNvPr id="25" name="Text 23"/>
          <p:cNvSpPr/>
          <p:nvPr/>
        </p:nvSpPr>
        <p:spPr>
          <a:xfrm>
            <a:off x="4718304" y="2258568"/>
            <a:ext cx="457200" cy="310896"/>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04</a:t>
            </a:r>
            <a:endParaRPr lang="en-US" sz="1100" dirty="0"/>
          </a:p>
        </p:txBody>
      </p:sp>
      <p:sp>
        <p:nvSpPr>
          <p:cNvPr id="26" name="Text 24"/>
          <p:cNvSpPr/>
          <p:nvPr/>
        </p:nvSpPr>
        <p:spPr>
          <a:xfrm>
            <a:off x="4718304" y="2624328"/>
            <a:ext cx="457200" cy="274320"/>
          </a:xfrm>
          <a:prstGeom prst="rect">
            <a:avLst/>
          </a:prstGeom>
          <a:noFill/>
          <a:ln/>
        </p:spPr>
        <p:txBody>
          <a:bodyPr wrap="square" lIns="0" tIns="0" rIns="0" bIns="0" rtlCol="0" anchor="ctr">
            <a:normAutofit/>
          </a:bodyPr>
          <a:lstStyle/>
          <a:p>
            <a:pPr algn="ctr" indent="0" marL="0">
              <a:buNone/>
            </a:pPr>
            <a:r>
              <a:rPr lang="en-US" sz="650" b="1" dirty="0">
                <a:solidFill>
                  <a:srgbClr val="FFFFFF"/>
                </a:solidFill>
                <a:latin typeface="Calibri" pitchFamily="34" charset="0"/>
                <a:ea typeface="Calibri" pitchFamily="34" charset="-122"/>
                <a:cs typeface="Calibri" pitchFamily="34" charset="-120"/>
              </a:rPr>
              <a:t>RANDOM FOREST</a:t>
            </a:r>
            <a:endParaRPr lang="en-US" sz="650" dirty="0"/>
          </a:p>
        </p:txBody>
      </p:sp>
      <p:sp>
        <p:nvSpPr>
          <p:cNvPr id="27" name="Text 25"/>
          <p:cNvSpPr/>
          <p:nvPr/>
        </p:nvSpPr>
        <p:spPr>
          <a:xfrm>
            <a:off x="5248656" y="2276856"/>
            <a:ext cx="3602736" cy="603504"/>
          </a:xfrm>
          <a:prstGeom prst="rect">
            <a:avLst/>
          </a:prstGeom>
          <a:noFill/>
          <a:ln/>
        </p:spPr>
        <p:txBody>
          <a:bodyPr wrap="square" lIns="0" tIns="0" rIns="0" bIns="0" rtlCol="0" anchor="ctr">
            <a:normAutofit/>
          </a:bodyPr>
          <a:lstStyle/>
          <a:p>
            <a:pPr indent="0" marL="0">
              <a:buNone/>
            </a:pPr>
            <a:r>
              <a:rPr lang="en-US" sz="900" dirty="0">
                <a:solidFill>
                  <a:srgbClr val="FDA4AF"/>
                </a:solidFill>
                <a:latin typeface="Calibri" pitchFamily="34" charset="0"/>
                <a:ea typeface="Calibri" pitchFamily="34" charset="-122"/>
                <a:cs typeface="Calibri" pitchFamily="34" charset="-120"/>
              </a:rPr>
              <a:t>n_estimators=300, class_weight='balanced', oob_score=True. 5-fold CV AUC. Print OOB score. Show top 5 feature importances.</a:t>
            </a:r>
            <a:endParaRPr lang="en-US" sz="900" dirty="0"/>
          </a:p>
        </p:txBody>
      </p:sp>
      <p:sp>
        <p:nvSpPr>
          <p:cNvPr id="28" name="Shape 26"/>
          <p:cNvSpPr/>
          <p:nvPr/>
        </p:nvSpPr>
        <p:spPr>
          <a:xfrm>
            <a:off x="256032" y="3017520"/>
            <a:ext cx="4224528" cy="722376"/>
          </a:xfrm>
          <a:prstGeom prst="rect">
            <a:avLst/>
          </a:prstGeom>
          <a:solidFill>
            <a:srgbClr val="200010"/>
          </a:solidFill>
          <a:ln w="15240">
            <a:solidFill>
              <a:srgbClr val="3730A3"/>
            </a:solidFill>
            <a:prstDash val="solid"/>
          </a:ln>
        </p:spPr>
      </p:sp>
      <p:sp>
        <p:nvSpPr>
          <p:cNvPr id="29" name="Shape 27"/>
          <p:cNvSpPr/>
          <p:nvPr/>
        </p:nvSpPr>
        <p:spPr>
          <a:xfrm>
            <a:off x="256032" y="3017520"/>
            <a:ext cx="457200" cy="722376"/>
          </a:xfrm>
          <a:prstGeom prst="rect">
            <a:avLst/>
          </a:prstGeom>
          <a:solidFill>
            <a:srgbClr val="3730A3"/>
          </a:solidFill>
          <a:ln w="12700">
            <a:solidFill>
              <a:srgbClr val="3730A3">
                <a:alpha val="0"/>
              </a:srgbClr>
            </a:solidFill>
            <a:prstDash val="solid"/>
          </a:ln>
        </p:spPr>
      </p:sp>
      <p:sp>
        <p:nvSpPr>
          <p:cNvPr id="30" name="Text 28"/>
          <p:cNvSpPr/>
          <p:nvPr/>
        </p:nvSpPr>
        <p:spPr>
          <a:xfrm>
            <a:off x="256032" y="3054096"/>
            <a:ext cx="457200" cy="310896"/>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05</a:t>
            </a:r>
            <a:endParaRPr lang="en-US" sz="1100" dirty="0"/>
          </a:p>
        </p:txBody>
      </p:sp>
      <p:sp>
        <p:nvSpPr>
          <p:cNvPr id="31" name="Text 29"/>
          <p:cNvSpPr/>
          <p:nvPr/>
        </p:nvSpPr>
        <p:spPr>
          <a:xfrm>
            <a:off x="256032" y="3419856"/>
            <a:ext cx="457200" cy="274320"/>
          </a:xfrm>
          <a:prstGeom prst="rect">
            <a:avLst/>
          </a:prstGeom>
          <a:noFill/>
          <a:ln/>
        </p:spPr>
        <p:txBody>
          <a:bodyPr wrap="square" lIns="0" tIns="0" rIns="0" bIns="0" rtlCol="0" anchor="ctr">
            <a:normAutofit/>
          </a:bodyPr>
          <a:lstStyle/>
          <a:p>
            <a:pPr algn="ctr" indent="0" marL="0">
              <a:buNone/>
            </a:pPr>
            <a:r>
              <a:rPr lang="en-US" sz="650" b="1" dirty="0">
                <a:solidFill>
                  <a:srgbClr val="FFFFFF"/>
                </a:solidFill>
                <a:latin typeface="Calibri" pitchFamily="34" charset="0"/>
                <a:ea typeface="Calibri" pitchFamily="34" charset="-122"/>
                <a:cs typeface="Calibri" pitchFamily="34" charset="-120"/>
              </a:rPr>
              <a:t>XGBOOST</a:t>
            </a:r>
            <a:endParaRPr lang="en-US" sz="650" dirty="0"/>
          </a:p>
        </p:txBody>
      </p:sp>
      <p:sp>
        <p:nvSpPr>
          <p:cNvPr id="32" name="Text 30"/>
          <p:cNvSpPr/>
          <p:nvPr/>
        </p:nvSpPr>
        <p:spPr>
          <a:xfrm>
            <a:off x="786384" y="3072384"/>
            <a:ext cx="3602736" cy="603504"/>
          </a:xfrm>
          <a:prstGeom prst="rect">
            <a:avLst/>
          </a:prstGeom>
          <a:noFill/>
          <a:ln/>
        </p:spPr>
        <p:txBody>
          <a:bodyPr wrap="square" lIns="0" tIns="0" rIns="0" bIns="0" rtlCol="0" anchor="ctr">
            <a:normAutofit/>
          </a:bodyPr>
          <a:lstStyle/>
          <a:p>
            <a:pPr indent="0" marL="0">
              <a:buNone/>
            </a:pPr>
            <a:r>
              <a:rPr lang="en-US" sz="900" dirty="0">
                <a:solidFill>
                  <a:srgbClr val="FDA4AF"/>
                </a:solidFill>
                <a:latin typeface="Calibri" pitchFamily="34" charset="0"/>
                <a:ea typeface="Calibri" pitchFamily="34" charset="-122"/>
                <a:cs typeface="Calibri" pitchFamily="34" charset="-120"/>
              </a:rPr>
              <a:t>scale_pos_weight=neg/pos, early_stopping_rounds=50, learning_rate=0.05. Use eval_set for early stopping. Print best_iteration.</a:t>
            </a:r>
            <a:endParaRPr lang="en-US" sz="900" dirty="0"/>
          </a:p>
        </p:txBody>
      </p:sp>
      <p:sp>
        <p:nvSpPr>
          <p:cNvPr id="33" name="Shape 31"/>
          <p:cNvSpPr/>
          <p:nvPr/>
        </p:nvSpPr>
        <p:spPr>
          <a:xfrm>
            <a:off x="4718304" y="3017520"/>
            <a:ext cx="4224528" cy="722376"/>
          </a:xfrm>
          <a:prstGeom prst="rect">
            <a:avLst/>
          </a:prstGeom>
          <a:solidFill>
            <a:srgbClr val="200010"/>
          </a:solidFill>
          <a:ln w="15240">
            <a:solidFill>
              <a:srgbClr val="D97706"/>
            </a:solidFill>
            <a:prstDash val="solid"/>
          </a:ln>
        </p:spPr>
      </p:sp>
      <p:sp>
        <p:nvSpPr>
          <p:cNvPr id="34" name="Shape 32"/>
          <p:cNvSpPr/>
          <p:nvPr/>
        </p:nvSpPr>
        <p:spPr>
          <a:xfrm>
            <a:off x="4718304" y="3017520"/>
            <a:ext cx="457200" cy="722376"/>
          </a:xfrm>
          <a:prstGeom prst="rect">
            <a:avLst/>
          </a:prstGeom>
          <a:solidFill>
            <a:srgbClr val="D97706"/>
          </a:solidFill>
          <a:ln w="12700">
            <a:solidFill>
              <a:srgbClr val="D97706">
                <a:alpha val="0"/>
              </a:srgbClr>
            </a:solidFill>
            <a:prstDash val="solid"/>
          </a:ln>
        </p:spPr>
      </p:sp>
      <p:sp>
        <p:nvSpPr>
          <p:cNvPr id="35" name="Text 33"/>
          <p:cNvSpPr/>
          <p:nvPr/>
        </p:nvSpPr>
        <p:spPr>
          <a:xfrm>
            <a:off x="4718304" y="3054096"/>
            <a:ext cx="457200" cy="310896"/>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06</a:t>
            </a:r>
            <a:endParaRPr lang="en-US" sz="1100" dirty="0"/>
          </a:p>
        </p:txBody>
      </p:sp>
      <p:sp>
        <p:nvSpPr>
          <p:cNvPr id="36" name="Text 34"/>
          <p:cNvSpPr/>
          <p:nvPr/>
        </p:nvSpPr>
        <p:spPr>
          <a:xfrm>
            <a:off x="4718304" y="3419856"/>
            <a:ext cx="457200" cy="274320"/>
          </a:xfrm>
          <a:prstGeom prst="rect">
            <a:avLst/>
          </a:prstGeom>
          <a:noFill/>
          <a:ln/>
        </p:spPr>
        <p:txBody>
          <a:bodyPr wrap="square" lIns="0" tIns="0" rIns="0" bIns="0" rtlCol="0" anchor="ctr">
            <a:normAutofit/>
          </a:bodyPr>
          <a:lstStyle/>
          <a:p>
            <a:pPr algn="ctr" indent="0" marL="0">
              <a:buNone/>
            </a:pPr>
            <a:r>
              <a:rPr lang="en-US" sz="650" b="1" dirty="0">
                <a:solidFill>
                  <a:srgbClr val="FFFFFF"/>
                </a:solidFill>
                <a:latin typeface="Calibri" pitchFamily="34" charset="0"/>
                <a:ea typeface="Calibri" pitchFamily="34" charset="-122"/>
                <a:cs typeface="Calibri" pitchFamily="34" charset="-120"/>
              </a:rPr>
              <a:t>EVALUATE</a:t>
            </a:r>
            <a:endParaRPr lang="en-US" sz="650" dirty="0"/>
          </a:p>
        </p:txBody>
      </p:sp>
      <p:sp>
        <p:nvSpPr>
          <p:cNvPr id="37" name="Text 35"/>
          <p:cNvSpPr/>
          <p:nvPr/>
        </p:nvSpPr>
        <p:spPr>
          <a:xfrm>
            <a:off x="5248656" y="3072384"/>
            <a:ext cx="3602736" cy="603504"/>
          </a:xfrm>
          <a:prstGeom prst="rect">
            <a:avLst/>
          </a:prstGeom>
          <a:noFill/>
          <a:ln/>
        </p:spPr>
        <p:txBody>
          <a:bodyPr wrap="square" lIns="0" tIns="0" rIns="0" bIns="0" rtlCol="0" anchor="ctr">
            <a:normAutofit/>
          </a:bodyPr>
          <a:lstStyle/>
          <a:p>
            <a:pPr indent="0" marL="0">
              <a:buNone/>
            </a:pPr>
            <a:r>
              <a:rPr lang="en-US" sz="900" dirty="0">
                <a:solidFill>
                  <a:srgbClr val="FDA4AF"/>
                </a:solidFill>
                <a:latin typeface="Calibri" pitchFamily="34" charset="0"/>
                <a:ea typeface="Calibri" pitchFamily="34" charset="-122"/>
                <a:cs typeface="Calibri" pitchFamily="34" charset="-120"/>
              </a:rPr>
              <a:t>Both models: classification_report, ROC-AUC, AP score, confusion matrix. Compute FN count — 'patients we missed'.</a:t>
            </a:r>
            <a:endParaRPr lang="en-US" sz="900" dirty="0"/>
          </a:p>
        </p:txBody>
      </p:sp>
      <p:sp>
        <p:nvSpPr>
          <p:cNvPr id="38" name="Shape 36"/>
          <p:cNvSpPr/>
          <p:nvPr/>
        </p:nvSpPr>
        <p:spPr>
          <a:xfrm>
            <a:off x="256032" y="3813048"/>
            <a:ext cx="4224528" cy="722376"/>
          </a:xfrm>
          <a:prstGeom prst="rect">
            <a:avLst/>
          </a:prstGeom>
          <a:solidFill>
            <a:srgbClr val="200010"/>
          </a:solidFill>
          <a:ln w="15240">
            <a:solidFill>
              <a:srgbClr val="059669"/>
            </a:solidFill>
            <a:prstDash val="solid"/>
          </a:ln>
        </p:spPr>
      </p:sp>
      <p:sp>
        <p:nvSpPr>
          <p:cNvPr id="39" name="Shape 37"/>
          <p:cNvSpPr/>
          <p:nvPr/>
        </p:nvSpPr>
        <p:spPr>
          <a:xfrm>
            <a:off x="256032" y="3813048"/>
            <a:ext cx="457200" cy="722376"/>
          </a:xfrm>
          <a:prstGeom prst="rect">
            <a:avLst/>
          </a:prstGeom>
          <a:solidFill>
            <a:srgbClr val="059669"/>
          </a:solidFill>
          <a:ln w="12700">
            <a:solidFill>
              <a:srgbClr val="059669">
                <a:alpha val="0"/>
              </a:srgbClr>
            </a:solidFill>
            <a:prstDash val="solid"/>
          </a:ln>
        </p:spPr>
      </p:sp>
      <p:sp>
        <p:nvSpPr>
          <p:cNvPr id="40" name="Text 38"/>
          <p:cNvSpPr/>
          <p:nvPr/>
        </p:nvSpPr>
        <p:spPr>
          <a:xfrm>
            <a:off x="256032" y="3849624"/>
            <a:ext cx="457200" cy="310896"/>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07</a:t>
            </a:r>
            <a:endParaRPr lang="en-US" sz="1100" dirty="0"/>
          </a:p>
        </p:txBody>
      </p:sp>
      <p:sp>
        <p:nvSpPr>
          <p:cNvPr id="41" name="Text 39"/>
          <p:cNvSpPr/>
          <p:nvPr/>
        </p:nvSpPr>
        <p:spPr>
          <a:xfrm>
            <a:off x="256032" y="4215384"/>
            <a:ext cx="457200" cy="274320"/>
          </a:xfrm>
          <a:prstGeom prst="rect">
            <a:avLst/>
          </a:prstGeom>
          <a:noFill/>
          <a:ln/>
        </p:spPr>
        <p:txBody>
          <a:bodyPr wrap="square" lIns="0" tIns="0" rIns="0" bIns="0" rtlCol="0" anchor="ctr">
            <a:normAutofit/>
          </a:bodyPr>
          <a:lstStyle/>
          <a:p>
            <a:pPr algn="ctr" indent="0" marL="0">
              <a:buNone/>
            </a:pPr>
            <a:r>
              <a:rPr lang="en-US" sz="650" b="1" dirty="0">
                <a:solidFill>
                  <a:srgbClr val="FFFFFF"/>
                </a:solidFill>
                <a:latin typeface="Calibri" pitchFamily="34" charset="0"/>
                <a:ea typeface="Calibri" pitchFamily="34" charset="-122"/>
                <a:cs typeface="Calibri" pitchFamily="34" charset="-120"/>
              </a:rPr>
              <a:t>COMPARE</a:t>
            </a:r>
            <a:endParaRPr lang="en-US" sz="650" dirty="0"/>
          </a:p>
        </p:txBody>
      </p:sp>
      <p:sp>
        <p:nvSpPr>
          <p:cNvPr id="42" name="Text 40"/>
          <p:cNvSpPr/>
          <p:nvPr/>
        </p:nvSpPr>
        <p:spPr>
          <a:xfrm>
            <a:off x="786384" y="3867912"/>
            <a:ext cx="3602736" cy="603504"/>
          </a:xfrm>
          <a:prstGeom prst="rect">
            <a:avLst/>
          </a:prstGeom>
          <a:noFill/>
          <a:ln/>
        </p:spPr>
        <p:txBody>
          <a:bodyPr wrap="square" lIns="0" tIns="0" rIns="0" bIns="0" rtlCol="0" anchor="ctr">
            <a:normAutofit/>
          </a:bodyPr>
          <a:lstStyle/>
          <a:p>
            <a:pPr indent="0" marL="0">
              <a:buNone/>
            </a:pPr>
            <a:r>
              <a:rPr lang="en-US" sz="900" dirty="0">
                <a:solidFill>
                  <a:srgbClr val="FDA4AF"/>
                </a:solidFill>
                <a:latin typeface="Calibri" pitchFamily="34" charset="0"/>
                <a:ea typeface="Calibri" pitchFamily="34" charset="-122"/>
                <a:cs typeface="Calibri" pitchFamily="34" charset="-120"/>
              </a:rPr>
              <a:t>Print a neat comparison table: model, CV AUC, Test AUC, AP, Recall@0.35. Pick winner with justification comment.</a:t>
            </a:r>
            <a:endParaRPr lang="en-US" sz="900" dirty="0"/>
          </a:p>
        </p:txBody>
      </p:sp>
      <p:sp>
        <p:nvSpPr>
          <p:cNvPr id="43" name="Shape 41"/>
          <p:cNvSpPr/>
          <p:nvPr/>
        </p:nvSpPr>
        <p:spPr>
          <a:xfrm>
            <a:off x="4718304" y="3813048"/>
            <a:ext cx="4224528" cy="722376"/>
          </a:xfrm>
          <a:prstGeom prst="rect">
            <a:avLst/>
          </a:prstGeom>
          <a:solidFill>
            <a:srgbClr val="200010"/>
          </a:solidFill>
          <a:ln w="15240">
            <a:solidFill>
              <a:srgbClr val="0D1B3E"/>
            </a:solidFill>
            <a:prstDash val="solid"/>
          </a:ln>
        </p:spPr>
      </p:sp>
      <p:sp>
        <p:nvSpPr>
          <p:cNvPr id="44" name="Shape 42"/>
          <p:cNvSpPr/>
          <p:nvPr/>
        </p:nvSpPr>
        <p:spPr>
          <a:xfrm>
            <a:off x="4718304" y="3813048"/>
            <a:ext cx="457200" cy="722376"/>
          </a:xfrm>
          <a:prstGeom prst="rect">
            <a:avLst/>
          </a:prstGeom>
          <a:solidFill>
            <a:srgbClr val="0D1B3E"/>
          </a:solidFill>
          <a:ln w="12700">
            <a:solidFill>
              <a:srgbClr val="0D1B3E">
                <a:alpha val="0"/>
              </a:srgbClr>
            </a:solidFill>
            <a:prstDash val="solid"/>
          </a:ln>
        </p:spPr>
      </p:sp>
      <p:sp>
        <p:nvSpPr>
          <p:cNvPr id="45" name="Text 43"/>
          <p:cNvSpPr/>
          <p:nvPr/>
        </p:nvSpPr>
        <p:spPr>
          <a:xfrm>
            <a:off x="4718304" y="3849624"/>
            <a:ext cx="457200" cy="310896"/>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08</a:t>
            </a:r>
            <a:endParaRPr lang="en-US" sz="1100" dirty="0"/>
          </a:p>
        </p:txBody>
      </p:sp>
      <p:sp>
        <p:nvSpPr>
          <p:cNvPr id="46" name="Text 44"/>
          <p:cNvSpPr/>
          <p:nvPr/>
        </p:nvSpPr>
        <p:spPr>
          <a:xfrm>
            <a:off x="4718304" y="4215384"/>
            <a:ext cx="457200" cy="274320"/>
          </a:xfrm>
          <a:prstGeom prst="rect">
            <a:avLst/>
          </a:prstGeom>
          <a:noFill/>
          <a:ln/>
        </p:spPr>
        <p:txBody>
          <a:bodyPr wrap="square" lIns="0" tIns="0" rIns="0" bIns="0" rtlCol="0" anchor="ctr">
            <a:normAutofit/>
          </a:bodyPr>
          <a:lstStyle/>
          <a:p>
            <a:pPr algn="ctr" indent="0" marL="0">
              <a:buNone/>
            </a:pPr>
            <a:r>
              <a:rPr lang="en-US" sz="650" b="1" dirty="0">
                <a:solidFill>
                  <a:srgbClr val="FFFFFF"/>
                </a:solidFill>
                <a:latin typeface="Calibri" pitchFamily="34" charset="0"/>
                <a:ea typeface="Calibri" pitchFamily="34" charset="-122"/>
                <a:cs typeface="Calibri" pitchFamily="34" charset="-120"/>
              </a:rPr>
              <a:t>EXPORT</a:t>
            </a:r>
            <a:endParaRPr lang="en-US" sz="650" dirty="0"/>
          </a:p>
        </p:txBody>
      </p:sp>
      <p:sp>
        <p:nvSpPr>
          <p:cNvPr id="47" name="Text 45"/>
          <p:cNvSpPr/>
          <p:nvPr/>
        </p:nvSpPr>
        <p:spPr>
          <a:xfrm>
            <a:off x="5248656" y="3867912"/>
            <a:ext cx="3602736" cy="603504"/>
          </a:xfrm>
          <a:prstGeom prst="rect">
            <a:avLst/>
          </a:prstGeom>
          <a:noFill/>
          <a:ln/>
        </p:spPr>
        <p:txBody>
          <a:bodyPr wrap="square" lIns="0" tIns="0" rIns="0" bIns="0" rtlCol="0" anchor="ctr">
            <a:normAutofit/>
          </a:bodyPr>
          <a:lstStyle/>
          <a:p>
            <a:pPr indent="0" marL="0">
              <a:buNone/>
            </a:pPr>
            <a:r>
              <a:rPr lang="en-US" sz="900" dirty="0">
                <a:solidFill>
                  <a:srgbClr val="FDA4AF"/>
                </a:solidFill>
                <a:latin typeface="Calibri" pitchFamily="34" charset="0"/>
                <a:ea typeface="Calibri" pitchFamily="34" charset="-122"/>
                <a:cs typeface="Calibri" pitchFamily="34" charset="-120"/>
              </a:rPr>
              <a:t>joblib.dump(best, 'readmission_model.pkl'). Test reload and predict on one example patient. Print probability.</a:t>
            </a:r>
            <a:endParaRPr lang="en-US" sz="900" dirty="0"/>
          </a:p>
        </p:txBody>
      </p:sp>
      <p:sp>
        <p:nvSpPr>
          <p:cNvPr id="48" name="Shape 46"/>
          <p:cNvSpPr/>
          <p:nvPr/>
        </p:nvSpPr>
        <p:spPr>
          <a:xfrm>
            <a:off x="256032" y="4663440"/>
            <a:ext cx="8631936" cy="292608"/>
          </a:xfrm>
          <a:prstGeom prst="rect">
            <a:avLst/>
          </a:prstGeom>
          <a:solidFill>
            <a:srgbClr val="200010"/>
          </a:solidFill>
          <a:ln w="12700">
            <a:solidFill>
              <a:srgbClr val="9F1239"/>
            </a:solidFill>
            <a:prstDash val="solid"/>
          </a:ln>
        </p:spPr>
      </p:sp>
      <p:sp>
        <p:nvSpPr>
          <p:cNvPr id="49" name="Text 47"/>
          <p:cNvSpPr/>
          <p:nvPr/>
        </p:nvSpPr>
        <p:spPr>
          <a:xfrm>
            <a:off x="438912" y="4663440"/>
            <a:ext cx="8321040" cy="292608"/>
          </a:xfrm>
          <a:prstGeom prst="rect">
            <a:avLst/>
          </a:prstGeom>
          <a:noFill/>
          <a:ln/>
        </p:spPr>
        <p:txBody>
          <a:bodyPr wrap="square" lIns="0" tIns="0" rIns="0" bIns="0" rtlCol="0" anchor="ctr">
            <a:normAutofit/>
          </a:bodyPr>
          <a:lstStyle/>
          <a:p>
            <a:pPr indent="0" marL="0">
              <a:buNone/>
            </a:pPr>
            <a:r>
              <a:rPr lang="en-US" sz="950" b="1" dirty="0">
                <a:solidFill>
                  <a:srgbClr val="FDA4AF"/>
                </a:solidFill>
                <a:latin typeface="Calibri" pitchFamily="34" charset="0"/>
                <a:ea typeface="Calibri" pitchFamily="34" charset="-122"/>
                <a:cs typeface="Calibri" pitchFamily="34" charset="-120"/>
              </a:rPr>
              <a:t>SUBMIT: lab6_readmission.py + readmission_model.pkl + evaluation_report.txt → GitHub commit 🚀</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9F0"/>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E293B"/>
          </a:solidFill>
          <a:ln w="12700">
            <a:solidFill>
              <a:srgbClr val="1E293B">
                <a:alpha val="0"/>
              </a:srgbClr>
            </a:solidFill>
            <a:prstDash val="solid"/>
          </a:ln>
        </p:spPr>
      </p:sp>
      <p:sp>
        <p:nvSpPr>
          <p:cNvPr id="3" name="Text 1"/>
          <p:cNvSpPr/>
          <p:nvPr/>
        </p:nvSpPr>
        <p:spPr>
          <a:xfrm>
            <a:off x="347472" y="0"/>
            <a:ext cx="8458200" cy="640080"/>
          </a:xfrm>
          <a:prstGeom prst="rect">
            <a:avLst/>
          </a:prstGeom>
          <a:noFill/>
          <a:ln/>
        </p:spPr>
        <p:txBody>
          <a:bodyPr wrap="square" lIns="0" tIns="0" rIns="0" bIns="0" rtlCol="0" anchor="ctr">
            <a:normAutofit/>
          </a:bodyPr>
          <a:lstStyle/>
          <a:p>
            <a:pPr indent="0" marL="0">
              <a:buNone/>
            </a:pPr>
            <a:r>
              <a:rPr lang="en-US" sz="1400" b="1" spc="100" kern="0" dirty="0">
                <a:solidFill>
                  <a:srgbClr val="FFFFFF"/>
                </a:solidFill>
                <a:latin typeface="Calibri" pitchFamily="34" charset="0"/>
                <a:ea typeface="Calibri" pitchFamily="34" charset="-122"/>
                <a:cs typeface="Calibri" pitchFamily="34" charset="-120"/>
              </a:rPr>
              <a:t>LAB 6 — STARTER CODE (Distribute via GitHub)</a:t>
            </a:r>
            <a:endParaRPr lang="en-US" sz="1400" dirty="0"/>
          </a:p>
        </p:txBody>
      </p:sp>
      <p:sp>
        <p:nvSpPr>
          <p:cNvPr id="4" name="Text 2"/>
          <p:cNvSpPr/>
          <p:nvPr/>
        </p:nvSpPr>
        <p:spPr>
          <a:xfrm>
            <a:off x="347472" y="667512"/>
            <a:ext cx="8458200" cy="256032"/>
          </a:xfrm>
          <a:prstGeom prst="rect">
            <a:avLst/>
          </a:prstGeom>
          <a:noFill/>
          <a:ln/>
        </p:spPr>
        <p:txBody>
          <a:bodyPr wrap="square" lIns="0" tIns="0" rIns="0" bIns="0" rtlCol="0" anchor="ctr">
            <a:normAutofit/>
          </a:bodyPr>
          <a:lstStyle/>
          <a:p>
            <a:pPr indent="0" marL="0">
              <a:buNone/>
            </a:pPr>
            <a:r>
              <a:rPr lang="en-US" sz="1000" i="1" dirty="0">
                <a:solidFill>
                  <a:srgbClr val="64748B"/>
                </a:solidFill>
                <a:latin typeface="Calibri" pitchFamily="34" charset="0"/>
                <a:ea typeface="Calibri" pitchFamily="34" charset="-122"/>
                <a:cs typeface="Calibri" pitchFamily="34" charset="-120"/>
              </a:rPr>
              <a:t>Replace every # TODO. Run after each step. Print metrics after every model.</a:t>
            </a:r>
            <a:endParaRPr lang="en-US" sz="1000" dirty="0"/>
          </a:p>
        </p:txBody>
      </p:sp>
      <p:sp>
        <p:nvSpPr>
          <p:cNvPr id="5" name="Shape 3"/>
          <p:cNvSpPr/>
          <p:nvPr/>
        </p:nvSpPr>
        <p:spPr>
          <a:xfrm>
            <a:off x="256032" y="960120"/>
            <a:ext cx="8631936" cy="4041648"/>
          </a:xfrm>
          <a:prstGeom prst="rect">
            <a:avLst/>
          </a:prstGeom>
          <a:solidFill>
            <a:srgbClr val="111827"/>
          </a:solidFill>
          <a:ln w="12700">
            <a:solidFill>
              <a:srgbClr val="111827">
                <a:alpha val="0"/>
              </a:srgbClr>
            </a:solidFill>
            <a:prstDash val="solid"/>
          </a:ln>
          <a:effectLst>
            <a:outerShdw sx="100000" sy="100000" kx="0" ky="0" algn="bl" rotWithShape="0" blurRad="101600" dist="38100" dir="8100000">
              <a:srgbClr val="000000">
                <a:alpha val="10000"/>
              </a:srgbClr>
            </a:outerShdw>
          </a:effectLst>
        </p:spPr>
      </p:sp>
      <p:sp>
        <p:nvSpPr>
          <p:cNvPr id="6" name="Text 4"/>
          <p:cNvSpPr/>
          <p:nvPr/>
        </p:nvSpPr>
        <p:spPr>
          <a:xfrm>
            <a:off x="393192" y="1051560"/>
            <a:ext cx="8375904" cy="3858768"/>
          </a:xfrm>
          <a:prstGeom prst="rect">
            <a:avLst/>
          </a:prstGeom>
          <a:noFill/>
          <a:ln/>
        </p:spPr>
        <p:txBody>
          <a:bodyPr wrap="square" lIns="0" tIns="0" rIns="0" bIns="0" rtlCol="0" anchor="ctr">
            <a:normAutofit/>
          </a:bodyPr>
          <a:lstStyle/>
          <a:p>
            <a:pPr indent="0" marL="0">
              <a:buNone/>
            </a:pPr>
            <a:r>
              <a:rPr lang="en-US" sz="740" dirty="0">
                <a:solidFill>
                  <a:srgbClr val="F9FAFB"/>
                </a:solidFill>
                <a:latin typeface="Courier New" pitchFamily="34" charset="0"/>
                <a:ea typeface="Courier New" pitchFamily="34" charset="-122"/>
                <a:cs typeface="Courier New" pitchFamily="34" charset="-120"/>
              </a:rPr>
              <a:t>"""</a:t>
            </a:r>
            <a:endParaRPr lang="en-US" sz="740" dirty="0"/>
          </a:p>
          <a:p>
            <a:pPr indent="0" marL="0">
              <a:buNone/>
            </a:pPr>
            <a:r>
              <a:rPr lang="en-US" sz="740" dirty="0">
                <a:solidFill>
                  <a:srgbClr val="F9FAFB"/>
                </a:solidFill>
                <a:latin typeface="Courier New" pitchFamily="34" charset="0"/>
                <a:ea typeface="Courier New" pitchFamily="34" charset="-122"/>
                <a:cs typeface="Courier New" pitchFamily="34" charset="-120"/>
              </a:rPr>
              <a:t>Lab 6: Patient Readmission Predictor  |  File: lab6_readmission.py</a:t>
            </a:r>
            <a:endParaRPr lang="en-US" sz="740" dirty="0"/>
          </a:p>
          <a:p>
            <a:pPr indent="0" marL="0">
              <a:buNone/>
            </a:pPr>
            <a:r>
              <a:rPr lang="en-US" sz="740" dirty="0">
                <a:solidFill>
                  <a:srgbClr val="F9FAFB"/>
                </a:solidFill>
                <a:latin typeface="Courier New" pitchFamily="34" charset="0"/>
                <a:ea typeface="Courier New" pitchFamily="34" charset="-122"/>
                <a:cs typeface="Courier New" pitchFamily="34" charset="-120"/>
              </a:rPr>
              <a:t>Run: python lab6_readmission.py</a:t>
            </a:r>
            <a:endParaRPr lang="en-US" sz="740" dirty="0"/>
          </a:p>
          <a:p>
            <a:pPr indent="0" marL="0">
              <a:buNone/>
            </a:pPr>
            <a:r>
              <a:rPr lang="en-US" sz="740" dirty="0">
                <a:solidFill>
                  <a:srgbClr val="F9FAFB"/>
                </a:solidFill>
                <a:latin typeface="Courier New" pitchFamily="34" charset="0"/>
                <a:ea typeface="Courier New" pitchFamily="34" charset="-122"/>
                <a:cs typeface="Courier New" pitchFamily="34" charset="-120"/>
              </a:rPr>
              <a:t>Submit: lab6_readmission.py + readmission_model.pkl + evaluation_report.txt</a:t>
            </a:r>
            <a:endParaRPr lang="en-US" sz="740" dirty="0"/>
          </a:p>
          <a:p>
            <a:pPr indent="0" marL="0">
              <a:buNone/>
            </a:pPr>
            <a:r>
              <a:rPr lang="en-US" sz="740" dirty="0">
                <a:solidFill>
                  <a:srgbClr val="F9FAFB"/>
                </a:solidFill>
                <a:latin typeface="Courier New" pitchFamily="34" charset="0"/>
                <a:ea typeface="Courier New" pitchFamily="34" charset="-122"/>
                <a:cs typeface="Courier New" pitchFamily="34" charset="-120"/>
              </a:rPr>
              <a:t>"""</a:t>
            </a:r>
            <a:endParaRPr lang="en-US" sz="740" dirty="0"/>
          </a:p>
          <a:p>
            <a:pPr indent="0" marL="0">
              <a:buNone/>
            </a:pPr>
            <a:r>
              <a:rPr lang="en-US" sz="740" dirty="0">
                <a:solidFill>
                  <a:srgbClr val="F9FAFB"/>
                </a:solidFill>
                <a:latin typeface="Courier New" pitchFamily="34" charset="0"/>
                <a:ea typeface="Courier New" pitchFamily="34" charset="-122"/>
                <a:cs typeface="Courier New" pitchFamily="34" charset="-120"/>
              </a:rPr>
              <a:t>import pandas as pd, numpy as np, joblib</a:t>
            </a:r>
            <a:endParaRPr lang="en-US" sz="740" dirty="0"/>
          </a:p>
          <a:p>
            <a:pPr indent="0" marL="0">
              <a:buNone/>
            </a:pPr>
            <a:r>
              <a:rPr lang="en-US" sz="740" dirty="0">
                <a:solidFill>
                  <a:srgbClr val="F9FAFB"/>
                </a:solidFill>
                <a:latin typeface="Courier New" pitchFamily="34" charset="0"/>
                <a:ea typeface="Courier New" pitchFamily="34" charset="-122"/>
                <a:cs typeface="Courier New" pitchFamily="34" charset="-120"/>
              </a:rPr>
              <a:t>from sklearn.ensemble import RandomForestClassifier</a:t>
            </a:r>
            <a:endParaRPr lang="en-US" sz="740" dirty="0"/>
          </a:p>
          <a:p>
            <a:pPr indent="0" marL="0">
              <a:buNone/>
            </a:pPr>
            <a:r>
              <a:rPr lang="en-US" sz="740" dirty="0">
                <a:solidFill>
                  <a:srgbClr val="F9FAFB"/>
                </a:solidFill>
                <a:latin typeface="Courier New" pitchFamily="34" charset="0"/>
                <a:ea typeface="Courier New" pitchFamily="34" charset="-122"/>
                <a:cs typeface="Courier New" pitchFamily="34" charset="-120"/>
              </a:rPr>
              <a:t>from sklearn.model_selection import train_test_split, cross_val_score</a:t>
            </a:r>
            <a:endParaRPr lang="en-US" sz="740" dirty="0"/>
          </a:p>
          <a:p>
            <a:pPr indent="0" marL="0">
              <a:buNone/>
            </a:pPr>
            <a:r>
              <a:rPr lang="en-US" sz="740" dirty="0">
                <a:solidFill>
                  <a:srgbClr val="F9FAFB"/>
                </a:solidFill>
                <a:latin typeface="Courier New" pitchFamily="34" charset="0"/>
                <a:ea typeface="Courier New" pitchFamily="34" charset="-122"/>
                <a:cs typeface="Courier New" pitchFamily="34" charset="-120"/>
              </a:rPr>
              <a:t>from sklearn.metrics import (roc_auc_score, classification_report,</a:t>
            </a:r>
            <a:endParaRPr lang="en-US" sz="740" dirty="0"/>
          </a:p>
          <a:p>
            <a:pPr indent="0" marL="0">
              <a:buNone/>
            </a:pPr>
            <a:r>
              <a:rPr lang="en-US" sz="740" dirty="0">
                <a:solidFill>
                  <a:srgbClr val="F9FAFB"/>
                </a:solidFill>
                <a:latin typeface="Courier New" pitchFamily="34" charset="0"/>
                <a:ea typeface="Courier New" pitchFamily="34" charset="-122"/>
                <a:cs typeface="Courier New" pitchFamily="34" charset="-120"/>
              </a:rPr>
              <a:t>    average_precision_score, confusion_matrix)</a:t>
            </a:r>
            <a:endParaRPr lang="en-US" sz="740" dirty="0"/>
          </a:p>
          <a:p>
            <a:pPr indent="0" marL="0">
              <a:buNone/>
            </a:pPr>
            <a:r>
              <a:rPr lang="en-US" sz="740" dirty="0">
                <a:solidFill>
                  <a:srgbClr val="F9FAFB"/>
                </a:solidFill>
                <a:latin typeface="Courier New" pitchFamily="34" charset="0"/>
                <a:ea typeface="Courier New" pitchFamily="34" charset="-122"/>
                <a:cs typeface="Courier New" pitchFamily="34" charset="-120"/>
              </a:rPr>
              <a:t>import xgboost as xgb</a:t>
            </a:r>
            <a:endParaRPr lang="en-US" sz="740" dirty="0"/>
          </a:p>
          <a:p>
            <a:pPr indent="0" marL="0">
              <a:buNone/>
            </a:pPr>
            <a:endParaRPr lang="en-US" sz="740" dirty="0"/>
          </a:p>
          <a:p>
            <a:pPr indent="0" marL="0">
              <a:buNone/>
            </a:pPr>
            <a:r>
              <a:rPr lang="en-US" sz="740" dirty="0">
                <a:solidFill>
                  <a:srgbClr val="F9FAFB"/>
                </a:solidFill>
                <a:latin typeface="Courier New" pitchFamily="34" charset="0"/>
                <a:ea typeface="Courier New" pitchFamily="34" charset="-122"/>
                <a:cs typeface="Courier New" pitchFamily="34" charset="-120"/>
              </a:rPr>
              <a:t># ── STEP 1: LOAD &amp; CLEAN ───────────────────────────────────────────────────────</a:t>
            </a:r>
            <a:endParaRPr lang="en-US" sz="740" dirty="0"/>
          </a:p>
          <a:p>
            <a:pPr indent="0" marL="0">
              <a:buNone/>
            </a:pPr>
            <a:r>
              <a:rPr lang="en-US" sz="740" dirty="0">
                <a:solidFill>
                  <a:srgbClr val="F9FAFB"/>
                </a:solidFill>
                <a:latin typeface="Courier New" pitchFamily="34" charset="0"/>
                <a:ea typeface="Courier New" pitchFamily="34" charset="-122"/>
                <a:cs typeface="Courier New" pitchFamily="34" charset="-120"/>
              </a:rPr>
              <a:t>df = pd.read_csv("healthcare.csv")</a:t>
            </a:r>
            <a:endParaRPr lang="en-US" sz="740" dirty="0"/>
          </a:p>
          <a:p>
            <a:pPr indent="0" marL="0">
              <a:buNone/>
            </a:pPr>
            <a:r>
              <a:rPr lang="en-US" sz="740" dirty="0">
                <a:solidFill>
                  <a:srgbClr val="F9FAFB"/>
                </a:solidFill>
                <a:latin typeface="Courier New" pitchFamily="34" charset="0"/>
                <a:ea typeface="Courier New" pitchFamily="34" charset="-122"/>
                <a:cs typeface="Courier New" pitchFamily="34" charset="-120"/>
              </a:rPr>
              <a:t>print(f"Raw: {df.shape}")</a:t>
            </a:r>
            <a:endParaRPr lang="en-US" sz="740" dirty="0"/>
          </a:p>
          <a:p>
            <a:pPr indent="0" marL="0">
              <a:buNone/>
            </a:pPr>
            <a:r>
              <a:rPr lang="en-US" sz="740" dirty="0">
                <a:solidFill>
                  <a:srgbClr val="F9FAFB"/>
                </a:solidFill>
                <a:latin typeface="Courier New" pitchFamily="34" charset="0"/>
                <a:ea typeface="Courier New" pitchFamily="34" charset="-122"/>
                <a:cs typeface="Courier New" pitchFamily="34" charset="-120"/>
              </a:rPr>
              <a:t># TODO: fillna numeric cols with median, fix age/bmi/hba1c outliers, drop_duplicates</a:t>
            </a:r>
            <a:endParaRPr lang="en-US" sz="740" dirty="0"/>
          </a:p>
          <a:p>
            <a:pPr indent="0" marL="0">
              <a:buNone/>
            </a:pPr>
            <a:endParaRPr lang="en-US" sz="740" dirty="0"/>
          </a:p>
          <a:p>
            <a:pPr indent="0" marL="0">
              <a:buNone/>
            </a:pPr>
            <a:r>
              <a:rPr lang="en-US" sz="740" dirty="0">
                <a:solidFill>
                  <a:srgbClr val="F9FAFB"/>
                </a:solidFill>
                <a:latin typeface="Courier New" pitchFamily="34" charset="0"/>
                <a:ea typeface="Courier New" pitchFamily="34" charset="-122"/>
                <a:cs typeface="Courier New" pitchFamily="34" charset="-120"/>
              </a:rPr>
              <a:t># ── STEP 2: FEATURES &amp; TARGET ──────────────────────────────────────────────────</a:t>
            </a:r>
            <a:endParaRPr lang="en-US" sz="740" dirty="0"/>
          </a:p>
          <a:p>
            <a:pPr indent="0" marL="0">
              <a:buNone/>
            </a:pPr>
            <a:r>
              <a:rPr lang="en-US" sz="740" dirty="0">
                <a:solidFill>
                  <a:srgbClr val="F9FAFB"/>
                </a:solidFill>
                <a:latin typeface="Courier New" pitchFamily="34" charset="0"/>
                <a:ea typeface="Courier New" pitchFamily="34" charset="-122"/>
                <a:cs typeface="Courier New" pitchFamily="34" charset="-120"/>
              </a:rPr>
              <a:t>feature_cols = ["age","bmi","hba1c","systolic_bp","diastolic_bp","heart_rate","los_days"]</a:t>
            </a:r>
            <a:endParaRPr lang="en-US" sz="740" dirty="0"/>
          </a:p>
          <a:p>
            <a:pPr indent="0" marL="0">
              <a:buNone/>
            </a:pPr>
            <a:r>
              <a:rPr lang="en-US" sz="740" dirty="0">
                <a:solidFill>
                  <a:srgbClr val="F9FAFB"/>
                </a:solidFill>
                <a:latin typeface="Courier New" pitchFamily="34" charset="0"/>
                <a:ea typeface="Courier New" pitchFamily="34" charset="-122"/>
                <a:cs typeface="Courier New" pitchFamily="34" charset="-120"/>
              </a:rPr>
              <a:t># TODO: optionally add encoded categorical (e.g. pd.get_dummies for ward/gender)</a:t>
            </a:r>
            <a:endParaRPr lang="en-US" sz="740" dirty="0"/>
          </a:p>
          <a:p>
            <a:pPr indent="0" marL="0">
              <a:buNone/>
            </a:pPr>
            <a:r>
              <a:rPr lang="en-US" sz="740" dirty="0">
                <a:solidFill>
                  <a:srgbClr val="F9FAFB"/>
                </a:solidFill>
                <a:latin typeface="Courier New" pitchFamily="34" charset="0"/>
                <a:ea typeface="Courier New" pitchFamily="34" charset="-122"/>
                <a:cs typeface="Courier New" pitchFamily="34" charset="-120"/>
              </a:rPr>
              <a:t>X = df[feature_cols].fillna(df[feature_cols].median())</a:t>
            </a:r>
            <a:endParaRPr lang="en-US" sz="740" dirty="0"/>
          </a:p>
          <a:p>
            <a:pPr indent="0" marL="0">
              <a:buNone/>
            </a:pPr>
            <a:r>
              <a:rPr lang="en-US" sz="740" dirty="0">
                <a:solidFill>
                  <a:srgbClr val="F9FAFB"/>
                </a:solidFill>
                <a:latin typeface="Courier New" pitchFamily="34" charset="0"/>
                <a:ea typeface="Courier New" pitchFamily="34" charset="-122"/>
                <a:cs typeface="Courier New" pitchFamily="34" charset="-120"/>
              </a:rPr>
              <a:t>y = df["readmitted"].astype(int)</a:t>
            </a:r>
            <a:endParaRPr lang="en-US" sz="740" dirty="0"/>
          </a:p>
          <a:p>
            <a:pPr indent="0" marL="0">
              <a:buNone/>
            </a:pPr>
            <a:r>
              <a:rPr lang="en-US" sz="740" dirty="0">
                <a:solidFill>
                  <a:srgbClr val="F9FAFB"/>
                </a:solidFill>
                <a:latin typeface="Courier New" pitchFamily="34" charset="0"/>
                <a:ea typeface="Courier New" pitchFamily="34" charset="-122"/>
                <a:cs typeface="Courier New" pitchFamily="34" charset="-120"/>
              </a:rPr>
              <a:t>print(f"Class balance: {y.value_counts(normalize=True).round(3).to_dict()}")</a:t>
            </a:r>
            <a:endParaRPr lang="en-US" sz="740" dirty="0"/>
          </a:p>
          <a:p>
            <a:pPr indent="0" marL="0">
              <a:buNone/>
            </a:pPr>
            <a:endParaRPr lang="en-US" sz="740" dirty="0"/>
          </a:p>
          <a:p>
            <a:pPr indent="0" marL="0">
              <a:buNone/>
            </a:pPr>
            <a:r>
              <a:rPr lang="en-US" sz="740" dirty="0">
                <a:solidFill>
                  <a:srgbClr val="F9FAFB"/>
                </a:solidFill>
                <a:latin typeface="Courier New" pitchFamily="34" charset="0"/>
                <a:ea typeface="Courier New" pitchFamily="34" charset="-122"/>
                <a:cs typeface="Courier New" pitchFamily="34" charset="-120"/>
              </a:rPr>
              <a:t># ── STEP 3: TRAIN/TEST SPLIT ───────────────────────────────────────────────────</a:t>
            </a:r>
            <a:endParaRPr lang="en-US" sz="740" dirty="0"/>
          </a:p>
          <a:p>
            <a:pPr indent="0" marL="0">
              <a:buNone/>
            </a:pPr>
            <a:r>
              <a:rPr lang="en-US" sz="740" dirty="0">
                <a:solidFill>
                  <a:srgbClr val="F9FAFB"/>
                </a:solidFill>
                <a:latin typeface="Courier New" pitchFamily="34" charset="0"/>
                <a:ea typeface="Courier New" pitchFamily="34" charset="-122"/>
                <a:cs typeface="Courier New" pitchFamily="34" charset="-120"/>
              </a:rPr>
              <a:t># TODO: train_test_split with test_size=0.2, stratify=y, random_state=42</a:t>
            </a:r>
            <a:endParaRPr lang="en-US" sz="740" dirty="0"/>
          </a:p>
          <a:p>
            <a:pPr indent="0" marL="0">
              <a:buNone/>
            </a:pPr>
            <a:endParaRPr lang="en-US" sz="740" dirty="0"/>
          </a:p>
          <a:p>
            <a:pPr indent="0" marL="0">
              <a:buNone/>
            </a:pPr>
            <a:r>
              <a:rPr lang="en-US" sz="740" dirty="0">
                <a:solidFill>
                  <a:srgbClr val="F9FAFB"/>
                </a:solidFill>
                <a:latin typeface="Courier New" pitchFamily="34" charset="0"/>
                <a:ea typeface="Courier New" pitchFamily="34" charset="-122"/>
                <a:cs typeface="Courier New" pitchFamily="34" charset="-120"/>
              </a:rPr>
              <a:t># ── STEP 4: RANDOM FOREST ──────────────────────────────────────────────────────</a:t>
            </a:r>
            <a:endParaRPr lang="en-US" sz="740" dirty="0"/>
          </a:p>
          <a:p>
            <a:pPr indent="0" marL="0">
              <a:buNone/>
            </a:pPr>
            <a:r>
              <a:rPr lang="en-US" sz="740" dirty="0">
                <a:solidFill>
                  <a:srgbClr val="F9FAFB"/>
                </a:solidFill>
                <a:latin typeface="Courier New" pitchFamily="34" charset="0"/>
                <a:ea typeface="Courier New" pitchFamily="34" charset="-122"/>
                <a:cs typeface="Courier New" pitchFamily="34" charset="-120"/>
              </a:rPr>
              <a:t>rf = RandomForestClassifier(n_estimators=300, class_weight="balanced",</a:t>
            </a:r>
            <a:endParaRPr lang="en-US" sz="740" dirty="0"/>
          </a:p>
          <a:p>
            <a:pPr indent="0" marL="0">
              <a:buNone/>
            </a:pPr>
            <a:r>
              <a:rPr lang="en-US" sz="740" dirty="0">
                <a:solidFill>
                  <a:srgbClr val="F9FAFB"/>
                </a:solidFill>
                <a:latin typeface="Courier New" pitchFamily="34" charset="0"/>
                <a:ea typeface="Courier New" pitchFamily="34" charset="-122"/>
                <a:cs typeface="Courier New" pitchFamily="34" charset="-120"/>
              </a:rPr>
              <a:t>                            oob_score=True, n_jobs=-1, random_state=42)</a:t>
            </a:r>
            <a:endParaRPr lang="en-US" sz="740" dirty="0"/>
          </a:p>
          <a:p>
            <a:pPr indent="0" marL="0">
              <a:buNone/>
            </a:pPr>
            <a:r>
              <a:rPr lang="en-US" sz="740" dirty="0">
                <a:solidFill>
                  <a:srgbClr val="F9FAFB"/>
                </a:solidFill>
                <a:latin typeface="Courier New" pitchFamily="34" charset="0"/>
                <a:ea typeface="Courier New" pitchFamily="34" charset="-122"/>
                <a:cs typeface="Courier New" pitchFamily="34" charset="-120"/>
              </a:rPr>
              <a:t># TODO: cv 5-fold AUC on X_train, fit on X_train, print OOB score, eval on X_test</a:t>
            </a:r>
            <a:endParaRPr lang="en-US" sz="740" dirty="0"/>
          </a:p>
          <a:p>
            <a:pPr indent="0" marL="0">
              <a:buNone/>
            </a:pPr>
            <a:endParaRPr lang="en-US" sz="740" dirty="0"/>
          </a:p>
          <a:p>
            <a:pPr indent="0" marL="0">
              <a:buNone/>
            </a:pPr>
            <a:r>
              <a:rPr lang="en-US" sz="740" dirty="0">
                <a:solidFill>
                  <a:srgbClr val="F9FAFB"/>
                </a:solidFill>
                <a:latin typeface="Courier New" pitchFamily="34" charset="0"/>
                <a:ea typeface="Courier New" pitchFamily="34" charset="-122"/>
                <a:cs typeface="Courier New" pitchFamily="34" charset="-120"/>
              </a:rPr>
              <a:t># ── STEP 5: XGBOOST ────────────────────────────────────────────────────────────</a:t>
            </a:r>
            <a:endParaRPr lang="en-US" sz="740" dirty="0"/>
          </a:p>
          <a:p>
            <a:pPr indent="0" marL="0">
              <a:buNone/>
            </a:pPr>
            <a:r>
              <a:rPr lang="en-US" sz="740" dirty="0">
                <a:solidFill>
                  <a:srgbClr val="F9FAFB"/>
                </a:solidFill>
                <a:latin typeface="Courier New" pitchFamily="34" charset="0"/>
                <a:ea typeface="Courier New" pitchFamily="34" charset="-122"/>
                <a:cs typeface="Courier New" pitchFamily="34" charset="-120"/>
              </a:rPr>
              <a:t>pos=y_train.sum(); neg=len(y_train)-pos</a:t>
            </a:r>
            <a:endParaRPr lang="en-US" sz="740" dirty="0"/>
          </a:p>
          <a:p>
            <a:pPr indent="0" marL="0">
              <a:buNone/>
            </a:pPr>
            <a:r>
              <a:rPr lang="en-US" sz="740" dirty="0">
                <a:solidFill>
                  <a:srgbClr val="F9FAFB"/>
                </a:solidFill>
                <a:latin typeface="Courier New" pitchFamily="34" charset="0"/>
                <a:ea typeface="Courier New" pitchFamily="34" charset="-122"/>
                <a:cs typeface="Courier New" pitchFamily="34" charset="-120"/>
              </a:rPr>
              <a:t>xgb_model = xgb.XGBClassifier(n_estimators=500, learning_rate=0.05,</a:t>
            </a:r>
            <a:endParaRPr lang="en-US" sz="740" dirty="0"/>
          </a:p>
          <a:p>
            <a:pPr indent="0" marL="0">
              <a:buNone/>
            </a:pPr>
            <a:r>
              <a:rPr lang="en-US" sz="740" dirty="0">
                <a:solidFill>
                  <a:srgbClr val="F9FAFB"/>
                </a:solidFill>
                <a:latin typeface="Courier New" pitchFamily="34" charset="0"/>
                <a:ea typeface="Courier New" pitchFamily="34" charset="-122"/>
                <a:cs typeface="Courier New" pitchFamily="34" charset="-120"/>
              </a:rPr>
              <a:t>    max_depth=5, scale_pos_weight=neg/pos,</a:t>
            </a:r>
            <a:endParaRPr lang="en-US" sz="740" dirty="0"/>
          </a:p>
          <a:p>
            <a:pPr indent="0" marL="0">
              <a:buNone/>
            </a:pPr>
            <a:r>
              <a:rPr lang="en-US" sz="740" dirty="0">
                <a:solidFill>
                  <a:srgbClr val="F9FAFB"/>
                </a:solidFill>
                <a:latin typeface="Courier New" pitchFamily="34" charset="0"/>
                <a:ea typeface="Courier New" pitchFamily="34" charset="-122"/>
                <a:cs typeface="Courier New" pitchFamily="34" charset="-120"/>
              </a:rPr>
              <a:t>    early_stopping_rounds=50, eval_metric="auc", random_state=42)</a:t>
            </a:r>
            <a:endParaRPr lang="en-US" sz="740" dirty="0"/>
          </a:p>
          <a:p>
            <a:pPr indent="0" marL="0">
              <a:buNone/>
            </a:pPr>
            <a:r>
              <a:rPr lang="en-US" sz="740" dirty="0">
                <a:solidFill>
                  <a:srgbClr val="F9FAFB"/>
                </a:solidFill>
                <a:latin typeface="Courier New" pitchFamily="34" charset="0"/>
                <a:ea typeface="Courier New" pitchFamily="34" charset="-122"/>
                <a:cs typeface="Courier New" pitchFamily="34" charset="-120"/>
              </a:rPr>
              <a:t># TODO: fit with eval_set=[(X_test,y_test)], verbose=False, print best_iteration + AUC</a:t>
            </a:r>
            <a:endParaRPr lang="en-US" sz="740" dirty="0"/>
          </a:p>
          <a:p>
            <a:pPr indent="0" marL="0">
              <a:buNone/>
            </a:pPr>
            <a:endParaRPr lang="en-US" sz="740" dirty="0"/>
          </a:p>
          <a:p>
            <a:pPr indent="0" marL="0">
              <a:buNone/>
            </a:pPr>
            <a:r>
              <a:rPr lang="en-US" sz="740" dirty="0">
                <a:solidFill>
                  <a:srgbClr val="F9FAFB"/>
                </a:solidFill>
                <a:latin typeface="Courier New" pitchFamily="34" charset="0"/>
                <a:ea typeface="Courier New" pitchFamily="34" charset="-122"/>
                <a:cs typeface="Courier New" pitchFamily="34" charset="-120"/>
              </a:rPr>
              <a:t># ── STEP 6 &amp; 7: EVALUATE + COMPARE ────────────────────────────────────────────</a:t>
            </a:r>
            <a:endParaRPr lang="en-US" sz="740" dirty="0"/>
          </a:p>
          <a:p>
            <a:pPr indent="0" marL="0">
              <a:buNone/>
            </a:pPr>
            <a:r>
              <a:rPr lang="en-US" sz="740" dirty="0">
                <a:solidFill>
                  <a:srgbClr val="F9FAFB"/>
                </a:solidFill>
                <a:latin typeface="Courier New" pitchFamily="34" charset="0"/>
                <a:ea typeface="Courier New" pitchFamily="34" charset="-122"/>
                <a:cs typeface="Courier New" pitchFamily="34" charset="-120"/>
              </a:rPr>
              <a:t>def evaluate_model(name, model, X_test, y_test):</a:t>
            </a:r>
            <a:endParaRPr lang="en-US" sz="740" dirty="0"/>
          </a:p>
          <a:p>
            <a:pPr indent="0" marL="0">
              <a:buNone/>
            </a:pPr>
            <a:r>
              <a:rPr lang="en-US" sz="740" dirty="0">
                <a:solidFill>
                  <a:srgbClr val="F9FAFB"/>
                </a:solidFill>
                <a:latin typeface="Courier New" pitchFamily="34" charset="0"/>
                <a:ea typeface="Courier New" pitchFamily="34" charset="-122"/>
                <a:cs typeface="Courier New" pitchFamily="34" charset="-120"/>
              </a:rPr>
              <a:t>    y_pred = model.predict(X_test)</a:t>
            </a:r>
            <a:endParaRPr lang="en-US" sz="740" dirty="0"/>
          </a:p>
          <a:p>
            <a:pPr indent="0" marL="0">
              <a:buNone/>
            </a:pPr>
            <a:r>
              <a:rPr lang="en-US" sz="740" dirty="0">
                <a:solidFill>
                  <a:srgbClr val="F9FAFB"/>
                </a:solidFill>
                <a:latin typeface="Courier New" pitchFamily="34" charset="0"/>
                <a:ea typeface="Courier New" pitchFamily="34" charset="-122"/>
                <a:cs typeface="Courier New" pitchFamily="34" charset="-120"/>
              </a:rPr>
              <a:t>    y_prob = model.predict_proba(X_test)[:,1]</a:t>
            </a:r>
            <a:endParaRPr lang="en-US" sz="740" dirty="0"/>
          </a:p>
          <a:p>
            <a:pPr indent="0" marL="0">
              <a:buNone/>
            </a:pPr>
            <a:r>
              <a:rPr lang="en-US" sz="740" dirty="0">
                <a:solidFill>
                  <a:srgbClr val="F9FAFB"/>
                </a:solidFill>
                <a:latin typeface="Courier New" pitchFamily="34" charset="0"/>
                <a:ea typeface="Courier New" pitchFamily="34" charset="-122"/>
                <a:cs typeface="Courier New" pitchFamily="34" charset="-120"/>
              </a:rPr>
              <a:t>    TN,FP,FN,TP = confusion_matrix(y_test,y_pred).ravel()</a:t>
            </a:r>
            <a:endParaRPr lang="en-US" sz="740" dirty="0"/>
          </a:p>
          <a:p>
            <a:pPr indent="0" marL="0">
              <a:buNone/>
            </a:pPr>
            <a:r>
              <a:rPr lang="en-US" sz="740" dirty="0">
                <a:solidFill>
                  <a:srgbClr val="F9FAFB"/>
                </a:solidFill>
                <a:latin typeface="Courier New" pitchFamily="34" charset="0"/>
                <a:ea typeface="Courier New" pitchFamily="34" charset="-122"/>
                <a:cs typeface="Courier New" pitchFamily="34" charset="-120"/>
              </a:rPr>
              <a:t>    print(f"\n{'='*50}\n {name}\n{'='*50}")</a:t>
            </a:r>
            <a:endParaRPr lang="en-US" sz="740" dirty="0"/>
          </a:p>
          <a:p>
            <a:pPr indent="0" marL="0">
              <a:buNone/>
            </a:pPr>
            <a:r>
              <a:rPr lang="en-US" sz="740" dirty="0">
                <a:solidFill>
                  <a:srgbClr val="F9FAFB"/>
                </a:solidFill>
                <a:latin typeface="Courier New" pitchFamily="34" charset="0"/>
                <a:ea typeface="Courier New" pitchFamily="34" charset="-122"/>
                <a:cs typeface="Courier New" pitchFamily="34" charset="-120"/>
              </a:rPr>
              <a:t>    print(classification_report(y_test,y_pred))</a:t>
            </a:r>
            <a:endParaRPr lang="en-US" sz="740" dirty="0"/>
          </a:p>
          <a:p>
            <a:pPr indent="0" marL="0">
              <a:buNone/>
            </a:pPr>
            <a:r>
              <a:rPr lang="en-US" sz="740" dirty="0">
                <a:solidFill>
                  <a:srgbClr val="F9FAFB"/>
                </a:solidFill>
                <a:latin typeface="Courier New" pitchFamily="34" charset="0"/>
                <a:ea typeface="Courier New" pitchFamily="34" charset="-122"/>
                <a:cs typeface="Courier New" pitchFamily="34" charset="-120"/>
              </a:rPr>
              <a:t>    print(f"ROC-AUC: {roc_auc_score(y_test,y_prob):.4f}")</a:t>
            </a:r>
            <a:endParaRPr lang="en-US" sz="740" dirty="0"/>
          </a:p>
          <a:p>
            <a:pPr indent="0" marL="0">
              <a:buNone/>
            </a:pPr>
            <a:r>
              <a:rPr lang="en-US" sz="740" dirty="0">
                <a:solidFill>
                  <a:srgbClr val="F9FAFB"/>
                </a:solidFill>
                <a:latin typeface="Courier New" pitchFamily="34" charset="0"/>
                <a:ea typeface="Courier New" pitchFamily="34" charset="-122"/>
                <a:cs typeface="Courier New" pitchFamily="34" charset="-120"/>
              </a:rPr>
              <a:t>    print(f"AP:      {average_precision_score(y_test,y_prob):.4f}")</a:t>
            </a:r>
            <a:endParaRPr lang="en-US" sz="740" dirty="0"/>
          </a:p>
          <a:p>
            <a:pPr indent="0" marL="0">
              <a:buNone/>
            </a:pPr>
            <a:r>
              <a:rPr lang="en-US" sz="740" dirty="0">
                <a:solidFill>
                  <a:srgbClr val="F9FAFB"/>
                </a:solidFill>
                <a:latin typeface="Courier New" pitchFamily="34" charset="0"/>
                <a:ea typeface="Courier New" pitchFamily="34" charset="-122"/>
                <a:cs typeface="Courier New" pitchFamily="34" charset="-120"/>
              </a:rPr>
              <a:t>    print(f"Missed:  {FN} patients incorrectly predicted as NOT readmitted")</a:t>
            </a:r>
            <a:endParaRPr lang="en-US" sz="740" dirty="0"/>
          </a:p>
          <a:p>
            <a:pPr indent="0" marL="0">
              <a:buNone/>
            </a:pPr>
            <a:r>
              <a:rPr lang="en-US" sz="740" dirty="0">
                <a:solidFill>
                  <a:srgbClr val="F9FAFB"/>
                </a:solidFill>
                <a:latin typeface="Courier New" pitchFamily="34" charset="0"/>
                <a:ea typeface="Courier New" pitchFamily="34" charset="-122"/>
                <a:cs typeface="Courier New" pitchFamily="34" charset="-120"/>
              </a:rPr>
              <a:t>    return roc_auc_score(y_test,y_prob)</a:t>
            </a:r>
            <a:endParaRPr lang="en-US" sz="740" dirty="0"/>
          </a:p>
          <a:p>
            <a:pPr indent="0" marL="0">
              <a:buNone/>
            </a:pPr>
            <a:r>
              <a:rPr lang="en-US" sz="740" dirty="0">
                <a:solidFill>
                  <a:srgbClr val="F9FAFB"/>
                </a:solidFill>
                <a:latin typeface="Courier New" pitchFamily="34" charset="0"/>
                <a:ea typeface="Courier New" pitchFamily="34" charset="-122"/>
                <a:cs typeface="Courier New" pitchFamily="34" charset="-120"/>
              </a:rPr>
              <a:t># TODO: call evaluate_model for both, pick winner</a:t>
            </a:r>
            <a:endParaRPr lang="en-US" sz="740" dirty="0"/>
          </a:p>
          <a:p>
            <a:pPr indent="0" marL="0">
              <a:buNone/>
            </a:pPr>
            <a:endParaRPr lang="en-US" sz="740" dirty="0"/>
          </a:p>
          <a:p>
            <a:pPr indent="0" marL="0">
              <a:buNone/>
            </a:pPr>
            <a:r>
              <a:rPr lang="en-US" sz="740" dirty="0">
                <a:solidFill>
                  <a:srgbClr val="F9FAFB"/>
                </a:solidFill>
                <a:latin typeface="Courier New" pitchFamily="34" charset="0"/>
                <a:ea typeface="Courier New" pitchFamily="34" charset="-122"/>
                <a:cs typeface="Courier New" pitchFamily="34" charset="-120"/>
              </a:rPr>
              <a:t># ── STEP 8: SAVE BEST MODEL ───────────────────────────────────────────────────</a:t>
            </a:r>
            <a:endParaRPr lang="en-US" sz="740" dirty="0"/>
          </a:p>
          <a:p>
            <a:pPr indent="0" marL="0">
              <a:buNone/>
            </a:pPr>
            <a:r>
              <a:rPr lang="en-US" sz="740" dirty="0">
                <a:solidFill>
                  <a:srgbClr val="F9FAFB"/>
                </a:solidFill>
                <a:latin typeface="Courier New" pitchFamily="34" charset="0"/>
                <a:ea typeface="Courier New" pitchFamily="34" charset="-122"/>
                <a:cs typeface="Courier New" pitchFamily="34" charset="-120"/>
              </a:rPr>
              <a:t># TODO: joblib.dump(best_model, "readmission_model.pkl")</a:t>
            </a:r>
            <a:endParaRPr lang="en-US" sz="740" dirty="0"/>
          </a:p>
          <a:p>
            <a:pPr indent="0" marL="0">
              <a:buNone/>
            </a:pPr>
            <a:r>
              <a:rPr lang="en-US" sz="740" dirty="0">
                <a:solidFill>
                  <a:srgbClr val="F9FAFB"/>
                </a:solidFill>
                <a:latin typeface="Courier New" pitchFamily="34" charset="0"/>
                <a:ea typeface="Courier New" pitchFamily="34" charset="-122"/>
                <a:cs typeface="Courier New" pitchFamily="34" charset="-120"/>
              </a:rPr>
              <a:t># TODO: reload and predict on one example patient, print probability</a:t>
            </a:r>
            <a:endParaRPr lang="en-US" sz="74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9F0"/>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1B3E"/>
          </a:solidFill>
          <a:ln w="12700">
            <a:solidFill>
              <a:srgbClr val="0D1B3E">
                <a:alpha val="0"/>
              </a:srgbClr>
            </a:solidFill>
            <a:prstDash val="solid"/>
          </a:ln>
        </p:spPr>
      </p:sp>
      <p:sp>
        <p:nvSpPr>
          <p:cNvPr id="3" name="Text 1"/>
          <p:cNvSpPr/>
          <p:nvPr/>
        </p:nvSpPr>
        <p:spPr>
          <a:xfrm>
            <a:off x="347472" y="0"/>
            <a:ext cx="8458200" cy="640080"/>
          </a:xfrm>
          <a:prstGeom prst="rect">
            <a:avLst/>
          </a:prstGeom>
          <a:noFill/>
          <a:ln/>
        </p:spPr>
        <p:txBody>
          <a:bodyPr wrap="square" lIns="0" tIns="0" rIns="0" bIns="0" rtlCol="0" anchor="ctr">
            <a:normAutofit/>
          </a:bodyPr>
          <a:lstStyle/>
          <a:p>
            <a:pPr indent="0" marL="0">
              <a:buNone/>
            </a:pPr>
            <a:r>
              <a:rPr lang="en-US" sz="1400" b="1" spc="100" kern="0" dirty="0">
                <a:solidFill>
                  <a:srgbClr val="FFFFFF"/>
                </a:solidFill>
                <a:latin typeface="Calibri" pitchFamily="34" charset="0"/>
                <a:ea typeface="Calibri" pitchFamily="34" charset="-122"/>
                <a:cs typeface="Calibri" pitchFamily="34" charset="-120"/>
              </a:rPr>
              <a:t>DAY 6 — CHEAT SHEET (Keep open while coding)</a:t>
            </a:r>
            <a:endParaRPr lang="en-US" sz="1400" dirty="0"/>
          </a:p>
        </p:txBody>
      </p:sp>
      <p:sp>
        <p:nvSpPr>
          <p:cNvPr id="4" name="Shape 2"/>
          <p:cNvSpPr/>
          <p:nvPr/>
        </p:nvSpPr>
        <p:spPr>
          <a:xfrm>
            <a:off x="228600" y="713232"/>
            <a:ext cx="2834640" cy="2011680"/>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0000"/>
              </a:srgbClr>
            </a:outerShdw>
          </a:effectLst>
        </p:spPr>
      </p:sp>
      <p:sp>
        <p:nvSpPr>
          <p:cNvPr id="5" name="Shape 3"/>
          <p:cNvSpPr/>
          <p:nvPr/>
        </p:nvSpPr>
        <p:spPr>
          <a:xfrm>
            <a:off x="228600" y="713232"/>
            <a:ext cx="2834640" cy="347472"/>
          </a:xfrm>
          <a:prstGeom prst="rect">
            <a:avLst/>
          </a:prstGeom>
          <a:solidFill>
            <a:srgbClr val="9F1239"/>
          </a:solidFill>
          <a:ln w="12700">
            <a:solidFill>
              <a:srgbClr val="9F1239">
                <a:alpha val="0"/>
              </a:srgbClr>
            </a:solidFill>
            <a:prstDash val="solid"/>
          </a:ln>
        </p:spPr>
      </p:sp>
      <p:sp>
        <p:nvSpPr>
          <p:cNvPr id="6" name="Text 4"/>
          <p:cNvSpPr/>
          <p:nvPr/>
        </p:nvSpPr>
        <p:spPr>
          <a:xfrm>
            <a:off x="320040" y="713232"/>
            <a:ext cx="2651760" cy="347472"/>
          </a:xfrm>
          <a:prstGeom prst="rect">
            <a:avLst/>
          </a:prstGeom>
          <a:noFill/>
          <a:ln/>
        </p:spPr>
        <p:txBody>
          <a:bodyPr wrap="square" lIns="0" tIns="0" rIns="0" bIns="0" rtlCol="0" anchor="ctr">
            <a:normAutofit/>
          </a:bodyPr>
          <a:lstStyle/>
          <a:p>
            <a:pPr indent="0" marL="0">
              <a:buNone/>
            </a:pPr>
            <a:r>
              <a:rPr lang="en-US" sz="1100" b="1" dirty="0">
                <a:solidFill>
                  <a:srgbClr val="FFFFFF"/>
                </a:solidFill>
                <a:latin typeface="Calibri" pitchFamily="34" charset="0"/>
                <a:ea typeface="Calibri" pitchFamily="34" charset="-122"/>
                <a:cs typeface="Calibri" pitchFamily="34" charset="-120"/>
              </a:rPr>
              <a:t>Random Forest</a:t>
            </a:r>
            <a:endParaRPr lang="en-US" sz="1100" dirty="0"/>
          </a:p>
        </p:txBody>
      </p:sp>
      <p:sp>
        <p:nvSpPr>
          <p:cNvPr id="7" name="Shape 5"/>
          <p:cNvSpPr/>
          <p:nvPr/>
        </p:nvSpPr>
        <p:spPr>
          <a:xfrm>
            <a:off x="228600" y="1060704"/>
            <a:ext cx="2834640" cy="1664208"/>
          </a:xfrm>
          <a:prstGeom prst="rect">
            <a:avLst/>
          </a:prstGeom>
          <a:solidFill>
            <a:srgbClr val="111827"/>
          </a:solidFill>
          <a:ln w="12700">
            <a:solidFill>
              <a:srgbClr val="111827">
                <a:alpha val="0"/>
              </a:srgbClr>
            </a:solidFill>
            <a:prstDash val="solid"/>
          </a:ln>
        </p:spPr>
      </p:sp>
      <p:sp>
        <p:nvSpPr>
          <p:cNvPr id="8" name="Text 6"/>
          <p:cNvSpPr/>
          <p:nvPr/>
        </p:nvSpPr>
        <p:spPr>
          <a:xfrm>
            <a:off x="320040" y="1115568"/>
            <a:ext cx="2651760" cy="1572768"/>
          </a:xfrm>
          <a:prstGeom prst="rect">
            <a:avLst/>
          </a:prstGeom>
          <a:noFill/>
          <a:ln/>
        </p:spPr>
        <p:txBody>
          <a:bodyPr wrap="square" lIns="0" tIns="0" rIns="0" bIns="0" rtlCol="0" anchor="ctr">
            <a:normAutofit/>
          </a:bodyPr>
          <a:lstStyle/>
          <a:p>
            <a:pPr indent="0" marL="0">
              <a:buNone/>
            </a:pPr>
            <a:r>
              <a:rPr lang="en-US" sz="850" dirty="0">
                <a:solidFill>
                  <a:srgbClr val="F9FAFB"/>
                </a:solidFill>
                <a:latin typeface="Courier New" pitchFamily="34" charset="0"/>
                <a:ea typeface="Courier New" pitchFamily="34" charset="-122"/>
                <a:cs typeface="Courier New" pitchFamily="34" charset="-120"/>
              </a:rPr>
              <a:t>rf = RandomForestClassifier(</a:t>
            </a:r>
            <a:endParaRPr lang="en-US" sz="850" dirty="0"/>
          </a:p>
          <a:p>
            <a:pPr indent="0" marL="0">
              <a:buNone/>
            </a:pPr>
            <a:r>
              <a:rPr lang="en-US" sz="850" dirty="0">
                <a:solidFill>
                  <a:srgbClr val="F9FAFB"/>
                </a:solidFill>
                <a:latin typeface="Courier New" pitchFamily="34" charset="0"/>
                <a:ea typeface="Courier New" pitchFamily="34" charset="-122"/>
                <a:cs typeface="Courier New" pitchFamily="34" charset="-120"/>
              </a:rPr>
              <a:t>  n_estimators=300,</a:t>
            </a:r>
            <a:endParaRPr lang="en-US" sz="850" dirty="0"/>
          </a:p>
          <a:p>
            <a:pPr indent="0" marL="0">
              <a:buNone/>
            </a:pPr>
            <a:r>
              <a:rPr lang="en-US" sz="850" dirty="0">
                <a:solidFill>
                  <a:srgbClr val="F9FAFB"/>
                </a:solidFill>
                <a:latin typeface="Courier New" pitchFamily="34" charset="0"/>
                <a:ea typeface="Courier New" pitchFamily="34" charset="-122"/>
                <a:cs typeface="Courier New" pitchFamily="34" charset="-120"/>
              </a:rPr>
              <a:t>  max_features="sqrt",</a:t>
            </a:r>
            <a:endParaRPr lang="en-US" sz="850" dirty="0"/>
          </a:p>
          <a:p>
            <a:pPr indent="0" marL="0">
              <a:buNone/>
            </a:pPr>
            <a:r>
              <a:rPr lang="en-US" sz="850" dirty="0">
                <a:solidFill>
                  <a:srgbClr val="F9FAFB"/>
                </a:solidFill>
                <a:latin typeface="Courier New" pitchFamily="34" charset="0"/>
                <a:ea typeface="Courier New" pitchFamily="34" charset="-122"/>
                <a:cs typeface="Courier New" pitchFamily="34" charset="-120"/>
              </a:rPr>
              <a:t>  class_weight="balanced",</a:t>
            </a:r>
            <a:endParaRPr lang="en-US" sz="850" dirty="0"/>
          </a:p>
          <a:p>
            <a:pPr indent="0" marL="0">
              <a:buNone/>
            </a:pPr>
            <a:r>
              <a:rPr lang="en-US" sz="850" dirty="0">
                <a:solidFill>
                  <a:srgbClr val="F9FAFB"/>
                </a:solidFill>
                <a:latin typeface="Courier New" pitchFamily="34" charset="0"/>
                <a:ea typeface="Courier New" pitchFamily="34" charset="-122"/>
                <a:cs typeface="Courier New" pitchFamily="34" charset="-120"/>
              </a:rPr>
              <a:t>  oob_score=True,</a:t>
            </a:r>
            <a:endParaRPr lang="en-US" sz="850" dirty="0"/>
          </a:p>
          <a:p>
            <a:pPr indent="0" marL="0">
              <a:buNone/>
            </a:pPr>
            <a:r>
              <a:rPr lang="en-US" sz="850" dirty="0">
                <a:solidFill>
                  <a:srgbClr val="F9FAFB"/>
                </a:solidFill>
                <a:latin typeface="Courier New" pitchFamily="34" charset="0"/>
                <a:ea typeface="Courier New" pitchFamily="34" charset="-122"/>
                <a:cs typeface="Courier New" pitchFamily="34" charset="-120"/>
              </a:rPr>
              <a:t>  n_jobs=-1, random_state=42)</a:t>
            </a:r>
            <a:endParaRPr lang="en-US" sz="850" dirty="0"/>
          </a:p>
          <a:p>
            <a:pPr indent="0" marL="0">
              <a:buNone/>
            </a:pPr>
            <a:r>
              <a:rPr lang="en-US" sz="850" dirty="0">
                <a:solidFill>
                  <a:srgbClr val="F9FAFB"/>
                </a:solidFill>
                <a:latin typeface="Courier New" pitchFamily="34" charset="0"/>
                <a:ea typeface="Courier New" pitchFamily="34" charset="-122"/>
                <a:cs typeface="Courier New" pitchFamily="34" charset="-120"/>
              </a:rPr>
              <a:t>rf.fit(X_train.fillna(med), y_train)</a:t>
            </a:r>
            <a:endParaRPr lang="en-US" sz="850" dirty="0"/>
          </a:p>
          <a:p>
            <a:pPr indent="0" marL="0">
              <a:buNone/>
            </a:pPr>
            <a:r>
              <a:rPr lang="en-US" sz="850" dirty="0">
                <a:solidFill>
                  <a:srgbClr val="F9FAFB"/>
                </a:solidFill>
                <a:latin typeface="Courier New" pitchFamily="34" charset="0"/>
                <a:ea typeface="Courier New" pitchFamily="34" charset="-122"/>
                <a:cs typeface="Courier New" pitchFamily="34" charset="-120"/>
              </a:rPr>
              <a:t>print(rf.oob_score_)</a:t>
            </a:r>
            <a:endParaRPr lang="en-US" sz="850" dirty="0"/>
          </a:p>
          <a:p>
            <a:pPr indent="0" marL="0">
              <a:buNone/>
            </a:pPr>
            <a:r>
              <a:rPr lang="en-US" sz="850" dirty="0">
                <a:solidFill>
                  <a:srgbClr val="F9FAFB"/>
                </a:solidFill>
                <a:latin typeface="Courier New" pitchFamily="34" charset="0"/>
                <a:ea typeface="Courier New" pitchFamily="34" charset="-122"/>
                <a:cs typeface="Courier New" pitchFamily="34" charset="-120"/>
              </a:rPr>
              <a:t>fi=pd.Series(rf.feature_importances_,</a:t>
            </a:r>
            <a:endParaRPr lang="en-US" sz="850" dirty="0"/>
          </a:p>
          <a:p>
            <a:pPr indent="0" marL="0">
              <a:buNone/>
            </a:pPr>
            <a:r>
              <a:rPr lang="en-US" sz="850" dirty="0">
                <a:solidFill>
                  <a:srgbClr val="F9FAFB"/>
                </a:solidFill>
                <a:latin typeface="Courier New" pitchFamily="34" charset="0"/>
                <a:ea typeface="Courier New" pitchFamily="34" charset="-122"/>
                <a:cs typeface="Courier New" pitchFamily="34" charset="-120"/>
              </a:rPr>
              <a:t>             index=features)</a:t>
            </a:r>
            <a:endParaRPr lang="en-US" sz="850" dirty="0"/>
          </a:p>
          <a:p>
            <a:pPr indent="0" marL="0">
              <a:buNone/>
            </a:pPr>
            <a:r>
              <a:rPr lang="en-US" sz="850" dirty="0">
                <a:solidFill>
                  <a:srgbClr val="F9FAFB"/>
                </a:solidFill>
                <a:latin typeface="Courier New" pitchFamily="34" charset="0"/>
                <a:ea typeface="Courier New" pitchFamily="34" charset="-122"/>
                <a:cs typeface="Courier New" pitchFamily="34" charset="-120"/>
              </a:rPr>
              <a:t>             .sort_values(ascending=False)</a:t>
            </a:r>
            <a:endParaRPr lang="en-US" sz="850" dirty="0"/>
          </a:p>
        </p:txBody>
      </p:sp>
      <p:sp>
        <p:nvSpPr>
          <p:cNvPr id="9" name="Shape 7"/>
          <p:cNvSpPr/>
          <p:nvPr/>
        </p:nvSpPr>
        <p:spPr>
          <a:xfrm>
            <a:off x="3200400" y="713232"/>
            <a:ext cx="2834640" cy="2011680"/>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0000"/>
              </a:srgbClr>
            </a:outerShdw>
          </a:effectLst>
        </p:spPr>
      </p:sp>
      <p:sp>
        <p:nvSpPr>
          <p:cNvPr id="10" name="Shape 8"/>
          <p:cNvSpPr/>
          <p:nvPr/>
        </p:nvSpPr>
        <p:spPr>
          <a:xfrm>
            <a:off x="3200400" y="713232"/>
            <a:ext cx="2834640" cy="347472"/>
          </a:xfrm>
          <a:prstGeom prst="rect">
            <a:avLst/>
          </a:prstGeom>
          <a:solidFill>
            <a:srgbClr val="3730A3"/>
          </a:solidFill>
          <a:ln w="12700">
            <a:solidFill>
              <a:srgbClr val="3730A3">
                <a:alpha val="0"/>
              </a:srgbClr>
            </a:solidFill>
            <a:prstDash val="solid"/>
          </a:ln>
        </p:spPr>
      </p:sp>
      <p:sp>
        <p:nvSpPr>
          <p:cNvPr id="11" name="Text 9"/>
          <p:cNvSpPr/>
          <p:nvPr/>
        </p:nvSpPr>
        <p:spPr>
          <a:xfrm>
            <a:off x="3291840" y="713232"/>
            <a:ext cx="2651760" cy="347472"/>
          </a:xfrm>
          <a:prstGeom prst="rect">
            <a:avLst/>
          </a:prstGeom>
          <a:noFill/>
          <a:ln/>
        </p:spPr>
        <p:txBody>
          <a:bodyPr wrap="square" lIns="0" tIns="0" rIns="0" bIns="0" rtlCol="0" anchor="ctr">
            <a:normAutofit/>
          </a:bodyPr>
          <a:lstStyle/>
          <a:p>
            <a:pPr indent="0" marL="0">
              <a:buNone/>
            </a:pPr>
            <a:r>
              <a:rPr lang="en-US" sz="1100" b="1" dirty="0">
                <a:solidFill>
                  <a:srgbClr val="FFFFFF"/>
                </a:solidFill>
                <a:latin typeface="Calibri" pitchFamily="34" charset="0"/>
                <a:ea typeface="Calibri" pitchFamily="34" charset="-122"/>
                <a:cs typeface="Calibri" pitchFamily="34" charset="-120"/>
              </a:rPr>
              <a:t>XGBoost</a:t>
            </a:r>
            <a:endParaRPr lang="en-US" sz="1100" dirty="0"/>
          </a:p>
        </p:txBody>
      </p:sp>
      <p:sp>
        <p:nvSpPr>
          <p:cNvPr id="12" name="Shape 10"/>
          <p:cNvSpPr/>
          <p:nvPr/>
        </p:nvSpPr>
        <p:spPr>
          <a:xfrm>
            <a:off x="3200400" y="1060704"/>
            <a:ext cx="2834640" cy="1664208"/>
          </a:xfrm>
          <a:prstGeom prst="rect">
            <a:avLst/>
          </a:prstGeom>
          <a:solidFill>
            <a:srgbClr val="111827"/>
          </a:solidFill>
          <a:ln w="12700">
            <a:solidFill>
              <a:srgbClr val="111827">
                <a:alpha val="0"/>
              </a:srgbClr>
            </a:solidFill>
            <a:prstDash val="solid"/>
          </a:ln>
        </p:spPr>
      </p:sp>
      <p:sp>
        <p:nvSpPr>
          <p:cNvPr id="13" name="Text 11"/>
          <p:cNvSpPr/>
          <p:nvPr/>
        </p:nvSpPr>
        <p:spPr>
          <a:xfrm>
            <a:off x="3291840" y="1115568"/>
            <a:ext cx="2651760" cy="1572768"/>
          </a:xfrm>
          <a:prstGeom prst="rect">
            <a:avLst/>
          </a:prstGeom>
          <a:noFill/>
          <a:ln/>
        </p:spPr>
        <p:txBody>
          <a:bodyPr wrap="square" lIns="0" tIns="0" rIns="0" bIns="0" rtlCol="0" anchor="ctr">
            <a:normAutofit/>
          </a:bodyPr>
          <a:lstStyle/>
          <a:p>
            <a:pPr indent="0" marL="0">
              <a:buNone/>
            </a:pPr>
            <a:r>
              <a:rPr lang="en-US" sz="850" dirty="0">
                <a:solidFill>
                  <a:srgbClr val="F9FAFB"/>
                </a:solidFill>
                <a:latin typeface="Courier New" pitchFamily="34" charset="0"/>
                <a:ea typeface="Courier New" pitchFamily="34" charset="-122"/>
                <a:cs typeface="Courier New" pitchFamily="34" charset="-120"/>
              </a:rPr>
              <a:t>pos=y.sum(); neg=len(y)-pos</a:t>
            </a:r>
            <a:endParaRPr lang="en-US" sz="850" dirty="0"/>
          </a:p>
          <a:p>
            <a:pPr indent="0" marL="0">
              <a:buNone/>
            </a:pPr>
            <a:r>
              <a:rPr lang="en-US" sz="850" dirty="0">
                <a:solidFill>
                  <a:srgbClr val="F9FAFB"/>
                </a:solidFill>
                <a:latin typeface="Courier New" pitchFamily="34" charset="0"/>
                <a:ea typeface="Courier New" pitchFamily="34" charset="-122"/>
                <a:cs typeface="Courier New" pitchFamily="34" charset="-120"/>
              </a:rPr>
              <a:t>xgb_m = xgb.XGBClassifier(</a:t>
            </a:r>
            <a:endParaRPr lang="en-US" sz="850" dirty="0"/>
          </a:p>
          <a:p>
            <a:pPr indent="0" marL="0">
              <a:buNone/>
            </a:pPr>
            <a:r>
              <a:rPr lang="en-US" sz="850" dirty="0">
                <a:solidFill>
                  <a:srgbClr val="F9FAFB"/>
                </a:solidFill>
                <a:latin typeface="Courier New" pitchFamily="34" charset="0"/>
                <a:ea typeface="Courier New" pitchFamily="34" charset="-122"/>
                <a:cs typeface="Courier New" pitchFamily="34" charset="-120"/>
              </a:rPr>
              <a:t>  n_estimators=500,learning_rate=0.05,</a:t>
            </a:r>
            <a:endParaRPr lang="en-US" sz="850" dirty="0"/>
          </a:p>
          <a:p>
            <a:pPr indent="0" marL="0">
              <a:buNone/>
            </a:pPr>
            <a:r>
              <a:rPr lang="en-US" sz="850" dirty="0">
                <a:solidFill>
                  <a:srgbClr val="F9FAFB"/>
                </a:solidFill>
                <a:latin typeface="Courier New" pitchFamily="34" charset="0"/>
                <a:ea typeface="Courier New" pitchFamily="34" charset="-122"/>
                <a:cs typeface="Courier New" pitchFamily="34" charset="-120"/>
              </a:rPr>
              <a:t>  max_depth=5, subsample=0.8,</a:t>
            </a:r>
            <a:endParaRPr lang="en-US" sz="850" dirty="0"/>
          </a:p>
          <a:p>
            <a:pPr indent="0" marL="0">
              <a:buNone/>
            </a:pPr>
            <a:r>
              <a:rPr lang="en-US" sz="850" dirty="0">
                <a:solidFill>
                  <a:srgbClr val="F9FAFB"/>
                </a:solidFill>
                <a:latin typeface="Courier New" pitchFamily="34" charset="0"/>
                <a:ea typeface="Courier New" pitchFamily="34" charset="-122"/>
                <a:cs typeface="Courier New" pitchFamily="34" charset="-120"/>
              </a:rPr>
              <a:t>  colsample_bytree=0.8,</a:t>
            </a:r>
            <a:endParaRPr lang="en-US" sz="850" dirty="0"/>
          </a:p>
          <a:p>
            <a:pPr indent="0" marL="0">
              <a:buNone/>
            </a:pPr>
            <a:r>
              <a:rPr lang="en-US" sz="850" dirty="0">
                <a:solidFill>
                  <a:srgbClr val="F9FAFB"/>
                </a:solidFill>
                <a:latin typeface="Courier New" pitchFamily="34" charset="0"/>
                <a:ea typeface="Courier New" pitchFamily="34" charset="-122"/>
                <a:cs typeface="Courier New" pitchFamily="34" charset="-120"/>
              </a:rPr>
              <a:t>  scale_pos_weight=neg/pos,</a:t>
            </a:r>
            <a:endParaRPr lang="en-US" sz="850" dirty="0"/>
          </a:p>
          <a:p>
            <a:pPr indent="0" marL="0">
              <a:buNone/>
            </a:pPr>
            <a:r>
              <a:rPr lang="en-US" sz="850" dirty="0">
                <a:solidFill>
                  <a:srgbClr val="F9FAFB"/>
                </a:solidFill>
                <a:latin typeface="Courier New" pitchFamily="34" charset="0"/>
                <a:ea typeface="Courier New" pitchFamily="34" charset="-122"/>
                <a:cs typeface="Courier New" pitchFamily="34" charset="-120"/>
              </a:rPr>
              <a:t>  early_stopping_rounds=50,</a:t>
            </a:r>
            <a:endParaRPr lang="en-US" sz="850" dirty="0"/>
          </a:p>
          <a:p>
            <a:pPr indent="0" marL="0">
              <a:buNone/>
            </a:pPr>
            <a:r>
              <a:rPr lang="en-US" sz="850" dirty="0">
                <a:solidFill>
                  <a:srgbClr val="F9FAFB"/>
                </a:solidFill>
                <a:latin typeface="Courier New" pitchFamily="34" charset="0"/>
                <a:ea typeface="Courier New" pitchFamily="34" charset="-122"/>
                <a:cs typeface="Courier New" pitchFamily="34" charset="-120"/>
              </a:rPr>
              <a:t>  eval_metric="auc")</a:t>
            </a:r>
            <a:endParaRPr lang="en-US" sz="850" dirty="0"/>
          </a:p>
          <a:p>
            <a:pPr indent="0" marL="0">
              <a:buNone/>
            </a:pPr>
            <a:r>
              <a:rPr lang="en-US" sz="850" dirty="0">
                <a:solidFill>
                  <a:srgbClr val="F9FAFB"/>
                </a:solidFill>
                <a:latin typeface="Courier New" pitchFamily="34" charset="0"/>
                <a:ea typeface="Courier New" pitchFamily="34" charset="-122"/>
                <a:cs typeface="Courier New" pitchFamily="34" charset="-120"/>
              </a:rPr>
              <a:t>xgb_m.fit(X_tr,y_tr,</a:t>
            </a:r>
            <a:endParaRPr lang="en-US" sz="850" dirty="0"/>
          </a:p>
          <a:p>
            <a:pPr indent="0" marL="0">
              <a:buNone/>
            </a:pPr>
            <a:r>
              <a:rPr lang="en-US" sz="850" dirty="0">
                <a:solidFill>
                  <a:srgbClr val="F9FAFB"/>
                </a:solidFill>
                <a:latin typeface="Courier New" pitchFamily="34" charset="0"/>
                <a:ea typeface="Courier New" pitchFamily="34" charset="-122"/>
                <a:cs typeface="Courier New" pitchFamily="34" charset="-120"/>
              </a:rPr>
              <a:t>  eval_set=[(X_te,y_te)],verbose=0)</a:t>
            </a:r>
            <a:endParaRPr lang="en-US" sz="850" dirty="0"/>
          </a:p>
          <a:p>
            <a:pPr indent="0" marL="0">
              <a:buNone/>
            </a:pPr>
            <a:r>
              <a:rPr lang="en-US" sz="850" dirty="0">
                <a:solidFill>
                  <a:srgbClr val="F9FAFB"/>
                </a:solidFill>
                <a:latin typeface="Courier New" pitchFamily="34" charset="0"/>
                <a:ea typeface="Courier New" pitchFamily="34" charset="-122"/>
                <a:cs typeface="Courier New" pitchFamily="34" charset="-120"/>
              </a:rPr>
              <a:t>print(xgb_m.best_iteration)</a:t>
            </a:r>
            <a:endParaRPr lang="en-US" sz="850" dirty="0"/>
          </a:p>
        </p:txBody>
      </p:sp>
      <p:sp>
        <p:nvSpPr>
          <p:cNvPr id="14" name="Shape 12"/>
          <p:cNvSpPr/>
          <p:nvPr/>
        </p:nvSpPr>
        <p:spPr>
          <a:xfrm>
            <a:off x="6172200" y="713232"/>
            <a:ext cx="2834640" cy="2011680"/>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0000"/>
              </a:srgbClr>
            </a:outerShdw>
          </a:effectLst>
        </p:spPr>
      </p:sp>
      <p:sp>
        <p:nvSpPr>
          <p:cNvPr id="15" name="Shape 13"/>
          <p:cNvSpPr/>
          <p:nvPr/>
        </p:nvSpPr>
        <p:spPr>
          <a:xfrm>
            <a:off x="6172200" y="713232"/>
            <a:ext cx="2834640" cy="347472"/>
          </a:xfrm>
          <a:prstGeom prst="rect">
            <a:avLst/>
          </a:prstGeom>
          <a:solidFill>
            <a:srgbClr val="0891B2"/>
          </a:solidFill>
          <a:ln w="12700">
            <a:solidFill>
              <a:srgbClr val="0891B2">
                <a:alpha val="0"/>
              </a:srgbClr>
            </a:solidFill>
            <a:prstDash val="solid"/>
          </a:ln>
        </p:spPr>
      </p:sp>
      <p:sp>
        <p:nvSpPr>
          <p:cNvPr id="16" name="Text 14"/>
          <p:cNvSpPr/>
          <p:nvPr/>
        </p:nvSpPr>
        <p:spPr>
          <a:xfrm>
            <a:off x="6263640" y="713232"/>
            <a:ext cx="2651760" cy="347472"/>
          </a:xfrm>
          <a:prstGeom prst="rect">
            <a:avLst/>
          </a:prstGeom>
          <a:noFill/>
          <a:ln/>
        </p:spPr>
        <p:txBody>
          <a:bodyPr wrap="square" lIns="0" tIns="0" rIns="0" bIns="0" rtlCol="0" anchor="ctr">
            <a:normAutofit/>
          </a:bodyPr>
          <a:lstStyle/>
          <a:p>
            <a:pPr indent="0" marL="0">
              <a:buNone/>
            </a:pPr>
            <a:r>
              <a:rPr lang="en-US" sz="1100" b="1" dirty="0">
                <a:solidFill>
                  <a:srgbClr val="FFFFFF"/>
                </a:solidFill>
                <a:latin typeface="Calibri" pitchFamily="34" charset="0"/>
                <a:ea typeface="Calibri" pitchFamily="34" charset="-122"/>
                <a:cs typeface="Calibri" pitchFamily="34" charset="-120"/>
              </a:rPr>
              <a:t>Full Evaluation</a:t>
            </a:r>
            <a:endParaRPr lang="en-US" sz="1100" dirty="0"/>
          </a:p>
        </p:txBody>
      </p:sp>
      <p:sp>
        <p:nvSpPr>
          <p:cNvPr id="17" name="Shape 15"/>
          <p:cNvSpPr/>
          <p:nvPr/>
        </p:nvSpPr>
        <p:spPr>
          <a:xfrm>
            <a:off x="6172200" y="1060704"/>
            <a:ext cx="2834640" cy="1664208"/>
          </a:xfrm>
          <a:prstGeom prst="rect">
            <a:avLst/>
          </a:prstGeom>
          <a:solidFill>
            <a:srgbClr val="111827"/>
          </a:solidFill>
          <a:ln w="12700">
            <a:solidFill>
              <a:srgbClr val="111827">
                <a:alpha val="0"/>
              </a:srgbClr>
            </a:solidFill>
            <a:prstDash val="solid"/>
          </a:ln>
        </p:spPr>
      </p:sp>
      <p:sp>
        <p:nvSpPr>
          <p:cNvPr id="18" name="Text 16"/>
          <p:cNvSpPr/>
          <p:nvPr/>
        </p:nvSpPr>
        <p:spPr>
          <a:xfrm>
            <a:off x="6263640" y="1115568"/>
            <a:ext cx="2651760" cy="1572768"/>
          </a:xfrm>
          <a:prstGeom prst="rect">
            <a:avLst/>
          </a:prstGeom>
          <a:noFill/>
          <a:ln/>
        </p:spPr>
        <p:txBody>
          <a:bodyPr wrap="square" lIns="0" tIns="0" rIns="0" bIns="0" rtlCol="0" anchor="ctr">
            <a:normAutofit/>
          </a:bodyPr>
          <a:lstStyle/>
          <a:p>
            <a:pPr indent="0" marL="0">
              <a:buNone/>
            </a:pPr>
            <a:r>
              <a:rPr lang="en-US" sz="850" dirty="0">
                <a:solidFill>
                  <a:srgbClr val="F9FAFB"/>
                </a:solidFill>
                <a:latin typeface="Courier New" pitchFamily="34" charset="0"/>
                <a:ea typeface="Courier New" pitchFamily="34" charset="-122"/>
                <a:cs typeface="Courier New" pitchFamily="34" charset="-120"/>
              </a:rPr>
              <a:t>from sklearn.metrics import (</a:t>
            </a:r>
            <a:endParaRPr lang="en-US" sz="850" dirty="0"/>
          </a:p>
          <a:p>
            <a:pPr indent="0" marL="0">
              <a:buNone/>
            </a:pPr>
            <a:r>
              <a:rPr lang="en-US" sz="850" dirty="0">
                <a:solidFill>
                  <a:srgbClr val="F9FAFB"/>
                </a:solidFill>
                <a:latin typeface="Courier New" pitchFamily="34" charset="0"/>
                <a:ea typeface="Courier New" pitchFamily="34" charset="-122"/>
                <a:cs typeface="Courier New" pitchFamily="34" charset="-120"/>
              </a:rPr>
              <a:t>  roc_auc_score,</a:t>
            </a:r>
            <a:endParaRPr lang="en-US" sz="850" dirty="0"/>
          </a:p>
          <a:p>
            <a:pPr indent="0" marL="0">
              <a:buNone/>
            </a:pPr>
            <a:r>
              <a:rPr lang="en-US" sz="850" dirty="0">
                <a:solidFill>
                  <a:srgbClr val="F9FAFB"/>
                </a:solidFill>
                <a:latin typeface="Courier New" pitchFamily="34" charset="0"/>
                <a:ea typeface="Courier New" pitchFamily="34" charset="-122"/>
                <a:cs typeface="Courier New" pitchFamily="34" charset="-120"/>
              </a:rPr>
              <a:t>  average_precision_score,</a:t>
            </a:r>
            <a:endParaRPr lang="en-US" sz="850" dirty="0"/>
          </a:p>
          <a:p>
            <a:pPr indent="0" marL="0">
              <a:buNone/>
            </a:pPr>
            <a:r>
              <a:rPr lang="en-US" sz="850" dirty="0">
                <a:solidFill>
                  <a:srgbClr val="F9FAFB"/>
                </a:solidFill>
                <a:latin typeface="Courier New" pitchFamily="34" charset="0"/>
                <a:ea typeface="Courier New" pitchFamily="34" charset="-122"/>
                <a:cs typeface="Courier New" pitchFamily="34" charset="-120"/>
              </a:rPr>
              <a:t>  classification_report,</a:t>
            </a:r>
            <a:endParaRPr lang="en-US" sz="850" dirty="0"/>
          </a:p>
          <a:p>
            <a:pPr indent="0" marL="0">
              <a:buNone/>
            </a:pPr>
            <a:r>
              <a:rPr lang="en-US" sz="850" dirty="0">
                <a:solidFill>
                  <a:srgbClr val="F9FAFB"/>
                </a:solidFill>
                <a:latin typeface="Courier New" pitchFamily="34" charset="0"/>
                <a:ea typeface="Courier New" pitchFamily="34" charset="-122"/>
                <a:cs typeface="Courier New" pitchFamily="34" charset="-120"/>
              </a:rPr>
              <a:t>  confusion_matrix)</a:t>
            </a:r>
            <a:endParaRPr lang="en-US" sz="850" dirty="0"/>
          </a:p>
          <a:p>
            <a:pPr indent="0" marL="0">
              <a:buNone/>
            </a:pPr>
            <a:endParaRPr lang="en-US" sz="850" dirty="0"/>
          </a:p>
          <a:p>
            <a:pPr indent="0" marL="0">
              <a:buNone/>
            </a:pPr>
            <a:r>
              <a:rPr lang="en-US" sz="850" dirty="0">
                <a:solidFill>
                  <a:srgbClr val="F9FAFB"/>
                </a:solidFill>
                <a:latin typeface="Courier New" pitchFamily="34" charset="0"/>
                <a:ea typeface="Courier New" pitchFamily="34" charset="-122"/>
                <a:cs typeface="Courier New" pitchFamily="34" charset="-120"/>
              </a:rPr>
              <a:t>prob = model.predict_proba(X_te)[:,1]</a:t>
            </a:r>
            <a:endParaRPr lang="en-US" sz="850" dirty="0"/>
          </a:p>
          <a:p>
            <a:pPr indent="0" marL="0">
              <a:buNone/>
            </a:pPr>
            <a:r>
              <a:rPr lang="en-US" sz="850" dirty="0">
                <a:solidFill>
                  <a:srgbClr val="F9FAFB"/>
                </a:solidFill>
                <a:latin typeface="Courier New" pitchFamily="34" charset="0"/>
                <a:ea typeface="Courier New" pitchFamily="34" charset="-122"/>
                <a:cs typeface="Courier New" pitchFamily="34" charset="-120"/>
              </a:rPr>
              <a:t>print(roc_auc_score(y_te, prob))</a:t>
            </a:r>
            <a:endParaRPr lang="en-US" sz="850" dirty="0"/>
          </a:p>
          <a:p>
            <a:pPr indent="0" marL="0">
              <a:buNone/>
            </a:pPr>
            <a:r>
              <a:rPr lang="en-US" sz="850" dirty="0">
                <a:solidFill>
                  <a:srgbClr val="F9FAFB"/>
                </a:solidFill>
                <a:latin typeface="Courier New" pitchFamily="34" charset="0"/>
                <a:ea typeface="Courier New" pitchFamily="34" charset="-122"/>
                <a:cs typeface="Courier New" pitchFamily="34" charset="-120"/>
              </a:rPr>
              <a:t>print(average_precision_score(y_te,prob))</a:t>
            </a:r>
            <a:endParaRPr lang="en-US" sz="850" dirty="0"/>
          </a:p>
          <a:p>
            <a:pPr indent="0" marL="0">
              <a:buNone/>
            </a:pPr>
            <a:r>
              <a:rPr lang="en-US" sz="850" dirty="0">
                <a:solidFill>
                  <a:srgbClr val="F9FAFB"/>
                </a:solidFill>
                <a:latin typeface="Courier New" pitchFamily="34" charset="0"/>
                <a:ea typeface="Courier New" pitchFamily="34" charset="-122"/>
                <a:cs typeface="Courier New" pitchFamily="34" charset="-120"/>
              </a:rPr>
              <a:t>TN,FP,FN,TP=confusion_matrix(</a:t>
            </a:r>
            <a:endParaRPr lang="en-US" sz="850" dirty="0"/>
          </a:p>
          <a:p>
            <a:pPr indent="0" marL="0">
              <a:buNone/>
            </a:pPr>
            <a:r>
              <a:rPr lang="en-US" sz="850" dirty="0">
                <a:solidFill>
                  <a:srgbClr val="F9FAFB"/>
                </a:solidFill>
                <a:latin typeface="Courier New" pitchFamily="34" charset="0"/>
                <a:ea typeface="Courier New" pitchFamily="34" charset="-122"/>
                <a:cs typeface="Courier New" pitchFamily="34" charset="-120"/>
              </a:rPr>
              <a:t>  y_te,model.predict(X_te)).ravel()</a:t>
            </a:r>
            <a:endParaRPr lang="en-US" sz="850" dirty="0"/>
          </a:p>
          <a:p>
            <a:pPr indent="0" marL="0">
              <a:buNone/>
            </a:pPr>
            <a:r>
              <a:rPr lang="en-US" sz="850" dirty="0">
                <a:solidFill>
                  <a:srgbClr val="F9FAFB"/>
                </a:solidFill>
                <a:latin typeface="Courier New" pitchFamily="34" charset="0"/>
                <a:ea typeface="Courier New" pitchFamily="34" charset="-122"/>
                <a:cs typeface="Courier New" pitchFamily="34" charset="-120"/>
              </a:rPr>
              <a:t>print(f"Missed: {FN}")</a:t>
            </a:r>
            <a:endParaRPr lang="en-US" sz="850" dirty="0"/>
          </a:p>
        </p:txBody>
      </p:sp>
      <p:sp>
        <p:nvSpPr>
          <p:cNvPr id="19" name="Shape 17"/>
          <p:cNvSpPr/>
          <p:nvPr/>
        </p:nvSpPr>
        <p:spPr>
          <a:xfrm>
            <a:off x="228600" y="2834640"/>
            <a:ext cx="2834640" cy="2011680"/>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0000"/>
              </a:srgbClr>
            </a:outerShdw>
          </a:effectLst>
        </p:spPr>
      </p:sp>
      <p:sp>
        <p:nvSpPr>
          <p:cNvPr id="20" name="Shape 18"/>
          <p:cNvSpPr/>
          <p:nvPr/>
        </p:nvSpPr>
        <p:spPr>
          <a:xfrm>
            <a:off x="228600" y="2834640"/>
            <a:ext cx="2834640" cy="347472"/>
          </a:xfrm>
          <a:prstGeom prst="rect">
            <a:avLst/>
          </a:prstGeom>
          <a:solidFill>
            <a:srgbClr val="0D1B3E"/>
          </a:solidFill>
          <a:ln w="12700">
            <a:solidFill>
              <a:srgbClr val="0D1B3E">
                <a:alpha val="0"/>
              </a:srgbClr>
            </a:solidFill>
            <a:prstDash val="solid"/>
          </a:ln>
        </p:spPr>
      </p:sp>
      <p:sp>
        <p:nvSpPr>
          <p:cNvPr id="21" name="Text 19"/>
          <p:cNvSpPr/>
          <p:nvPr/>
        </p:nvSpPr>
        <p:spPr>
          <a:xfrm>
            <a:off x="320040" y="2834640"/>
            <a:ext cx="2651760" cy="347472"/>
          </a:xfrm>
          <a:prstGeom prst="rect">
            <a:avLst/>
          </a:prstGeom>
          <a:noFill/>
          <a:ln/>
        </p:spPr>
        <p:txBody>
          <a:bodyPr wrap="square" lIns="0" tIns="0" rIns="0" bIns="0" rtlCol="0" anchor="ctr">
            <a:normAutofit/>
          </a:bodyPr>
          <a:lstStyle/>
          <a:p>
            <a:pPr indent="0" marL="0">
              <a:buNone/>
            </a:pPr>
            <a:r>
              <a:rPr lang="en-US" sz="1100" b="1" dirty="0">
                <a:solidFill>
                  <a:srgbClr val="FFFFFF"/>
                </a:solidFill>
                <a:latin typeface="Calibri" pitchFamily="34" charset="0"/>
                <a:ea typeface="Calibri" pitchFamily="34" charset="-122"/>
                <a:cs typeface="Calibri" pitchFamily="34" charset="-120"/>
              </a:rPr>
              <a:t>Feature Engineering</a:t>
            </a:r>
            <a:endParaRPr lang="en-US" sz="1100" dirty="0"/>
          </a:p>
        </p:txBody>
      </p:sp>
      <p:sp>
        <p:nvSpPr>
          <p:cNvPr id="22" name="Shape 20"/>
          <p:cNvSpPr/>
          <p:nvPr/>
        </p:nvSpPr>
        <p:spPr>
          <a:xfrm>
            <a:off x="228600" y="3182112"/>
            <a:ext cx="2834640" cy="1664208"/>
          </a:xfrm>
          <a:prstGeom prst="rect">
            <a:avLst/>
          </a:prstGeom>
          <a:solidFill>
            <a:srgbClr val="111827"/>
          </a:solidFill>
          <a:ln w="12700">
            <a:solidFill>
              <a:srgbClr val="111827">
                <a:alpha val="0"/>
              </a:srgbClr>
            </a:solidFill>
            <a:prstDash val="solid"/>
          </a:ln>
        </p:spPr>
      </p:sp>
      <p:sp>
        <p:nvSpPr>
          <p:cNvPr id="23" name="Text 21"/>
          <p:cNvSpPr/>
          <p:nvPr/>
        </p:nvSpPr>
        <p:spPr>
          <a:xfrm>
            <a:off x="320040" y="3236976"/>
            <a:ext cx="2651760" cy="1572768"/>
          </a:xfrm>
          <a:prstGeom prst="rect">
            <a:avLst/>
          </a:prstGeom>
          <a:noFill/>
          <a:ln/>
        </p:spPr>
        <p:txBody>
          <a:bodyPr wrap="square" lIns="0" tIns="0" rIns="0" bIns="0" rtlCol="0" anchor="ctr">
            <a:normAutofit/>
          </a:bodyPr>
          <a:lstStyle/>
          <a:p>
            <a:pPr indent="0" marL="0">
              <a:buNone/>
            </a:pPr>
            <a:r>
              <a:rPr lang="en-US" sz="850" dirty="0">
                <a:solidFill>
                  <a:srgbClr val="F9FAFB"/>
                </a:solidFill>
                <a:latin typeface="Courier New" pitchFamily="34" charset="0"/>
                <a:ea typeface="Courier New" pitchFamily="34" charset="-122"/>
                <a:cs typeface="Courier New" pitchFamily="34" charset="-120"/>
              </a:rPr>
              <a:t># Encode categorical</a:t>
            </a:r>
            <a:endParaRPr lang="en-US" sz="850" dirty="0"/>
          </a:p>
          <a:p>
            <a:pPr indent="0" marL="0">
              <a:buNone/>
            </a:pPr>
            <a:r>
              <a:rPr lang="en-US" sz="850" dirty="0">
                <a:solidFill>
                  <a:srgbClr val="F9FAFB"/>
                </a:solidFill>
                <a:latin typeface="Courier New" pitchFamily="34" charset="0"/>
                <a:ea typeface="Courier New" pitchFamily="34" charset="-122"/>
                <a:cs typeface="Courier New" pitchFamily="34" charset="-120"/>
              </a:rPr>
              <a:t>ohe = pd.get_dummies(df["ward"],</a:t>
            </a:r>
            <a:endParaRPr lang="en-US" sz="850" dirty="0"/>
          </a:p>
          <a:p>
            <a:pPr indent="0" marL="0">
              <a:buNone/>
            </a:pPr>
            <a:r>
              <a:rPr lang="en-US" sz="850" dirty="0">
                <a:solidFill>
                  <a:srgbClr val="F9FAFB"/>
                </a:solidFill>
                <a:latin typeface="Courier New" pitchFamily="34" charset="0"/>
                <a:ea typeface="Courier New" pitchFamily="34" charset="-122"/>
                <a:cs typeface="Courier New" pitchFamily="34" charset="-120"/>
              </a:rPr>
              <a:t>                     prefix="ward")</a:t>
            </a:r>
            <a:endParaRPr lang="en-US" sz="850" dirty="0"/>
          </a:p>
          <a:p>
            <a:pPr indent="0" marL="0">
              <a:buNone/>
            </a:pPr>
            <a:r>
              <a:rPr lang="en-US" sz="850" dirty="0">
                <a:solidFill>
                  <a:srgbClr val="F9FAFB"/>
                </a:solidFill>
                <a:latin typeface="Courier New" pitchFamily="34" charset="0"/>
                <a:ea typeface="Courier New" pitchFamily="34" charset="-122"/>
                <a:cs typeface="Courier New" pitchFamily="34" charset="-120"/>
              </a:rPr>
              <a:t>df = pd.concat([df,ohe],axis=1)</a:t>
            </a:r>
            <a:endParaRPr lang="en-US" sz="850" dirty="0"/>
          </a:p>
          <a:p>
            <a:pPr indent="0" marL="0">
              <a:buNone/>
            </a:pPr>
            <a:endParaRPr lang="en-US" sz="850" dirty="0"/>
          </a:p>
          <a:p>
            <a:pPr indent="0" marL="0">
              <a:buNone/>
            </a:pPr>
            <a:r>
              <a:rPr lang="en-US" sz="850" dirty="0">
                <a:solidFill>
                  <a:srgbClr val="F9FAFB"/>
                </a:solidFill>
                <a:latin typeface="Courier New" pitchFamily="34" charset="0"/>
                <a:ea typeface="Courier New" pitchFamily="34" charset="-122"/>
                <a:cs typeface="Courier New" pitchFamily="34" charset="-120"/>
              </a:rPr>
              <a:t># Log-transform skewed</a:t>
            </a:r>
            <a:endParaRPr lang="en-US" sz="850" dirty="0"/>
          </a:p>
          <a:p>
            <a:pPr indent="0" marL="0">
              <a:buNone/>
            </a:pPr>
            <a:r>
              <a:rPr lang="en-US" sz="850" dirty="0">
                <a:solidFill>
                  <a:srgbClr val="F9FAFB"/>
                </a:solidFill>
                <a:latin typeface="Courier New" pitchFamily="34" charset="0"/>
                <a:ea typeface="Courier New" pitchFamily="34" charset="-122"/>
                <a:cs typeface="Courier New" pitchFamily="34" charset="-120"/>
              </a:rPr>
              <a:t>df["log_cost"]=np.log1p(df["cost_usd"])</a:t>
            </a:r>
            <a:endParaRPr lang="en-US" sz="850" dirty="0"/>
          </a:p>
          <a:p>
            <a:pPr indent="0" marL="0">
              <a:buNone/>
            </a:pPr>
            <a:endParaRPr lang="en-US" sz="850" dirty="0"/>
          </a:p>
          <a:p>
            <a:pPr indent="0" marL="0">
              <a:buNone/>
            </a:pPr>
            <a:r>
              <a:rPr lang="en-US" sz="850" dirty="0">
                <a:solidFill>
                  <a:srgbClr val="F9FAFB"/>
                </a:solidFill>
                <a:latin typeface="Courier New" pitchFamily="34" charset="0"/>
                <a:ea typeface="Courier New" pitchFamily="34" charset="-122"/>
                <a:cs typeface="Courier New" pitchFamily="34" charset="-120"/>
              </a:rPr>
              <a:t># Interaction term</a:t>
            </a:r>
            <a:endParaRPr lang="en-US" sz="850" dirty="0"/>
          </a:p>
          <a:p>
            <a:pPr indent="0" marL="0">
              <a:buNone/>
            </a:pPr>
            <a:r>
              <a:rPr lang="en-US" sz="850" dirty="0">
                <a:solidFill>
                  <a:srgbClr val="F9FAFB"/>
                </a:solidFill>
                <a:latin typeface="Courier New" pitchFamily="34" charset="0"/>
                <a:ea typeface="Courier New" pitchFamily="34" charset="-122"/>
                <a:cs typeface="Courier New" pitchFamily="34" charset="-120"/>
              </a:rPr>
              <a:t>df["age_bmi"]=df["age"]*df["bmi"]</a:t>
            </a:r>
            <a:endParaRPr lang="en-US" sz="850" dirty="0"/>
          </a:p>
          <a:p>
            <a:pPr indent="0" marL="0">
              <a:buNone/>
            </a:pPr>
            <a:endParaRPr lang="en-US" sz="850" dirty="0"/>
          </a:p>
          <a:p>
            <a:pPr indent="0" marL="0">
              <a:buNone/>
            </a:pPr>
            <a:r>
              <a:rPr lang="en-US" sz="850" dirty="0">
                <a:solidFill>
                  <a:srgbClr val="F9FAFB"/>
                </a:solidFill>
                <a:latin typeface="Courier New" pitchFamily="34" charset="0"/>
                <a:ea typeface="Courier New" pitchFamily="34" charset="-122"/>
                <a:cs typeface="Courier New" pitchFamily="34" charset="-120"/>
              </a:rPr>
              <a:t># Binning</a:t>
            </a:r>
            <a:endParaRPr lang="en-US" sz="850" dirty="0"/>
          </a:p>
          <a:p>
            <a:pPr indent="0" marL="0">
              <a:buNone/>
            </a:pPr>
            <a:r>
              <a:rPr lang="en-US" sz="850" dirty="0">
                <a:solidFill>
                  <a:srgbClr val="F9FAFB"/>
                </a:solidFill>
                <a:latin typeface="Courier New" pitchFamily="34" charset="0"/>
                <a:ea typeface="Courier New" pitchFamily="34" charset="-122"/>
                <a:cs typeface="Courier New" pitchFamily="34" charset="-120"/>
              </a:rPr>
              <a:t>df["age_group"]=pd.cut(df["age"],</a:t>
            </a:r>
            <a:endParaRPr lang="en-US" sz="850" dirty="0"/>
          </a:p>
          <a:p>
            <a:pPr indent="0" marL="0">
              <a:buNone/>
            </a:pPr>
            <a:r>
              <a:rPr lang="en-US" sz="850" dirty="0">
                <a:solidFill>
                  <a:srgbClr val="F9FAFB"/>
                </a:solidFill>
                <a:latin typeface="Courier New" pitchFamily="34" charset="0"/>
                <a:ea typeface="Courier New" pitchFamily="34" charset="-122"/>
                <a:cs typeface="Courier New" pitchFamily="34" charset="-120"/>
              </a:rPr>
              <a:t>  bins=[0,40,60,120],</a:t>
            </a:r>
            <a:endParaRPr lang="en-US" sz="850" dirty="0"/>
          </a:p>
          <a:p>
            <a:pPr indent="0" marL="0">
              <a:buNone/>
            </a:pPr>
            <a:r>
              <a:rPr lang="en-US" sz="850" dirty="0">
                <a:solidFill>
                  <a:srgbClr val="F9FAFB"/>
                </a:solidFill>
                <a:latin typeface="Courier New" pitchFamily="34" charset="0"/>
                <a:ea typeface="Courier New" pitchFamily="34" charset="-122"/>
                <a:cs typeface="Courier New" pitchFamily="34" charset="-120"/>
              </a:rPr>
              <a:t>  labels=["U40","40-60","60+"])</a:t>
            </a:r>
            <a:endParaRPr lang="en-US" sz="850" dirty="0"/>
          </a:p>
        </p:txBody>
      </p:sp>
      <p:sp>
        <p:nvSpPr>
          <p:cNvPr id="24" name="Shape 22"/>
          <p:cNvSpPr/>
          <p:nvPr/>
        </p:nvSpPr>
        <p:spPr>
          <a:xfrm>
            <a:off x="3200400" y="2834640"/>
            <a:ext cx="2834640" cy="2011680"/>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0000"/>
              </a:srgbClr>
            </a:outerShdw>
          </a:effectLst>
        </p:spPr>
      </p:sp>
      <p:sp>
        <p:nvSpPr>
          <p:cNvPr id="25" name="Shape 23"/>
          <p:cNvSpPr/>
          <p:nvPr/>
        </p:nvSpPr>
        <p:spPr>
          <a:xfrm>
            <a:off x="3200400" y="2834640"/>
            <a:ext cx="2834640" cy="347472"/>
          </a:xfrm>
          <a:prstGeom prst="rect">
            <a:avLst/>
          </a:prstGeom>
          <a:solidFill>
            <a:srgbClr val="D97706"/>
          </a:solidFill>
          <a:ln w="12700">
            <a:solidFill>
              <a:srgbClr val="D97706">
                <a:alpha val="0"/>
              </a:srgbClr>
            </a:solidFill>
            <a:prstDash val="solid"/>
          </a:ln>
        </p:spPr>
      </p:sp>
      <p:sp>
        <p:nvSpPr>
          <p:cNvPr id="26" name="Text 24"/>
          <p:cNvSpPr/>
          <p:nvPr/>
        </p:nvSpPr>
        <p:spPr>
          <a:xfrm>
            <a:off x="3291840" y="2834640"/>
            <a:ext cx="2651760" cy="347472"/>
          </a:xfrm>
          <a:prstGeom prst="rect">
            <a:avLst/>
          </a:prstGeom>
          <a:noFill/>
          <a:ln/>
        </p:spPr>
        <p:txBody>
          <a:bodyPr wrap="square" lIns="0" tIns="0" rIns="0" bIns="0" rtlCol="0" anchor="ctr">
            <a:normAutofit/>
          </a:bodyPr>
          <a:lstStyle/>
          <a:p>
            <a:pPr indent="0" marL="0">
              <a:buNone/>
            </a:pPr>
            <a:r>
              <a:rPr lang="en-US" sz="1100" b="1" dirty="0">
                <a:solidFill>
                  <a:srgbClr val="FFFFFF"/>
                </a:solidFill>
                <a:latin typeface="Calibri" pitchFamily="34" charset="0"/>
                <a:ea typeface="Calibri" pitchFamily="34" charset="-122"/>
                <a:cs typeface="Calibri" pitchFamily="34" charset="-120"/>
              </a:rPr>
              <a:t>Threshold Tuning</a:t>
            </a:r>
            <a:endParaRPr lang="en-US" sz="1100" dirty="0"/>
          </a:p>
        </p:txBody>
      </p:sp>
      <p:sp>
        <p:nvSpPr>
          <p:cNvPr id="27" name="Shape 25"/>
          <p:cNvSpPr/>
          <p:nvPr/>
        </p:nvSpPr>
        <p:spPr>
          <a:xfrm>
            <a:off x="3200400" y="3182112"/>
            <a:ext cx="2834640" cy="1664208"/>
          </a:xfrm>
          <a:prstGeom prst="rect">
            <a:avLst/>
          </a:prstGeom>
          <a:solidFill>
            <a:srgbClr val="111827"/>
          </a:solidFill>
          <a:ln w="12700">
            <a:solidFill>
              <a:srgbClr val="111827">
                <a:alpha val="0"/>
              </a:srgbClr>
            </a:solidFill>
            <a:prstDash val="solid"/>
          </a:ln>
        </p:spPr>
      </p:sp>
      <p:sp>
        <p:nvSpPr>
          <p:cNvPr id="28" name="Text 26"/>
          <p:cNvSpPr/>
          <p:nvPr/>
        </p:nvSpPr>
        <p:spPr>
          <a:xfrm>
            <a:off x="3291840" y="3236976"/>
            <a:ext cx="2651760" cy="1572768"/>
          </a:xfrm>
          <a:prstGeom prst="rect">
            <a:avLst/>
          </a:prstGeom>
          <a:noFill/>
          <a:ln/>
        </p:spPr>
        <p:txBody>
          <a:bodyPr wrap="square" lIns="0" tIns="0" rIns="0" bIns="0" rtlCol="0" anchor="ctr">
            <a:normAutofit/>
          </a:bodyPr>
          <a:lstStyle/>
          <a:p>
            <a:pPr indent="0" marL="0">
              <a:buNone/>
            </a:pPr>
            <a:r>
              <a:rPr lang="en-US" sz="850" dirty="0">
                <a:solidFill>
                  <a:srgbClr val="F9FAFB"/>
                </a:solidFill>
                <a:latin typeface="Courier New" pitchFamily="34" charset="0"/>
                <a:ea typeface="Courier New" pitchFamily="34" charset="-122"/>
                <a:cs typeface="Courier New" pitchFamily="34" charset="-120"/>
              </a:rPr>
              <a:t>prob = model.predict_proba(X_te)[:,1]</a:t>
            </a:r>
            <a:endParaRPr lang="en-US" sz="850" dirty="0"/>
          </a:p>
          <a:p>
            <a:pPr indent="0" marL="0">
              <a:buNone/>
            </a:pPr>
            <a:endParaRPr lang="en-US" sz="850" dirty="0"/>
          </a:p>
          <a:p>
            <a:pPr indent="0" marL="0">
              <a:buNone/>
            </a:pPr>
            <a:r>
              <a:rPr lang="en-US" sz="850" dirty="0">
                <a:solidFill>
                  <a:srgbClr val="F9FAFB"/>
                </a:solidFill>
                <a:latin typeface="Courier New" pitchFamily="34" charset="0"/>
                <a:ea typeface="Courier New" pitchFamily="34" charset="-122"/>
                <a:cs typeface="Courier New" pitchFamily="34" charset="-120"/>
              </a:rPr>
              <a:t># Try different thresholds</a:t>
            </a:r>
            <a:endParaRPr lang="en-US" sz="850" dirty="0"/>
          </a:p>
          <a:p>
            <a:pPr indent="0" marL="0">
              <a:buNone/>
            </a:pPr>
            <a:r>
              <a:rPr lang="en-US" sz="850" dirty="0">
                <a:solidFill>
                  <a:srgbClr val="F9FAFB"/>
                </a:solidFill>
                <a:latin typeface="Courier New" pitchFamily="34" charset="0"/>
                <a:ea typeface="Courier New" pitchFamily="34" charset="-122"/>
                <a:cs typeface="Courier New" pitchFamily="34" charset="-120"/>
              </a:rPr>
              <a:t>for thr in [0.3,0.4,0.5,0.6]:</a:t>
            </a:r>
            <a:endParaRPr lang="en-US" sz="850" dirty="0"/>
          </a:p>
          <a:p>
            <a:pPr indent="0" marL="0">
              <a:buNone/>
            </a:pPr>
            <a:r>
              <a:rPr lang="en-US" sz="850" dirty="0">
                <a:solidFill>
                  <a:srgbClr val="F9FAFB"/>
                </a:solidFill>
                <a:latin typeface="Courier New" pitchFamily="34" charset="0"/>
                <a:ea typeface="Courier New" pitchFamily="34" charset="-122"/>
                <a:cs typeface="Courier New" pitchFamily="34" charset="-120"/>
              </a:rPr>
              <a:t>  pred = (prob&gt;=thr).astype(int)</a:t>
            </a:r>
            <a:endParaRPr lang="en-US" sz="850" dirty="0"/>
          </a:p>
          <a:p>
            <a:pPr indent="0" marL="0">
              <a:buNone/>
            </a:pPr>
            <a:r>
              <a:rPr lang="en-US" sz="850" dirty="0">
                <a:solidFill>
                  <a:srgbClr val="F9FAFB"/>
                </a:solidFill>
                <a:latin typeface="Courier New" pitchFamily="34" charset="0"/>
                <a:ea typeface="Courier New" pitchFamily="34" charset="-122"/>
                <a:cs typeface="Courier New" pitchFamily="34" charset="-120"/>
              </a:rPr>
              <a:t>  from sklearn.metrics import f1_score,recall_score</a:t>
            </a:r>
            <a:endParaRPr lang="en-US" sz="850" dirty="0"/>
          </a:p>
          <a:p>
            <a:pPr indent="0" marL="0">
              <a:buNone/>
            </a:pPr>
            <a:r>
              <a:rPr lang="en-US" sz="850" dirty="0">
                <a:solidFill>
                  <a:srgbClr val="F9FAFB"/>
                </a:solidFill>
                <a:latin typeface="Courier New" pitchFamily="34" charset="0"/>
                <a:ea typeface="Courier New" pitchFamily="34" charset="-122"/>
                <a:cs typeface="Courier New" pitchFamily="34" charset="-120"/>
              </a:rPr>
              <a:t>  print(f"thr={thr}: "</a:t>
            </a:r>
            <a:endParaRPr lang="en-US" sz="850" dirty="0"/>
          </a:p>
          <a:p>
            <a:pPr indent="0" marL="0">
              <a:buNone/>
            </a:pPr>
            <a:r>
              <a:rPr lang="en-US" sz="850" dirty="0">
                <a:solidFill>
                  <a:srgbClr val="F9FAFB"/>
                </a:solidFill>
                <a:latin typeface="Courier New" pitchFamily="34" charset="0"/>
                <a:ea typeface="Courier New" pitchFamily="34" charset="-122"/>
                <a:cs typeface="Courier New" pitchFamily="34" charset="-120"/>
              </a:rPr>
              <a:t>    f"recall={recall_score(y_te,pred):.3f} "</a:t>
            </a:r>
            <a:endParaRPr lang="en-US" sz="850" dirty="0"/>
          </a:p>
          <a:p>
            <a:pPr indent="0" marL="0">
              <a:buNone/>
            </a:pPr>
            <a:r>
              <a:rPr lang="en-US" sz="850" dirty="0">
                <a:solidFill>
                  <a:srgbClr val="F9FAFB"/>
                </a:solidFill>
                <a:latin typeface="Courier New" pitchFamily="34" charset="0"/>
                <a:ea typeface="Courier New" pitchFamily="34" charset="-122"/>
                <a:cs typeface="Courier New" pitchFamily="34" charset="-120"/>
              </a:rPr>
              <a:t>    f"f1={f1_score(y_te,pred):.3f}")</a:t>
            </a:r>
            <a:endParaRPr lang="en-US" sz="850" dirty="0"/>
          </a:p>
          <a:p>
            <a:pPr indent="0" marL="0">
              <a:buNone/>
            </a:pPr>
            <a:endParaRPr lang="en-US" sz="850" dirty="0"/>
          </a:p>
          <a:p>
            <a:pPr indent="0" marL="0">
              <a:buNone/>
            </a:pPr>
            <a:r>
              <a:rPr lang="en-US" sz="850" dirty="0">
                <a:solidFill>
                  <a:srgbClr val="F9FAFB"/>
                </a:solidFill>
                <a:latin typeface="Courier New" pitchFamily="34" charset="0"/>
                <a:ea typeface="Courier New" pitchFamily="34" charset="-122"/>
                <a:cs typeface="Courier New" pitchFamily="34" charset="-120"/>
              </a:rPr>
              <a:t># Pick threshold with best clinical metric</a:t>
            </a:r>
            <a:endParaRPr lang="en-US" sz="850" dirty="0"/>
          </a:p>
        </p:txBody>
      </p:sp>
      <p:sp>
        <p:nvSpPr>
          <p:cNvPr id="29" name="Shape 27"/>
          <p:cNvSpPr/>
          <p:nvPr/>
        </p:nvSpPr>
        <p:spPr>
          <a:xfrm>
            <a:off x="6172200" y="2834640"/>
            <a:ext cx="2834640" cy="2011680"/>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0000"/>
              </a:srgbClr>
            </a:outerShdw>
          </a:effectLst>
        </p:spPr>
      </p:sp>
      <p:sp>
        <p:nvSpPr>
          <p:cNvPr id="30" name="Shape 28"/>
          <p:cNvSpPr/>
          <p:nvPr/>
        </p:nvSpPr>
        <p:spPr>
          <a:xfrm>
            <a:off x="6172200" y="2834640"/>
            <a:ext cx="2834640" cy="347472"/>
          </a:xfrm>
          <a:prstGeom prst="rect">
            <a:avLst/>
          </a:prstGeom>
          <a:solidFill>
            <a:srgbClr val="059669"/>
          </a:solidFill>
          <a:ln w="12700">
            <a:solidFill>
              <a:srgbClr val="059669">
                <a:alpha val="0"/>
              </a:srgbClr>
            </a:solidFill>
            <a:prstDash val="solid"/>
          </a:ln>
        </p:spPr>
      </p:sp>
      <p:sp>
        <p:nvSpPr>
          <p:cNvPr id="31" name="Text 29"/>
          <p:cNvSpPr/>
          <p:nvPr/>
        </p:nvSpPr>
        <p:spPr>
          <a:xfrm>
            <a:off x="6263640" y="2834640"/>
            <a:ext cx="2651760" cy="347472"/>
          </a:xfrm>
          <a:prstGeom prst="rect">
            <a:avLst/>
          </a:prstGeom>
          <a:noFill/>
          <a:ln/>
        </p:spPr>
        <p:txBody>
          <a:bodyPr wrap="square" lIns="0" tIns="0" rIns="0" bIns="0" rtlCol="0" anchor="ctr">
            <a:normAutofit/>
          </a:bodyPr>
          <a:lstStyle/>
          <a:p>
            <a:pPr indent="0" marL="0">
              <a:buNone/>
            </a:pPr>
            <a:r>
              <a:rPr lang="en-US" sz="1100" b="1" dirty="0">
                <a:solidFill>
                  <a:srgbClr val="FFFFFF"/>
                </a:solidFill>
                <a:latin typeface="Calibri" pitchFamily="34" charset="0"/>
                <a:ea typeface="Calibri" pitchFamily="34" charset="-122"/>
                <a:cs typeface="Calibri" pitchFamily="34" charset="-120"/>
              </a:rPr>
              <a:t>Save + Load + Predict</a:t>
            </a:r>
            <a:endParaRPr lang="en-US" sz="1100" dirty="0"/>
          </a:p>
        </p:txBody>
      </p:sp>
      <p:sp>
        <p:nvSpPr>
          <p:cNvPr id="32" name="Shape 30"/>
          <p:cNvSpPr/>
          <p:nvPr/>
        </p:nvSpPr>
        <p:spPr>
          <a:xfrm>
            <a:off x="6172200" y="3182112"/>
            <a:ext cx="2834640" cy="1664208"/>
          </a:xfrm>
          <a:prstGeom prst="rect">
            <a:avLst/>
          </a:prstGeom>
          <a:solidFill>
            <a:srgbClr val="111827"/>
          </a:solidFill>
          <a:ln w="12700">
            <a:solidFill>
              <a:srgbClr val="111827">
                <a:alpha val="0"/>
              </a:srgbClr>
            </a:solidFill>
            <a:prstDash val="solid"/>
          </a:ln>
        </p:spPr>
      </p:sp>
      <p:sp>
        <p:nvSpPr>
          <p:cNvPr id="33" name="Text 31"/>
          <p:cNvSpPr/>
          <p:nvPr/>
        </p:nvSpPr>
        <p:spPr>
          <a:xfrm>
            <a:off x="6263640" y="3236976"/>
            <a:ext cx="2651760" cy="1572768"/>
          </a:xfrm>
          <a:prstGeom prst="rect">
            <a:avLst/>
          </a:prstGeom>
          <a:noFill/>
          <a:ln/>
        </p:spPr>
        <p:txBody>
          <a:bodyPr wrap="square" lIns="0" tIns="0" rIns="0" bIns="0" rtlCol="0" anchor="ctr">
            <a:normAutofit/>
          </a:bodyPr>
          <a:lstStyle/>
          <a:p>
            <a:pPr indent="0" marL="0">
              <a:buNone/>
            </a:pPr>
            <a:r>
              <a:rPr lang="en-US" sz="850" dirty="0">
                <a:solidFill>
                  <a:srgbClr val="F9FAFB"/>
                </a:solidFill>
                <a:latin typeface="Courier New" pitchFamily="34" charset="0"/>
                <a:ea typeface="Courier New" pitchFamily="34" charset="-122"/>
                <a:cs typeface="Courier New" pitchFamily="34" charset="-120"/>
              </a:rPr>
              <a:t>import joblib</a:t>
            </a:r>
            <a:endParaRPr lang="en-US" sz="850" dirty="0"/>
          </a:p>
          <a:p>
            <a:pPr indent="0" marL="0">
              <a:buNone/>
            </a:pPr>
            <a:r>
              <a:rPr lang="en-US" sz="850" dirty="0">
                <a:solidFill>
                  <a:srgbClr val="F9FAFB"/>
                </a:solidFill>
                <a:latin typeface="Courier New" pitchFamily="34" charset="0"/>
                <a:ea typeface="Courier New" pitchFamily="34" charset="-122"/>
                <a:cs typeface="Courier New" pitchFamily="34" charset="-120"/>
              </a:rPr>
              <a:t># Save</a:t>
            </a:r>
            <a:endParaRPr lang="en-US" sz="850" dirty="0"/>
          </a:p>
          <a:p>
            <a:pPr indent="0" marL="0">
              <a:buNone/>
            </a:pPr>
            <a:r>
              <a:rPr lang="en-US" sz="850" dirty="0">
                <a:solidFill>
                  <a:srgbClr val="F9FAFB"/>
                </a:solidFill>
                <a:latin typeface="Courier New" pitchFamily="34" charset="0"/>
                <a:ea typeface="Courier New" pitchFamily="34" charset="-122"/>
                <a:cs typeface="Courier New" pitchFamily="34" charset="-120"/>
              </a:rPr>
              <a:t>joblib.dump(model,"model.pkl")</a:t>
            </a:r>
            <a:endParaRPr lang="en-US" sz="850" dirty="0"/>
          </a:p>
          <a:p>
            <a:pPr indent="0" marL="0">
              <a:buNone/>
            </a:pPr>
            <a:endParaRPr lang="en-US" sz="850" dirty="0"/>
          </a:p>
          <a:p>
            <a:pPr indent="0" marL="0">
              <a:buNone/>
            </a:pPr>
            <a:r>
              <a:rPr lang="en-US" sz="850" dirty="0">
                <a:solidFill>
                  <a:srgbClr val="F9FAFB"/>
                </a:solidFill>
                <a:latin typeface="Courier New" pitchFamily="34" charset="0"/>
                <a:ea typeface="Courier New" pitchFamily="34" charset="-122"/>
                <a:cs typeface="Courier New" pitchFamily="34" charset="-120"/>
              </a:rPr>
              <a:t># Load and predict</a:t>
            </a:r>
            <a:endParaRPr lang="en-US" sz="850" dirty="0"/>
          </a:p>
          <a:p>
            <a:pPr indent="0" marL="0">
              <a:buNone/>
            </a:pPr>
            <a:r>
              <a:rPr lang="en-US" sz="850" dirty="0">
                <a:solidFill>
                  <a:srgbClr val="F9FAFB"/>
                </a:solidFill>
                <a:latin typeface="Courier New" pitchFamily="34" charset="0"/>
                <a:ea typeface="Courier New" pitchFamily="34" charset="-122"/>
                <a:cs typeface="Courier New" pitchFamily="34" charset="-120"/>
              </a:rPr>
              <a:t>m = joblib.load("model.pkl")</a:t>
            </a:r>
            <a:endParaRPr lang="en-US" sz="850" dirty="0"/>
          </a:p>
          <a:p>
            <a:pPr indent="0" marL="0">
              <a:buNone/>
            </a:pPr>
            <a:endParaRPr lang="en-US" sz="850" dirty="0"/>
          </a:p>
          <a:p>
            <a:pPr indent="0" marL="0">
              <a:buNone/>
            </a:pPr>
            <a:r>
              <a:rPr lang="en-US" sz="850" dirty="0">
                <a:solidFill>
                  <a:srgbClr val="F9FAFB"/>
                </a:solidFill>
                <a:latin typeface="Courier New" pitchFamily="34" charset="0"/>
                <a:ea typeface="Courier New" pitchFamily="34" charset="-122"/>
                <a:cs typeface="Courier New" pitchFamily="34" charset="-120"/>
              </a:rPr>
              <a:t>new_patient = pd.DataFrame([{</a:t>
            </a:r>
            <a:endParaRPr lang="en-US" sz="850" dirty="0"/>
          </a:p>
          <a:p>
            <a:pPr indent="0" marL="0">
              <a:buNone/>
            </a:pPr>
            <a:r>
              <a:rPr lang="en-US" sz="850" dirty="0">
                <a:solidFill>
                  <a:srgbClr val="F9FAFB"/>
                </a:solidFill>
                <a:latin typeface="Courier New" pitchFamily="34" charset="0"/>
                <a:ea typeface="Courier New" pitchFamily="34" charset="-122"/>
                <a:cs typeface="Courier New" pitchFamily="34" charset="-120"/>
              </a:rPr>
              <a:t>  "age":58,"bmi":31.2,"hba1c":8.1,</a:t>
            </a:r>
            <a:endParaRPr lang="en-US" sz="850" dirty="0"/>
          </a:p>
          <a:p>
            <a:pPr indent="0" marL="0">
              <a:buNone/>
            </a:pPr>
            <a:r>
              <a:rPr lang="en-US" sz="850" dirty="0">
                <a:solidFill>
                  <a:srgbClr val="F9FAFB"/>
                </a:solidFill>
                <a:latin typeface="Courier New" pitchFamily="34" charset="0"/>
                <a:ea typeface="Courier New" pitchFamily="34" charset="-122"/>
                <a:cs typeface="Courier New" pitchFamily="34" charset="-120"/>
              </a:rPr>
              <a:t>  "systolic_bp":142,"diastolic_bp":90,</a:t>
            </a:r>
            <a:endParaRPr lang="en-US" sz="850" dirty="0"/>
          </a:p>
          <a:p>
            <a:pPr indent="0" marL="0">
              <a:buNone/>
            </a:pPr>
            <a:r>
              <a:rPr lang="en-US" sz="850" dirty="0">
                <a:solidFill>
                  <a:srgbClr val="F9FAFB"/>
                </a:solidFill>
                <a:latin typeface="Courier New" pitchFamily="34" charset="0"/>
                <a:ea typeface="Courier New" pitchFamily="34" charset="-122"/>
                <a:cs typeface="Courier New" pitchFamily="34" charset="-120"/>
              </a:rPr>
              <a:t>  "heart_rate":88,"los_days":7}])</a:t>
            </a:r>
            <a:endParaRPr lang="en-US" sz="850" dirty="0"/>
          </a:p>
          <a:p>
            <a:pPr indent="0" marL="0">
              <a:buNone/>
            </a:pPr>
            <a:r>
              <a:rPr lang="en-US" sz="850" dirty="0">
                <a:solidFill>
                  <a:srgbClr val="F9FAFB"/>
                </a:solidFill>
                <a:latin typeface="Courier New" pitchFamily="34" charset="0"/>
                <a:ea typeface="Courier New" pitchFamily="34" charset="-122"/>
                <a:cs typeface="Courier New" pitchFamily="34" charset="-120"/>
              </a:rPr>
              <a:t>prob=m.predict_proba(new_patient)[0,1]</a:t>
            </a:r>
            <a:endParaRPr lang="en-US" sz="850" dirty="0"/>
          </a:p>
          <a:p>
            <a:pPr indent="0" marL="0">
              <a:buNone/>
            </a:pPr>
            <a:r>
              <a:rPr lang="en-US" sz="850" dirty="0">
                <a:solidFill>
                  <a:srgbClr val="F9FAFB"/>
                </a:solidFill>
                <a:latin typeface="Courier New" pitchFamily="34" charset="0"/>
                <a:ea typeface="Courier New" pitchFamily="34" charset="-122"/>
                <a:cs typeface="Courier New" pitchFamily="34" charset="-120"/>
              </a:rPr>
              <a:t>print(f"Readmission risk: {prob:.1%}")</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B3E"/>
        </a:solidFill>
      </p:bgPr>
    </p:bg>
    <p:spTree>
      <p:nvGrpSpPr>
        <p:cNvPr id="1" name=""/>
        <p:cNvGrpSpPr/>
        <p:nvPr/>
      </p:nvGrpSpPr>
      <p:grpSpPr>
        <a:xfrm>
          <a:off x="0" y="0"/>
          <a:ext cx="0" cy="0"/>
          <a:chOff x="0" y="0"/>
          <a:chExt cx="0" cy="0"/>
        </a:xfrm>
      </p:grpSpPr>
      <p:sp>
        <p:nvSpPr>
          <p:cNvPr id="2" name="Shape 0"/>
          <p:cNvSpPr/>
          <p:nvPr/>
        </p:nvSpPr>
        <p:spPr>
          <a:xfrm>
            <a:off x="6400800" y="-1097280"/>
            <a:ext cx="4389120" cy="4389120"/>
          </a:xfrm>
          <a:prstGeom prst="ellipse">
            <a:avLst/>
          </a:prstGeom>
          <a:solidFill>
            <a:srgbClr val="9F1239">
              <a:alpha val="22000"/>
            </a:srgbClr>
          </a:solidFill>
          <a:ln w="12700">
            <a:solidFill>
              <a:srgbClr val="9F1239">
                <a:alpha val="0"/>
              </a:srgbClr>
            </a:solidFill>
            <a:prstDash val="solid"/>
          </a:ln>
        </p:spPr>
      </p:sp>
      <p:sp>
        <p:nvSpPr>
          <p:cNvPr id="3" name="Shape 1"/>
          <p:cNvSpPr/>
          <p:nvPr/>
        </p:nvSpPr>
        <p:spPr>
          <a:xfrm>
            <a:off x="-1097280" y="3200400"/>
            <a:ext cx="3200400" cy="3200400"/>
          </a:xfrm>
          <a:prstGeom prst="ellipse">
            <a:avLst/>
          </a:prstGeom>
          <a:solidFill>
            <a:srgbClr val="3730A3">
              <a:alpha val="18000"/>
            </a:srgbClr>
          </a:solidFill>
          <a:ln w="12700">
            <a:solidFill>
              <a:srgbClr val="3730A3">
                <a:alpha val="0"/>
              </a:srgbClr>
            </a:solidFill>
            <a:prstDash val="solid"/>
          </a:ln>
        </p:spPr>
      </p:sp>
      <p:sp>
        <p:nvSpPr>
          <p:cNvPr id="4" name="Shape 2"/>
          <p:cNvSpPr/>
          <p:nvPr/>
        </p:nvSpPr>
        <p:spPr>
          <a:xfrm>
            <a:off x="0" y="0"/>
            <a:ext cx="9144000" cy="640080"/>
          </a:xfrm>
          <a:prstGeom prst="rect">
            <a:avLst/>
          </a:prstGeom>
          <a:solidFill>
            <a:srgbClr val="9F1239"/>
          </a:solidFill>
          <a:ln w="12700">
            <a:solidFill>
              <a:srgbClr val="9F1239">
                <a:alpha val="0"/>
              </a:srgbClr>
            </a:solidFill>
            <a:prstDash val="solid"/>
          </a:ln>
        </p:spPr>
      </p:sp>
      <p:sp>
        <p:nvSpPr>
          <p:cNvPr id="5" name="Text 3"/>
          <p:cNvSpPr/>
          <p:nvPr/>
        </p:nvSpPr>
        <p:spPr>
          <a:xfrm>
            <a:off x="347472" y="0"/>
            <a:ext cx="8458200" cy="640080"/>
          </a:xfrm>
          <a:prstGeom prst="rect">
            <a:avLst/>
          </a:prstGeom>
          <a:noFill/>
          <a:ln/>
        </p:spPr>
        <p:txBody>
          <a:bodyPr wrap="square" lIns="0" tIns="0" rIns="0" bIns="0" rtlCol="0" anchor="ctr">
            <a:normAutofit/>
          </a:bodyPr>
          <a:lstStyle/>
          <a:p>
            <a:pPr indent="0" marL="0">
              <a:buNone/>
            </a:pPr>
            <a:r>
              <a:rPr lang="en-US" sz="1400" b="1" spc="100" kern="0" dirty="0">
                <a:solidFill>
                  <a:srgbClr val="FFFFFF"/>
                </a:solidFill>
                <a:latin typeface="Calibri" pitchFamily="34" charset="0"/>
                <a:ea typeface="Calibri" pitchFamily="34" charset="-122"/>
                <a:cs typeface="Calibri" pitchFamily="34" charset="-120"/>
              </a:rPr>
              <a:t>DAY 6 COMPLETE — RECAP + DAY 7 PREVIEW</a:t>
            </a:r>
            <a:endParaRPr lang="en-US" sz="1400" dirty="0"/>
          </a:p>
        </p:txBody>
      </p:sp>
      <p:sp>
        <p:nvSpPr>
          <p:cNvPr id="6" name="Text 4"/>
          <p:cNvSpPr/>
          <p:nvPr/>
        </p:nvSpPr>
        <p:spPr>
          <a:xfrm>
            <a:off x="365760" y="777240"/>
            <a:ext cx="5029200" cy="329184"/>
          </a:xfrm>
          <a:prstGeom prst="rect">
            <a:avLst/>
          </a:prstGeom>
          <a:noFill/>
          <a:ln/>
        </p:spPr>
        <p:txBody>
          <a:bodyPr wrap="square" lIns="0" tIns="0" rIns="0" bIns="0" rtlCol="0" anchor="ctr">
            <a:normAutofit/>
          </a:bodyPr>
          <a:lstStyle/>
          <a:p>
            <a:pPr indent="0" marL="0">
              <a:buNone/>
            </a:pPr>
            <a:r>
              <a:rPr lang="en-US" sz="1400" b="1" dirty="0">
                <a:solidFill>
                  <a:srgbClr val="FFFFFF"/>
                </a:solidFill>
                <a:latin typeface="Calibri" pitchFamily="34" charset="0"/>
                <a:ea typeface="Calibri" pitchFamily="34" charset="-122"/>
                <a:cs typeface="Calibri" pitchFamily="34" charset="-120"/>
              </a:rPr>
              <a:t>What you mastered today</a:t>
            </a:r>
            <a:endParaRPr lang="en-US" sz="1400" dirty="0"/>
          </a:p>
        </p:txBody>
      </p:sp>
      <p:sp>
        <p:nvSpPr>
          <p:cNvPr id="7" name="Shape 5"/>
          <p:cNvSpPr/>
          <p:nvPr/>
        </p:nvSpPr>
        <p:spPr>
          <a:xfrm>
            <a:off x="365760" y="1188720"/>
            <a:ext cx="201168" cy="201168"/>
          </a:xfrm>
          <a:prstGeom prst="ellipse">
            <a:avLst/>
          </a:prstGeom>
          <a:solidFill>
            <a:srgbClr val="9F1239"/>
          </a:solidFill>
          <a:ln w="12700">
            <a:solidFill>
              <a:srgbClr val="9F1239">
                <a:alpha val="0"/>
              </a:srgbClr>
            </a:solidFill>
            <a:prstDash val="solid"/>
          </a:ln>
        </p:spPr>
      </p:sp>
      <p:sp>
        <p:nvSpPr>
          <p:cNvPr id="8" name="Text 6"/>
          <p:cNvSpPr/>
          <p:nvPr/>
        </p:nvSpPr>
        <p:spPr>
          <a:xfrm>
            <a:off x="640080" y="1170432"/>
            <a:ext cx="4846320" cy="292608"/>
          </a:xfrm>
          <a:prstGeom prst="rect">
            <a:avLst/>
          </a:prstGeom>
          <a:noFill/>
          <a:ln/>
        </p:spPr>
        <p:txBody>
          <a:bodyPr wrap="square" lIns="0" tIns="0" rIns="0" bIns="0" rtlCol="0" anchor="ctr">
            <a:normAutofit/>
          </a:bodyPr>
          <a:lstStyle/>
          <a:p>
            <a:pPr indent="0" marL="0">
              <a:buNone/>
            </a:pPr>
            <a:r>
              <a:rPr lang="en-US" sz="1000" dirty="0">
                <a:solidFill>
                  <a:srgbClr val="FFFFFF"/>
                </a:solidFill>
                <a:latin typeface="Calibri" pitchFamily="34" charset="0"/>
                <a:ea typeface="Calibri" pitchFamily="34" charset="-122"/>
                <a:cs typeface="Calibri" pitchFamily="34" charset="-120"/>
              </a:rPr>
              <a:t>Ensemble methods: Bagging vs Boosting vs Stacking — when and why</a:t>
            </a:r>
            <a:endParaRPr lang="en-US" sz="1000" dirty="0"/>
          </a:p>
        </p:txBody>
      </p:sp>
      <p:sp>
        <p:nvSpPr>
          <p:cNvPr id="9" name="Shape 7"/>
          <p:cNvSpPr/>
          <p:nvPr/>
        </p:nvSpPr>
        <p:spPr>
          <a:xfrm>
            <a:off x="365760" y="1527048"/>
            <a:ext cx="201168" cy="201168"/>
          </a:xfrm>
          <a:prstGeom prst="ellipse">
            <a:avLst/>
          </a:prstGeom>
          <a:solidFill>
            <a:srgbClr val="9F1239"/>
          </a:solidFill>
          <a:ln w="12700">
            <a:solidFill>
              <a:srgbClr val="9F1239">
                <a:alpha val="0"/>
              </a:srgbClr>
            </a:solidFill>
            <a:prstDash val="solid"/>
          </a:ln>
        </p:spPr>
      </p:sp>
      <p:sp>
        <p:nvSpPr>
          <p:cNvPr id="10" name="Text 8"/>
          <p:cNvSpPr/>
          <p:nvPr/>
        </p:nvSpPr>
        <p:spPr>
          <a:xfrm>
            <a:off x="640080" y="1508760"/>
            <a:ext cx="4846320" cy="292608"/>
          </a:xfrm>
          <a:prstGeom prst="rect">
            <a:avLst/>
          </a:prstGeom>
          <a:noFill/>
          <a:ln/>
        </p:spPr>
        <p:txBody>
          <a:bodyPr wrap="square" lIns="0" tIns="0" rIns="0" bIns="0" rtlCol="0" anchor="ctr">
            <a:normAutofit/>
          </a:bodyPr>
          <a:lstStyle/>
          <a:p>
            <a:pPr indent="0" marL="0">
              <a:buNone/>
            </a:pPr>
            <a:r>
              <a:rPr lang="en-US" sz="1000" dirty="0">
                <a:solidFill>
                  <a:srgbClr val="FFFFFF"/>
                </a:solidFill>
                <a:latin typeface="Calibri" pitchFamily="34" charset="0"/>
                <a:ea typeface="Calibri" pitchFamily="34" charset="-122"/>
                <a:cs typeface="Calibri" pitchFamily="34" charset="-120"/>
              </a:rPr>
              <a:t>Random Forest: bootstrap + random features = decorrelated trees</a:t>
            </a:r>
            <a:endParaRPr lang="en-US" sz="1000" dirty="0"/>
          </a:p>
        </p:txBody>
      </p:sp>
      <p:sp>
        <p:nvSpPr>
          <p:cNvPr id="11" name="Shape 9"/>
          <p:cNvSpPr/>
          <p:nvPr/>
        </p:nvSpPr>
        <p:spPr>
          <a:xfrm>
            <a:off x="365760" y="1865376"/>
            <a:ext cx="201168" cy="201168"/>
          </a:xfrm>
          <a:prstGeom prst="ellipse">
            <a:avLst/>
          </a:prstGeom>
          <a:solidFill>
            <a:srgbClr val="9F1239"/>
          </a:solidFill>
          <a:ln w="12700">
            <a:solidFill>
              <a:srgbClr val="9F1239">
                <a:alpha val="0"/>
              </a:srgbClr>
            </a:solidFill>
            <a:prstDash val="solid"/>
          </a:ln>
        </p:spPr>
      </p:sp>
      <p:sp>
        <p:nvSpPr>
          <p:cNvPr id="12" name="Text 10"/>
          <p:cNvSpPr/>
          <p:nvPr/>
        </p:nvSpPr>
        <p:spPr>
          <a:xfrm>
            <a:off x="640080" y="1847088"/>
            <a:ext cx="4846320" cy="292608"/>
          </a:xfrm>
          <a:prstGeom prst="rect">
            <a:avLst/>
          </a:prstGeom>
          <a:noFill/>
          <a:ln/>
        </p:spPr>
        <p:txBody>
          <a:bodyPr wrap="square" lIns="0" tIns="0" rIns="0" bIns="0" rtlCol="0" anchor="ctr">
            <a:normAutofit/>
          </a:bodyPr>
          <a:lstStyle/>
          <a:p>
            <a:pPr indent="0" marL="0">
              <a:buNone/>
            </a:pPr>
            <a:r>
              <a:rPr lang="en-US" sz="1000" dirty="0">
                <a:solidFill>
                  <a:srgbClr val="FFFFFF"/>
                </a:solidFill>
                <a:latin typeface="Calibri" pitchFamily="34" charset="0"/>
                <a:ea typeface="Calibri" pitchFamily="34" charset="-122"/>
                <a:cs typeface="Calibri" pitchFamily="34" charset="-120"/>
              </a:rPr>
              <a:t>OOB score: free validation, feature importance (MDI + Permutation)</a:t>
            </a:r>
            <a:endParaRPr lang="en-US" sz="1000" dirty="0"/>
          </a:p>
        </p:txBody>
      </p:sp>
      <p:sp>
        <p:nvSpPr>
          <p:cNvPr id="13" name="Shape 11"/>
          <p:cNvSpPr/>
          <p:nvPr/>
        </p:nvSpPr>
        <p:spPr>
          <a:xfrm>
            <a:off x="365760" y="2203704"/>
            <a:ext cx="201168" cy="201168"/>
          </a:xfrm>
          <a:prstGeom prst="ellipse">
            <a:avLst/>
          </a:prstGeom>
          <a:solidFill>
            <a:srgbClr val="9F1239"/>
          </a:solidFill>
          <a:ln w="12700">
            <a:solidFill>
              <a:srgbClr val="9F1239">
                <a:alpha val="0"/>
              </a:srgbClr>
            </a:solidFill>
            <a:prstDash val="solid"/>
          </a:ln>
        </p:spPr>
      </p:sp>
      <p:sp>
        <p:nvSpPr>
          <p:cNvPr id="14" name="Text 12"/>
          <p:cNvSpPr/>
          <p:nvPr/>
        </p:nvSpPr>
        <p:spPr>
          <a:xfrm>
            <a:off x="640080" y="2185416"/>
            <a:ext cx="4846320" cy="292608"/>
          </a:xfrm>
          <a:prstGeom prst="rect">
            <a:avLst/>
          </a:prstGeom>
          <a:noFill/>
          <a:ln/>
        </p:spPr>
        <p:txBody>
          <a:bodyPr wrap="square" lIns="0" tIns="0" rIns="0" bIns="0" rtlCol="0" anchor="ctr">
            <a:normAutofit/>
          </a:bodyPr>
          <a:lstStyle/>
          <a:p>
            <a:pPr indent="0" marL="0">
              <a:buNone/>
            </a:pPr>
            <a:r>
              <a:rPr lang="en-US" sz="1000" dirty="0">
                <a:solidFill>
                  <a:srgbClr val="FFFFFF"/>
                </a:solidFill>
                <a:latin typeface="Calibri" pitchFamily="34" charset="0"/>
                <a:ea typeface="Calibri" pitchFamily="34" charset="-122"/>
                <a:cs typeface="Calibri" pitchFamily="34" charset="-120"/>
              </a:rPr>
              <a:t>Gradient Boosting: sequential residual learning, learning rate</a:t>
            </a:r>
            <a:endParaRPr lang="en-US" sz="1000" dirty="0"/>
          </a:p>
        </p:txBody>
      </p:sp>
      <p:sp>
        <p:nvSpPr>
          <p:cNvPr id="15" name="Shape 13"/>
          <p:cNvSpPr/>
          <p:nvPr/>
        </p:nvSpPr>
        <p:spPr>
          <a:xfrm>
            <a:off x="365760" y="2542032"/>
            <a:ext cx="201168" cy="201168"/>
          </a:xfrm>
          <a:prstGeom prst="ellipse">
            <a:avLst/>
          </a:prstGeom>
          <a:solidFill>
            <a:srgbClr val="9F1239"/>
          </a:solidFill>
          <a:ln w="12700">
            <a:solidFill>
              <a:srgbClr val="9F1239">
                <a:alpha val="0"/>
              </a:srgbClr>
            </a:solidFill>
            <a:prstDash val="solid"/>
          </a:ln>
        </p:spPr>
      </p:sp>
      <p:sp>
        <p:nvSpPr>
          <p:cNvPr id="16" name="Text 14"/>
          <p:cNvSpPr/>
          <p:nvPr/>
        </p:nvSpPr>
        <p:spPr>
          <a:xfrm>
            <a:off x="640080" y="2523744"/>
            <a:ext cx="4846320" cy="292608"/>
          </a:xfrm>
          <a:prstGeom prst="rect">
            <a:avLst/>
          </a:prstGeom>
          <a:noFill/>
          <a:ln/>
        </p:spPr>
        <p:txBody>
          <a:bodyPr wrap="square" lIns="0" tIns="0" rIns="0" bIns="0" rtlCol="0" anchor="ctr">
            <a:normAutofit/>
          </a:bodyPr>
          <a:lstStyle/>
          <a:p>
            <a:pPr indent="0" marL="0">
              <a:buNone/>
            </a:pPr>
            <a:r>
              <a:rPr lang="en-US" sz="1000" dirty="0">
                <a:solidFill>
                  <a:srgbClr val="FFFFFF"/>
                </a:solidFill>
                <a:latin typeface="Calibri" pitchFamily="34" charset="0"/>
                <a:ea typeface="Calibri" pitchFamily="34" charset="-122"/>
                <a:cs typeface="Calibri" pitchFamily="34" charset="-120"/>
              </a:rPr>
              <a:t>XGBoost: scale_pos_weight, early stopping, colsample_bytree</a:t>
            </a:r>
            <a:endParaRPr lang="en-US" sz="1000" dirty="0"/>
          </a:p>
        </p:txBody>
      </p:sp>
      <p:sp>
        <p:nvSpPr>
          <p:cNvPr id="17" name="Shape 15"/>
          <p:cNvSpPr/>
          <p:nvPr/>
        </p:nvSpPr>
        <p:spPr>
          <a:xfrm>
            <a:off x="365760" y="2880360"/>
            <a:ext cx="201168" cy="201168"/>
          </a:xfrm>
          <a:prstGeom prst="ellipse">
            <a:avLst/>
          </a:prstGeom>
          <a:solidFill>
            <a:srgbClr val="9F1239"/>
          </a:solidFill>
          <a:ln w="12700">
            <a:solidFill>
              <a:srgbClr val="9F1239">
                <a:alpha val="0"/>
              </a:srgbClr>
            </a:solidFill>
            <a:prstDash val="solid"/>
          </a:ln>
        </p:spPr>
      </p:sp>
      <p:sp>
        <p:nvSpPr>
          <p:cNvPr id="18" name="Text 16"/>
          <p:cNvSpPr/>
          <p:nvPr/>
        </p:nvSpPr>
        <p:spPr>
          <a:xfrm>
            <a:off x="640080" y="2862072"/>
            <a:ext cx="4846320" cy="292608"/>
          </a:xfrm>
          <a:prstGeom prst="rect">
            <a:avLst/>
          </a:prstGeom>
          <a:noFill/>
          <a:ln/>
        </p:spPr>
        <p:txBody>
          <a:bodyPr wrap="square" lIns="0" tIns="0" rIns="0" bIns="0" rtlCol="0" anchor="ctr">
            <a:normAutofit/>
          </a:bodyPr>
          <a:lstStyle/>
          <a:p>
            <a:pPr indent="0" marL="0">
              <a:buNone/>
            </a:pPr>
            <a:r>
              <a:rPr lang="en-US" sz="1000" dirty="0">
                <a:solidFill>
                  <a:srgbClr val="FFFFFF"/>
                </a:solidFill>
                <a:latin typeface="Calibri" pitchFamily="34" charset="0"/>
                <a:ea typeface="Calibri" pitchFamily="34" charset="-122"/>
                <a:cs typeface="Calibri" pitchFamily="34" charset="-120"/>
              </a:rPr>
              <a:t>Feature engineering: encoding, scaling, interactions, leakage</a:t>
            </a:r>
            <a:endParaRPr lang="en-US" sz="1000" dirty="0"/>
          </a:p>
        </p:txBody>
      </p:sp>
      <p:sp>
        <p:nvSpPr>
          <p:cNvPr id="19" name="Shape 17"/>
          <p:cNvSpPr/>
          <p:nvPr/>
        </p:nvSpPr>
        <p:spPr>
          <a:xfrm>
            <a:off x="365760" y="3218688"/>
            <a:ext cx="201168" cy="201168"/>
          </a:xfrm>
          <a:prstGeom prst="ellipse">
            <a:avLst/>
          </a:prstGeom>
          <a:solidFill>
            <a:srgbClr val="9F1239"/>
          </a:solidFill>
          <a:ln w="12700">
            <a:solidFill>
              <a:srgbClr val="9F1239">
                <a:alpha val="0"/>
              </a:srgbClr>
            </a:solidFill>
            <a:prstDash val="solid"/>
          </a:ln>
        </p:spPr>
      </p:sp>
      <p:sp>
        <p:nvSpPr>
          <p:cNvPr id="20" name="Text 18"/>
          <p:cNvSpPr/>
          <p:nvPr/>
        </p:nvSpPr>
        <p:spPr>
          <a:xfrm>
            <a:off x="640080" y="3200400"/>
            <a:ext cx="4846320" cy="292608"/>
          </a:xfrm>
          <a:prstGeom prst="rect">
            <a:avLst/>
          </a:prstGeom>
          <a:noFill/>
          <a:ln/>
        </p:spPr>
        <p:txBody>
          <a:bodyPr wrap="square" lIns="0" tIns="0" rIns="0" bIns="0" rtlCol="0" anchor="ctr">
            <a:normAutofit/>
          </a:bodyPr>
          <a:lstStyle/>
          <a:p>
            <a:pPr indent="0" marL="0">
              <a:buNone/>
            </a:pPr>
            <a:r>
              <a:rPr lang="en-US" sz="1000" dirty="0">
                <a:solidFill>
                  <a:srgbClr val="FFFFFF"/>
                </a:solidFill>
                <a:latin typeface="Calibri" pitchFamily="34" charset="0"/>
                <a:ea typeface="Calibri" pitchFamily="34" charset="-122"/>
                <a:cs typeface="Calibri" pitchFamily="34" charset="-120"/>
              </a:rPr>
              <a:t>ROC-AUC vs AP Score — which curve to use with imbalanced data</a:t>
            </a:r>
            <a:endParaRPr lang="en-US" sz="1000" dirty="0"/>
          </a:p>
        </p:txBody>
      </p:sp>
      <p:sp>
        <p:nvSpPr>
          <p:cNvPr id="21" name="Shape 19"/>
          <p:cNvSpPr/>
          <p:nvPr/>
        </p:nvSpPr>
        <p:spPr>
          <a:xfrm>
            <a:off x="365760" y="3557016"/>
            <a:ext cx="201168" cy="201168"/>
          </a:xfrm>
          <a:prstGeom prst="ellipse">
            <a:avLst/>
          </a:prstGeom>
          <a:solidFill>
            <a:srgbClr val="9F1239"/>
          </a:solidFill>
          <a:ln w="12700">
            <a:solidFill>
              <a:srgbClr val="9F1239">
                <a:alpha val="0"/>
              </a:srgbClr>
            </a:solidFill>
            <a:prstDash val="solid"/>
          </a:ln>
        </p:spPr>
      </p:sp>
      <p:sp>
        <p:nvSpPr>
          <p:cNvPr id="22" name="Text 20"/>
          <p:cNvSpPr/>
          <p:nvPr/>
        </p:nvSpPr>
        <p:spPr>
          <a:xfrm>
            <a:off x="640080" y="3538728"/>
            <a:ext cx="4846320" cy="292608"/>
          </a:xfrm>
          <a:prstGeom prst="rect">
            <a:avLst/>
          </a:prstGeom>
          <a:noFill/>
          <a:ln/>
        </p:spPr>
        <p:txBody>
          <a:bodyPr wrap="square" lIns="0" tIns="0" rIns="0" bIns="0" rtlCol="0" anchor="ctr">
            <a:normAutofit/>
          </a:bodyPr>
          <a:lstStyle/>
          <a:p>
            <a:pPr indent="0" marL="0">
              <a:buNone/>
            </a:pPr>
            <a:r>
              <a:rPr lang="en-US" sz="1000" dirty="0">
                <a:solidFill>
                  <a:srgbClr val="FFFFFF"/>
                </a:solidFill>
                <a:latin typeface="Calibri" pitchFamily="34" charset="0"/>
                <a:ea typeface="Calibri" pitchFamily="34" charset="-122"/>
                <a:cs typeface="Calibri" pitchFamily="34" charset="-120"/>
              </a:rPr>
              <a:t>Calibration: why predicted probabilities must be honest</a:t>
            </a:r>
            <a:endParaRPr lang="en-US" sz="1000" dirty="0"/>
          </a:p>
        </p:txBody>
      </p:sp>
      <p:sp>
        <p:nvSpPr>
          <p:cNvPr id="23" name="Shape 21"/>
          <p:cNvSpPr/>
          <p:nvPr/>
        </p:nvSpPr>
        <p:spPr>
          <a:xfrm>
            <a:off x="365760" y="3895344"/>
            <a:ext cx="201168" cy="201168"/>
          </a:xfrm>
          <a:prstGeom prst="ellipse">
            <a:avLst/>
          </a:prstGeom>
          <a:solidFill>
            <a:srgbClr val="9F1239"/>
          </a:solidFill>
          <a:ln w="12700">
            <a:solidFill>
              <a:srgbClr val="9F1239">
                <a:alpha val="0"/>
              </a:srgbClr>
            </a:solidFill>
            <a:prstDash val="solid"/>
          </a:ln>
        </p:spPr>
      </p:sp>
      <p:sp>
        <p:nvSpPr>
          <p:cNvPr id="24" name="Text 22"/>
          <p:cNvSpPr/>
          <p:nvPr/>
        </p:nvSpPr>
        <p:spPr>
          <a:xfrm>
            <a:off x="640080" y="3877056"/>
            <a:ext cx="4846320" cy="292608"/>
          </a:xfrm>
          <a:prstGeom prst="rect">
            <a:avLst/>
          </a:prstGeom>
          <a:noFill/>
          <a:ln/>
        </p:spPr>
        <p:txBody>
          <a:bodyPr wrap="square" lIns="0" tIns="0" rIns="0" bIns="0" rtlCol="0" anchor="ctr">
            <a:normAutofit/>
          </a:bodyPr>
          <a:lstStyle/>
          <a:p>
            <a:pPr indent="0" marL="0">
              <a:buNone/>
            </a:pPr>
            <a:r>
              <a:rPr lang="en-US" sz="1000" dirty="0">
                <a:solidFill>
                  <a:srgbClr val="FFFFFF"/>
                </a:solidFill>
                <a:latin typeface="Calibri" pitchFamily="34" charset="0"/>
                <a:ea typeface="Calibri" pitchFamily="34" charset="-122"/>
                <a:cs typeface="Calibri" pitchFamily="34" charset="-120"/>
              </a:rPr>
              <a:t>Class imbalance: class_weight, scale_pos_weight, threshold tuning</a:t>
            </a:r>
            <a:endParaRPr lang="en-US" sz="1000" dirty="0"/>
          </a:p>
        </p:txBody>
      </p:sp>
      <p:sp>
        <p:nvSpPr>
          <p:cNvPr id="25" name="Shape 23"/>
          <p:cNvSpPr/>
          <p:nvPr/>
        </p:nvSpPr>
        <p:spPr>
          <a:xfrm>
            <a:off x="365760" y="4233672"/>
            <a:ext cx="201168" cy="201168"/>
          </a:xfrm>
          <a:prstGeom prst="ellipse">
            <a:avLst/>
          </a:prstGeom>
          <a:solidFill>
            <a:srgbClr val="9F1239"/>
          </a:solidFill>
          <a:ln w="12700">
            <a:solidFill>
              <a:srgbClr val="9F1239">
                <a:alpha val="0"/>
              </a:srgbClr>
            </a:solidFill>
            <a:prstDash val="solid"/>
          </a:ln>
        </p:spPr>
      </p:sp>
      <p:sp>
        <p:nvSpPr>
          <p:cNvPr id="26" name="Text 24"/>
          <p:cNvSpPr/>
          <p:nvPr/>
        </p:nvSpPr>
        <p:spPr>
          <a:xfrm>
            <a:off x="640080" y="4215384"/>
            <a:ext cx="4846320" cy="292608"/>
          </a:xfrm>
          <a:prstGeom prst="rect">
            <a:avLst/>
          </a:prstGeom>
          <a:noFill/>
          <a:ln/>
        </p:spPr>
        <p:txBody>
          <a:bodyPr wrap="square" lIns="0" tIns="0" rIns="0" bIns="0" rtlCol="0" anchor="ctr">
            <a:normAutofit/>
          </a:bodyPr>
          <a:lstStyle/>
          <a:p>
            <a:pPr indent="0" marL="0">
              <a:buNone/>
            </a:pPr>
            <a:r>
              <a:rPr lang="en-US" sz="1000" dirty="0">
                <a:solidFill>
                  <a:srgbClr val="FFFFFF"/>
                </a:solidFill>
                <a:latin typeface="Calibri" pitchFamily="34" charset="0"/>
                <a:ea typeface="Calibri" pitchFamily="34" charset="-122"/>
                <a:cs typeface="Calibri" pitchFamily="34" charset="-120"/>
              </a:rPr>
              <a:t>Lab 6 ✅ — readmission_model.pkl ready for FastAPI integration</a:t>
            </a:r>
            <a:endParaRPr lang="en-US" sz="1000" dirty="0"/>
          </a:p>
        </p:txBody>
      </p:sp>
      <p:sp>
        <p:nvSpPr>
          <p:cNvPr id="27" name="Shape 25"/>
          <p:cNvSpPr/>
          <p:nvPr/>
        </p:nvSpPr>
        <p:spPr>
          <a:xfrm>
            <a:off x="5669280" y="749808"/>
            <a:ext cx="3218688" cy="4187952"/>
          </a:xfrm>
          <a:prstGeom prst="rect">
            <a:avLst/>
          </a:prstGeom>
          <a:solidFill>
            <a:srgbClr val="1A0020"/>
          </a:solidFill>
          <a:ln w="15240">
            <a:solidFill>
              <a:srgbClr val="FDA4AF"/>
            </a:solidFill>
            <a:prstDash val="solid"/>
          </a:ln>
          <a:effectLst>
            <a:outerShdw sx="100000" sy="100000" kx="0" ky="0" algn="bl" rotWithShape="0" blurRad="101600" dist="38100" dir="8100000">
              <a:srgbClr val="000000">
                <a:alpha val="10000"/>
              </a:srgbClr>
            </a:outerShdw>
          </a:effectLst>
        </p:spPr>
      </p:sp>
      <p:sp>
        <p:nvSpPr>
          <p:cNvPr id="28" name="Text 26"/>
          <p:cNvSpPr/>
          <p:nvPr/>
        </p:nvSpPr>
        <p:spPr>
          <a:xfrm>
            <a:off x="5760720" y="841248"/>
            <a:ext cx="2999232" cy="256032"/>
          </a:xfrm>
          <a:prstGeom prst="rect">
            <a:avLst/>
          </a:prstGeom>
          <a:noFill/>
          <a:ln/>
        </p:spPr>
        <p:txBody>
          <a:bodyPr wrap="square" lIns="0" tIns="0" rIns="0" bIns="0" rtlCol="0" anchor="ctr">
            <a:normAutofit/>
          </a:bodyPr>
          <a:lstStyle/>
          <a:p>
            <a:pPr indent="0" marL="0">
              <a:buNone/>
            </a:pPr>
            <a:r>
              <a:rPr lang="en-US" sz="1000" b="1" spc="300" kern="0" dirty="0">
                <a:solidFill>
                  <a:srgbClr val="FDA4AF"/>
                </a:solidFill>
                <a:latin typeface="Calibri" pitchFamily="34" charset="0"/>
                <a:ea typeface="Calibri" pitchFamily="34" charset="-122"/>
                <a:cs typeface="Calibri" pitchFamily="34" charset="-120"/>
              </a:rPr>
              <a:t>TOMORROW</a:t>
            </a:r>
            <a:endParaRPr lang="en-US" sz="1000" dirty="0"/>
          </a:p>
        </p:txBody>
      </p:sp>
      <p:sp>
        <p:nvSpPr>
          <p:cNvPr id="29" name="Text 27"/>
          <p:cNvSpPr/>
          <p:nvPr/>
        </p:nvSpPr>
        <p:spPr>
          <a:xfrm>
            <a:off x="5760720" y="1115568"/>
            <a:ext cx="2999232" cy="960120"/>
          </a:xfrm>
          <a:prstGeom prst="rect">
            <a:avLst/>
          </a:prstGeom>
          <a:noFill/>
          <a:ln/>
        </p:spPr>
        <p:txBody>
          <a:bodyPr wrap="square" lIns="0" tIns="0" rIns="0" bIns="0" rtlCol="0" anchor="ctr">
            <a:normAutofit/>
          </a:bodyPr>
          <a:lstStyle/>
          <a:p>
            <a:pPr indent="0" marL="0">
              <a:buNone/>
            </a:pPr>
            <a:r>
              <a:rPr lang="en-US" sz="1800" b="1" dirty="0">
                <a:solidFill>
                  <a:srgbClr val="FFFFFF"/>
                </a:solidFill>
                <a:latin typeface="Calibri" pitchFamily="34" charset="0"/>
                <a:ea typeface="Calibri" pitchFamily="34" charset="-122"/>
                <a:cs typeface="Calibri" pitchFamily="34" charset="-120"/>
              </a:rPr>
              <a:t>Day 7</a:t>
            </a:r>
            <a:endParaRPr lang="en-US" sz="1800" dirty="0"/>
          </a:p>
          <a:p>
            <a:pPr indent="0" marL="0">
              <a:buNone/>
            </a:pPr>
            <a:r>
              <a:rPr lang="en-US" sz="1800" b="1" dirty="0">
                <a:solidFill>
                  <a:srgbClr val="FFFFFF"/>
                </a:solidFill>
                <a:latin typeface="Calibri" pitchFamily="34" charset="0"/>
                <a:ea typeface="Calibri" pitchFamily="34" charset="-122"/>
                <a:cs typeface="Calibri" pitchFamily="34" charset="-120"/>
              </a:rPr>
              <a:t>Unsupervised ML</a:t>
            </a:r>
            <a:endParaRPr lang="en-US" sz="1800" dirty="0"/>
          </a:p>
          <a:p>
            <a:pPr indent="0" marL="0">
              <a:buNone/>
            </a:pPr>
            <a:r>
              <a:rPr lang="en-US" sz="1800" b="1" dirty="0">
                <a:solidFill>
                  <a:srgbClr val="FFFFFF"/>
                </a:solidFill>
                <a:latin typeface="Calibri" pitchFamily="34" charset="0"/>
                <a:ea typeface="Calibri" pitchFamily="34" charset="-122"/>
                <a:cs typeface="Calibri" pitchFamily="34" charset="-120"/>
              </a:rPr>
              <a:t>Clustering + PCA</a:t>
            </a:r>
            <a:endParaRPr lang="en-US" sz="1800" dirty="0"/>
          </a:p>
        </p:txBody>
      </p:sp>
      <p:sp>
        <p:nvSpPr>
          <p:cNvPr id="30" name="Shape 28"/>
          <p:cNvSpPr/>
          <p:nvPr/>
        </p:nvSpPr>
        <p:spPr>
          <a:xfrm>
            <a:off x="5806440" y="2148840"/>
            <a:ext cx="2834640" cy="36576"/>
          </a:xfrm>
          <a:prstGeom prst="rect">
            <a:avLst/>
          </a:prstGeom>
          <a:solidFill>
            <a:srgbClr val="9F1239"/>
          </a:solidFill>
          <a:ln w="12700">
            <a:solidFill>
              <a:srgbClr val="9F1239">
                <a:alpha val="0"/>
              </a:srgbClr>
            </a:solidFill>
            <a:prstDash val="solid"/>
          </a:ln>
        </p:spPr>
      </p:sp>
      <p:sp>
        <p:nvSpPr>
          <p:cNvPr id="31" name="Text 29"/>
          <p:cNvSpPr/>
          <p:nvPr/>
        </p:nvSpPr>
        <p:spPr>
          <a:xfrm>
            <a:off x="5760720" y="2249424"/>
            <a:ext cx="237744" cy="256032"/>
          </a:xfrm>
          <a:prstGeom prst="rect">
            <a:avLst/>
          </a:prstGeom>
          <a:noFill/>
          <a:ln/>
        </p:spPr>
        <p:txBody>
          <a:bodyPr wrap="square" lIns="0" tIns="0" rIns="0" bIns="0" rtlCol="0" anchor="ctr">
            <a:normAutofit/>
          </a:bodyPr>
          <a:lstStyle/>
          <a:p>
            <a:pPr indent="0" marL="0">
              <a:buNone/>
            </a:pPr>
            <a:r>
              <a:rPr lang="en-US" sz="1200" dirty="0">
                <a:solidFill>
                  <a:srgbClr val="9F1239"/>
                </a:solidFill>
                <a:latin typeface="Calibri" pitchFamily="34" charset="0"/>
                <a:ea typeface="Calibri" pitchFamily="34" charset="-122"/>
                <a:cs typeface="Calibri" pitchFamily="34" charset="-120"/>
              </a:rPr>
              <a:t>→</a:t>
            </a:r>
            <a:endParaRPr lang="en-US" sz="1200" dirty="0"/>
          </a:p>
        </p:txBody>
      </p:sp>
      <p:sp>
        <p:nvSpPr>
          <p:cNvPr id="32" name="Text 30"/>
          <p:cNvSpPr/>
          <p:nvPr/>
        </p:nvSpPr>
        <p:spPr>
          <a:xfrm>
            <a:off x="6035040" y="2240280"/>
            <a:ext cx="2743200" cy="274320"/>
          </a:xfrm>
          <a:prstGeom prst="rect">
            <a:avLst/>
          </a:prstGeom>
          <a:noFill/>
          <a:ln/>
        </p:spPr>
        <p:txBody>
          <a:bodyPr wrap="square" lIns="0" tIns="0" rIns="0" bIns="0" rtlCol="0" anchor="ctr">
            <a:normAutofit/>
          </a:bodyPr>
          <a:lstStyle/>
          <a:p>
            <a:pPr indent="0" marL="0">
              <a:buNone/>
            </a:pPr>
            <a:r>
              <a:rPr lang="en-US" sz="950" dirty="0">
                <a:solidFill>
                  <a:srgbClr val="FDA4AF"/>
                </a:solidFill>
                <a:latin typeface="Calibri" pitchFamily="34" charset="0"/>
                <a:ea typeface="Calibri" pitchFamily="34" charset="-122"/>
                <a:cs typeface="Calibri" pitchFamily="34" charset="-120"/>
              </a:rPr>
              <a:t>K-Means clustering algorithm</a:t>
            </a:r>
            <a:endParaRPr lang="en-US" sz="950" dirty="0"/>
          </a:p>
        </p:txBody>
      </p:sp>
      <p:sp>
        <p:nvSpPr>
          <p:cNvPr id="33" name="Text 31"/>
          <p:cNvSpPr/>
          <p:nvPr/>
        </p:nvSpPr>
        <p:spPr>
          <a:xfrm>
            <a:off x="5760720" y="2624328"/>
            <a:ext cx="237744" cy="256032"/>
          </a:xfrm>
          <a:prstGeom prst="rect">
            <a:avLst/>
          </a:prstGeom>
          <a:noFill/>
          <a:ln/>
        </p:spPr>
        <p:txBody>
          <a:bodyPr wrap="square" lIns="0" tIns="0" rIns="0" bIns="0" rtlCol="0" anchor="ctr">
            <a:normAutofit/>
          </a:bodyPr>
          <a:lstStyle/>
          <a:p>
            <a:pPr indent="0" marL="0">
              <a:buNone/>
            </a:pPr>
            <a:r>
              <a:rPr lang="en-US" sz="1200" dirty="0">
                <a:solidFill>
                  <a:srgbClr val="9F1239"/>
                </a:solidFill>
                <a:latin typeface="Calibri" pitchFamily="34" charset="0"/>
                <a:ea typeface="Calibri" pitchFamily="34" charset="-122"/>
                <a:cs typeface="Calibri" pitchFamily="34" charset="-120"/>
              </a:rPr>
              <a:t>→</a:t>
            </a:r>
            <a:endParaRPr lang="en-US" sz="1200" dirty="0"/>
          </a:p>
        </p:txBody>
      </p:sp>
      <p:sp>
        <p:nvSpPr>
          <p:cNvPr id="34" name="Text 32"/>
          <p:cNvSpPr/>
          <p:nvPr/>
        </p:nvSpPr>
        <p:spPr>
          <a:xfrm>
            <a:off x="6035040" y="2615184"/>
            <a:ext cx="2743200" cy="274320"/>
          </a:xfrm>
          <a:prstGeom prst="rect">
            <a:avLst/>
          </a:prstGeom>
          <a:noFill/>
          <a:ln/>
        </p:spPr>
        <p:txBody>
          <a:bodyPr wrap="square" lIns="0" tIns="0" rIns="0" bIns="0" rtlCol="0" anchor="ctr">
            <a:normAutofit/>
          </a:bodyPr>
          <a:lstStyle/>
          <a:p>
            <a:pPr indent="0" marL="0">
              <a:buNone/>
            </a:pPr>
            <a:r>
              <a:rPr lang="en-US" sz="950" dirty="0">
                <a:solidFill>
                  <a:srgbClr val="FDA4AF"/>
                </a:solidFill>
                <a:latin typeface="Calibri" pitchFamily="34" charset="0"/>
                <a:ea typeface="Calibri" pitchFamily="34" charset="-122"/>
                <a:cs typeface="Calibri" pitchFamily="34" charset="-120"/>
              </a:rPr>
              <a:t>Elbow method + Silhouette score</a:t>
            </a:r>
            <a:endParaRPr lang="en-US" sz="950" dirty="0"/>
          </a:p>
        </p:txBody>
      </p:sp>
      <p:sp>
        <p:nvSpPr>
          <p:cNvPr id="35" name="Text 33"/>
          <p:cNvSpPr/>
          <p:nvPr/>
        </p:nvSpPr>
        <p:spPr>
          <a:xfrm>
            <a:off x="5760720" y="2999232"/>
            <a:ext cx="237744" cy="256032"/>
          </a:xfrm>
          <a:prstGeom prst="rect">
            <a:avLst/>
          </a:prstGeom>
          <a:noFill/>
          <a:ln/>
        </p:spPr>
        <p:txBody>
          <a:bodyPr wrap="square" lIns="0" tIns="0" rIns="0" bIns="0" rtlCol="0" anchor="ctr">
            <a:normAutofit/>
          </a:bodyPr>
          <a:lstStyle/>
          <a:p>
            <a:pPr indent="0" marL="0">
              <a:buNone/>
            </a:pPr>
            <a:r>
              <a:rPr lang="en-US" sz="1200" dirty="0">
                <a:solidFill>
                  <a:srgbClr val="9F1239"/>
                </a:solidFill>
                <a:latin typeface="Calibri" pitchFamily="34" charset="0"/>
                <a:ea typeface="Calibri" pitchFamily="34" charset="-122"/>
                <a:cs typeface="Calibri" pitchFamily="34" charset="-120"/>
              </a:rPr>
              <a:t>→</a:t>
            </a:r>
            <a:endParaRPr lang="en-US" sz="1200" dirty="0"/>
          </a:p>
        </p:txBody>
      </p:sp>
      <p:sp>
        <p:nvSpPr>
          <p:cNvPr id="36" name="Text 34"/>
          <p:cNvSpPr/>
          <p:nvPr/>
        </p:nvSpPr>
        <p:spPr>
          <a:xfrm>
            <a:off x="6035040" y="2990088"/>
            <a:ext cx="2743200" cy="274320"/>
          </a:xfrm>
          <a:prstGeom prst="rect">
            <a:avLst/>
          </a:prstGeom>
          <a:noFill/>
          <a:ln/>
        </p:spPr>
        <p:txBody>
          <a:bodyPr wrap="square" lIns="0" tIns="0" rIns="0" bIns="0" rtlCol="0" anchor="ctr">
            <a:normAutofit/>
          </a:bodyPr>
          <a:lstStyle/>
          <a:p>
            <a:pPr indent="0" marL="0">
              <a:buNone/>
            </a:pPr>
            <a:r>
              <a:rPr lang="en-US" sz="950" dirty="0">
                <a:solidFill>
                  <a:srgbClr val="FDA4AF"/>
                </a:solidFill>
                <a:latin typeface="Calibri" pitchFamily="34" charset="0"/>
                <a:ea typeface="Calibri" pitchFamily="34" charset="-122"/>
                <a:cs typeface="Calibri" pitchFamily="34" charset="-120"/>
              </a:rPr>
              <a:t>DBSCAN: density-based clustering</a:t>
            </a:r>
            <a:endParaRPr lang="en-US" sz="950" dirty="0"/>
          </a:p>
        </p:txBody>
      </p:sp>
      <p:sp>
        <p:nvSpPr>
          <p:cNvPr id="37" name="Text 35"/>
          <p:cNvSpPr/>
          <p:nvPr/>
        </p:nvSpPr>
        <p:spPr>
          <a:xfrm>
            <a:off x="5760720" y="3374136"/>
            <a:ext cx="237744" cy="256032"/>
          </a:xfrm>
          <a:prstGeom prst="rect">
            <a:avLst/>
          </a:prstGeom>
          <a:noFill/>
          <a:ln/>
        </p:spPr>
        <p:txBody>
          <a:bodyPr wrap="square" lIns="0" tIns="0" rIns="0" bIns="0" rtlCol="0" anchor="ctr">
            <a:normAutofit/>
          </a:bodyPr>
          <a:lstStyle/>
          <a:p>
            <a:pPr indent="0" marL="0">
              <a:buNone/>
            </a:pPr>
            <a:r>
              <a:rPr lang="en-US" sz="1200" dirty="0">
                <a:solidFill>
                  <a:srgbClr val="9F1239"/>
                </a:solidFill>
                <a:latin typeface="Calibri" pitchFamily="34" charset="0"/>
                <a:ea typeface="Calibri" pitchFamily="34" charset="-122"/>
                <a:cs typeface="Calibri" pitchFamily="34" charset="-120"/>
              </a:rPr>
              <a:t>→</a:t>
            </a:r>
            <a:endParaRPr lang="en-US" sz="1200" dirty="0"/>
          </a:p>
        </p:txBody>
      </p:sp>
      <p:sp>
        <p:nvSpPr>
          <p:cNvPr id="38" name="Text 36"/>
          <p:cNvSpPr/>
          <p:nvPr/>
        </p:nvSpPr>
        <p:spPr>
          <a:xfrm>
            <a:off x="6035040" y="3364992"/>
            <a:ext cx="2743200" cy="274320"/>
          </a:xfrm>
          <a:prstGeom prst="rect">
            <a:avLst/>
          </a:prstGeom>
          <a:noFill/>
          <a:ln/>
        </p:spPr>
        <p:txBody>
          <a:bodyPr wrap="square" lIns="0" tIns="0" rIns="0" bIns="0" rtlCol="0" anchor="ctr">
            <a:normAutofit/>
          </a:bodyPr>
          <a:lstStyle/>
          <a:p>
            <a:pPr indent="0" marL="0">
              <a:buNone/>
            </a:pPr>
            <a:r>
              <a:rPr lang="en-US" sz="950" dirty="0">
                <a:solidFill>
                  <a:srgbClr val="FDA4AF"/>
                </a:solidFill>
                <a:latin typeface="Calibri" pitchFamily="34" charset="0"/>
                <a:ea typeface="Calibri" pitchFamily="34" charset="-122"/>
                <a:cs typeface="Calibri" pitchFamily="34" charset="-120"/>
              </a:rPr>
              <a:t>PCA: dimensionality reduction</a:t>
            </a:r>
            <a:endParaRPr lang="en-US" sz="950" dirty="0"/>
          </a:p>
        </p:txBody>
      </p:sp>
      <p:sp>
        <p:nvSpPr>
          <p:cNvPr id="39" name="Text 37"/>
          <p:cNvSpPr/>
          <p:nvPr/>
        </p:nvSpPr>
        <p:spPr>
          <a:xfrm>
            <a:off x="5760720" y="3749040"/>
            <a:ext cx="237744" cy="256032"/>
          </a:xfrm>
          <a:prstGeom prst="rect">
            <a:avLst/>
          </a:prstGeom>
          <a:noFill/>
          <a:ln/>
        </p:spPr>
        <p:txBody>
          <a:bodyPr wrap="square" lIns="0" tIns="0" rIns="0" bIns="0" rtlCol="0" anchor="ctr">
            <a:normAutofit/>
          </a:bodyPr>
          <a:lstStyle/>
          <a:p>
            <a:pPr indent="0" marL="0">
              <a:buNone/>
            </a:pPr>
            <a:r>
              <a:rPr lang="en-US" sz="1200" dirty="0">
                <a:solidFill>
                  <a:srgbClr val="9F1239"/>
                </a:solidFill>
                <a:latin typeface="Calibri" pitchFamily="34" charset="0"/>
                <a:ea typeface="Calibri" pitchFamily="34" charset="-122"/>
                <a:cs typeface="Calibri" pitchFamily="34" charset="-120"/>
              </a:rPr>
              <a:t>→</a:t>
            </a:r>
            <a:endParaRPr lang="en-US" sz="1200" dirty="0"/>
          </a:p>
        </p:txBody>
      </p:sp>
      <p:sp>
        <p:nvSpPr>
          <p:cNvPr id="40" name="Text 38"/>
          <p:cNvSpPr/>
          <p:nvPr/>
        </p:nvSpPr>
        <p:spPr>
          <a:xfrm>
            <a:off x="6035040" y="3739896"/>
            <a:ext cx="2743200" cy="274320"/>
          </a:xfrm>
          <a:prstGeom prst="rect">
            <a:avLst/>
          </a:prstGeom>
          <a:noFill/>
          <a:ln/>
        </p:spPr>
        <p:txBody>
          <a:bodyPr wrap="square" lIns="0" tIns="0" rIns="0" bIns="0" rtlCol="0" anchor="ctr">
            <a:normAutofit/>
          </a:bodyPr>
          <a:lstStyle/>
          <a:p>
            <a:pPr indent="0" marL="0">
              <a:buNone/>
            </a:pPr>
            <a:r>
              <a:rPr lang="en-US" sz="950" dirty="0">
                <a:solidFill>
                  <a:srgbClr val="FDA4AF"/>
                </a:solidFill>
                <a:latin typeface="Calibri" pitchFamily="34" charset="0"/>
                <a:ea typeface="Calibri" pitchFamily="34" charset="-122"/>
                <a:cs typeface="Calibri" pitchFamily="34" charset="-120"/>
              </a:rPr>
              <a:t>2D visualisation of patient clusters</a:t>
            </a:r>
            <a:endParaRPr lang="en-US" sz="950" dirty="0"/>
          </a:p>
        </p:txBody>
      </p:sp>
      <p:sp>
        <p:nvSpPr>
          <p:cNvPr id="41" name="Text 39"/>
          <p:cNvSpPr/>
          <p:nvPr/>
        </p:nvSpPr>
        <p:spPr>
          <a:xfrm>
            <a:off x="5760720" y="4123944"/>
            <a:ext cx="237744" cy="256032"/>
          </a:xfrm>
          <a:prstGeom prst="rect">
            <a:avLst/>
          </a:prstGeom>
          <a:noFill/>
          <a:ln/>
        </p:spPr>
        <p:txBody>
          <a:bodyPr wrap="square" lIns="0" tIns="0" rIns="0" bIns="0" rtlCol="0" anchor="ctr">
            <a:normAutofit/>
          </a:bodyPr>
          <a:lstStyle/>
          <a:p>
            <a:pPr indent="0" marL="0">
              <a:buNone/>
            </a:pPr>
            <a:r>
              <a:rPr lang="en-US" sz="1200" dirty="0">
                <a:solidFill>
                  <a:srgbClr val="9F1239"/>
                </a:solidFill>
                <a:latin typeface="Calibri" pitchFamily="34" charset="0"/>
                <a:ea typeface="Calibri" pitchFamily="34" charset="-122"/>
                <a:cs typeface="Calibri" pitchFamily="34" charset="-120"/>
              </a:rPr>
              <a:t>→</a:t>
            </a:r>
            <a:endParaRPr lang="en-US" sz="1200" dirty="0"/>
          </a:p>
        </p:txBody>
      </p:sp>
      <p:sp>
        <p:nvSpPr>
          <p:cNvPr id="42" name="Text 40"/>
          <p:cNvSpPr/>
          <p:nvPr/>
        </p:nvSpPr>
        <p:spPr>
          <a:xfrm>
            <a:off x="6035040" y="4114800"/>
            <a:ext cx="2743200" cy="274320"/>
          </a:xfrm>
          <a:prstGeom prst="rect">
            <a:avLst/>
          </a:prstGeom>
          <a:noFill/>
          <a:ln/>
        </p:spPr>
        <p:txBody>
          <a:bodyPr wrap="square" lIns="0" tIns="0" rIns="0" bIns="0" rtlCol="0" anchor="ctr">
            <a:normAutofit/>
          </a:bodyPr>
          <a:lstStyle/>
          <a:p>
            <a:pPr indent="0" marL="0">
              <a:buNone/>
            </a:pPr>
            <a:r>
              <a:rPr lang="en-US" sz="950" dirty="0">
                <a:solidFill>
                  <a:srgbClr val="FDA4AF"/>
                </a:solidFill>
                <a:latin typeface="Calibri" pitchFamily="34" charset="0"/>
                <a:ea typeface="Calibri" pitchFamily="34" charset="-122"/>
                <a:cs typeface="Calibri" pitchFamily="34" charset="-120"/>
              </a:rPr>
              <a:t>Lab 7: Patient segmentation</a:t>
            </a:r>
            <a:endParaRPr lang="en-US" sz="950" dirty="0"/>
          </a:p>
        </p:txBody>
      </p:sp>
      <p:sp>
        <p:nvSpPr>
          <p:cNvPr id="43" name="Shape 41"/>
          <p:cNvSpPr/>
          <p:nvPr/>
        </p:nvSpPr>
        <p:spPr>
          <a:xfrm>
            <a:off x="365760" y="4828032"/>
            <a:ext cx="8430768" cy="256032"/>
          </a:xfrm>
          <a:prstGeom prst="rect">
            <a:avLst/>
          </a:prstGeom>
          <a:solidFill>
            <a:srgbClr val="200010"/>
          </a:solidFill>
          <a:ln w="19050">
            <a:solidFill>
              <a:srgbClr val="9F1239"/>
            </a:solidFill>
            <a:prstDash val="solid"/>
          </a:ln>
        </p:spPr>
      </p:sp>
      <p:sp>
        <p:nvSpPr>
          <p:cNvPr id="44" name="Text 42"/>
          <p:cNvSpPr/>
          <p:nvPr/>
        </p:nvSpPr>
        <p:spPr>
          <a:xfrm>
            <a:off x="502920" y="4828032"/>
            <a:ext cx="8229600" cy="256032"/>
          </a:xfrm>
          <a:prstGeom prst="rect">
            <a:avLst/>
          </a:prstGeom>
          <a:noFill/>
          <a:ln/>
        </p:spPr>
        <p:txBody>
          <a:bodyPr wrap="square" lIns="0" tIns="0" rIns="0" bIns="0" rtlCol="0" anchor="ctr">
            <a:normAutofit/>
          </a:bodyPr>
          <a:lstStyle/>
          <a:p>
            <a:pPr indent="0" marL="0">
              <a:buNone/>
            </a:pPr>
            <a:r>
              <a:rPr lang="en-US" sz="1000" b="1" dirty="0">
                <a:solidFill>
                  <a:srgbClr val="FDA4AF"/>
                </a:solidFill>
                <a:latin typeface="Calibri" pitchFamily="34" charset="0"/>
                <a:ea typeface="Calibri" pitchFamily="34" charset="-122"/>
                <a:cs typeface="Calibri" pitchFamily="34" charset="-120"/>
              </a:rPr>
              <a:t>CONTINUITY: readmission_model.pkl from Lab 6 + FastAPI from Lab 4 = a complete ML prediction REST API. Day 8 Feature Engineering ties everything together.</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Day 6 — Supervised ML Advanced — EXL Training</dc:title>
  <dc:subject>Day 6 Supervised ML Advanced EXL Training</dc:subject>
  <dc:creator>OpenAI</dc:creator>
  <cp:lastModifiedBy>OpenAI</cp:lastModifiedBy>
  <cp:revision>1</cp:revision>
  <dcterms:created xsi:type="dcterms:W3CDTF">2026-06-12T03:00:30Z</dcterms:created>
  <dcterms:modified xsi:type="dcterms:W3CDTF">2026-06-12T03:00:30Z</dcterms:modified>
</cp:coreProperties>
</file>