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49808"/>
            <a:ext cx="73152" cy="36576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9808" y="80467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AE6FD"/>
                </a:solidFill>
              </a:rPr>
              <a:t>EXL · AI &amp; DATA ENGINEERING · BUILDING ON DAYS 1–6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49808" y="1078992"/>
            <a:ext cx="2926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Day 7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749808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Unsupervised ML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40487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AE6FD"/>
                </a:solidFill>
              </a:rPr>
              <a:t>Clustering + PCA + Dimensionality Reduction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49808" y="2788920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</a:rPr>
              <a:t>K-Means · Elbow Method · DBSCAN · PCA · Silhouette · Patient Segmentation · Lab 7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49808" y="3200400"/>
            <a:ext cx="8001000" cy="658368"/>
          </a:xfrm>
          <a:prstGeom prst="rect">
            <a:avLst/>
          </a:prstGeom>
          <a:solidFill>
            <a:srgbClr val="0A152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735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E6FD"/>
                </a:solidFill>
              </a:rPr>
              <a:t>BUILDING 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529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Day 2: Pandas DataFrames = clustering input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66160" y="3529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Day 5–6: Supervised ML contrast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217920" y="352958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Day 3: DataPipeline wraps clustering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49808" y="39867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E6FD"/>
                </a:solidFill>
              </a:rPr>
              <a:t>6–7 hrs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9808" y="43251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C5FD"/>
                </a:solidFill>
              </a:rPr>
              <a:t>Full Day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2350008" y="39867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E6FD"/>
                </a:solidFill>
              </a:rPr>
              <a:t>70%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50008" y="43251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C5FD"/>
                </a:solidFill>
              </a:rPr>
              <a:t>Theory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3950208" y="39867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E6FD"/>
                </a:solidFill>
              </a:rPr>
              <a:t>30%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950208" y="43251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C5FD"/>
                </a:solidFill>
              </a:rPr>
              <a:t>Practice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5550408" y="39867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E6FD"/>
                </a:solidFill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550408" y="43251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C5FD"/>
                </a:solidFill>
              </a:rPr>
              <a:t>Algorithms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7150608" y="398678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E6FD"/>
                </a:solidFill>
              </a:rPr>
              <a:t>1 Lab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50608" y="432511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3C5FD"/>
                </a:solidFill>
              </a:rPr>
              <a:t>Patient Seg.</a:t>
            </a:r>
            <a:endParaRPr lang="en-US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7 AGENDA — FULL SCHEDULE  |  70% THEORY · 30% PRACTICE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68096"/>
            <a:ext cx="132588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5039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9:00–9:20</a:t>
            </a:r>
            <a:endParaRPr lang="en-US" sz="740" dirty="0"/>
          </a:p>
        </p:txBody>
      </p:sp>
      <p:sp>
        <p:nvSpPr>
          <p:cNvPr id="6" name="Shape 4"/>
          <p:cNvSpPr/>
          <p:nvPr/>
        </p:nvSpPr>
        <p:spPr>
          <a:xfrm>
            <a:off x="1737360" y="768096"/>
            <a:ext cx="950976" cy="320040"/>
          </a:xfrm>
          <a:prstGeom prst="rect">
            <a:avLst/>
          </a:prstGeom>
          <a:solidFill>
            <a:srgbClr val="7C3AED">
              <a:alpha val="80000"/>
            </a:srgbClr>
          </a:solidFill>
          <a:ln w="508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37360" y="850392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BRIDGE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2788920" y="768096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07792" y="8321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Day 6 recap · Supervised vs Unsupervised · no labels today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320040" y="1147572"/>
            <a:ext cx="132588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22986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9:20–10:10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1737360" y="1147572"/>
            <a:ext cx="950976" cy="320040"/>
          </a:xfrm>
          <a:prstGeom prst="rect">
            <a:avLst/>
          </a:prstGeom>
          <a:solidFill>
            <a:srgbClr val="0D1B3E">
              <a:alpha val="80000"/>
            </a:srgbClr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122986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THEORY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2788920" y="1147572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07792" y="121158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Unsupervised learning intuition, use cases, distance metrics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20040" y="1527048"/>
            <a:ext cx="1325880" cy="3200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60934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10:10–11:00</a:t>
            </a:r>
            <a:endParaRPr lang="en-US" sz="740" dirty="0"/>
          </a:p>
        </p:txBody>
      </p:sp>
      <p:sp>
        <p:nvSpPr>
          <p:cNvPr id="18" name="Shape 16"/>
          <p:cNvSpPr/>
          <p:nvPr/>
        </p:nvSpPr>
        <p:spPr>
          <a:xfrm>
            <a:off x="1737360" y="1527048"/>
            <a:ext cx="950976" cy="320040"/>
          </a:xfrm>
          <a:prstGeom prst="rect">
            <a:avLst/>
          </a:prstGeom>
          <a:solidFill>
            <a:srgbClr val="0E7490">
              <a:alpha val="80000"/>
            </a:srgbClr>
          </a:solidFill>
          <a:ln w="508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37360" y="1609344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THEORY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2788920" y="1527048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07792" y="159105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K-Means: Lloyd algorithm, convergence, inertia, K-Means++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320040" y="1906524"/>
            <a:ext cx="13258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198882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11:00–11:15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1737360" y="1906524"/>
            <a:ext cx="950976" cy="320040"/>
          </a:xfrm>
          <a:prstGeom prst="rect">
            <a:avLst/>
          </a:prstGeom>
          <a:solidFill>
            <a:srgbClr val="64748B">
              <a:alpha val="80000"/>
            </a:srgbClr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737360" y="1988820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BREAK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788920" y="1906524"/>
            <a:ext cx="5989320" cy="320040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07792" y="197053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Coffee break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320040" y="2286000"/>
            <a:ext cx="1325880" cy="3200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236829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11:15–12:00</a:t>
            </a:r>
            <a:endParaRPr lang="en-US" sz="740" dirty="0"/>
          </a:p>
        </p:txBody>
      </p:sp>
      <p:sp>
        <p:nvSpPr>
          <p:cNvPr id="30" name="Shape 28"/>
          <p:cNvSpPr/>
          <p:nvPr/>
        </p:nvSpPr>
        <p:spPr>
          <a:xfrm>
            <a:off x="1737360" y="2286000"/>
            <a:ext cx="950976" cy="320040"/>
          </a:xfrm>
          <a:prstGeom prst="rect">
            <a:avLst/>
          </a:prstGeom>
          <a:solidFill>
            <a:srgbClr val="6D28D9">
              <a:alpha val="80000"/>
            </a:srgbClr>
          </a:solidFill>
          <a:ln w="508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737360" y="2368296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THEORY</a:t>
            </a:r>
            <a:endParaRPr lang="en-US" sz="740" dirty="0"/>
          </a:p>
        </p:txBody>
      </p:sp>
      <p:sp>
        <p:nvSpPr>
          <p:cNvPr id="32" name="Shape 30"/>
          <p:cNvSpPr/>
          <p:nvPr/>
        </p:nvSpPr>
        <p:spPr>
          <a:xfrm>
            <a:off x="2788920" y="2286000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07792" y="235000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Cluster evaluation: silhouette, Davies-Bouldin, Calinski-Harabasz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320040" y="2665476"/>
            <a:ext cx="132588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274777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12:00–12:45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1737360" y="2665476"/>
            <a:ext cx="950976" cy="320040"/>
          </a:xfrm>
          <a:prstGeom prst="rect">
            <a:avLst/>
          </a:prstGeom>
          <a:solidFill>
            <a:srgbClr val="0369A1">
              <a:alpha val="80000"/>
            </a:srgbClr>
          </a:solidFill>
          <a:ln w="5080">
            <a:solidFill>
              <a:srgbClr val="0369A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737360" y="2747772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THEORY</a:t>
            </a:r>
            <a:endParaRPr lang="en-US" sz="740" dirty="0"/>
          </a:p>
        </p:txBody>
      </p:sp>
      <p:sp>
        <p:nvSpPr>
          <p:cNvPr id="38" name="Shape 36"/>
          <p:cNvSpPr/>
          <p:nvPr/>
        </p:nvSpPr>
        <p:spPr>
          <a:xfrm>
            <a:off x="2788920" y="2665476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07792" y="272948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DBSCAN: eps, min_samples, core/border/noise, advantages over K-Means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320040" y="3044952"/>
            <a:ext cx="1325880" cy="3200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127248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12:45–1:30</a:t>
            </a:r>
            <a:endParaRPr lang="en-US" sz="740" dirty="0"/>
          </a:p>
        </p:txBody>
      </p:sp>
      <p:sp>
        <p:nvSpPr>
          <p:cNvPr id="42" name="Shape 40"/>
          <p:cNvSpPr/>
          <p:nvPr/>
        </p:nvSpPr>
        <p:spPr>
          <a:xfrm>
            <a:off x="1737360" y="3044952"/>
            <a:ext cx="950976" cy="320040"/>
          </a:xfrm>
          <a:prstGeom prst="rect">
            <a:avLst/>
          </a:prstGeom>
          <a:solidFill>
            <a:srgbClr val="64748B">
              <a:alpha val="80000"/>
            </a:srgbClr>
          </a:solidFill>
          <a:ln w="508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37360" y="3127248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LUNCH</a:t>
            </a:r>
            <a:endParaRPr lang="en-US" sz="740" dirty="0"/>
          </a:p>
        </p:txBody>
      </p:sp>
      <p:sp>
        <p:nvSpPr>
          <p:cNvPr id="44" name="Shape 42"/>
          <p:cNvSpPr/>
          <p:nvPr/>
        </p:nvSpPr>
        <p:spPr>
          <a:xfrm>
            <a:off x="2788920" y="3044952"/>
            <a:ext cx="5989320" cy="320040"/>
          </a:xfrm>
          <a:prstGeom prst="rect">
            <a:avLst/>
          </a:prstGeom>
          <a:solidFill>
            <a:srgbClr val="E2E8F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07792" y="3108960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Lunch break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320040" y="3424428"/>
            <a:ext cx="132588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506724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1:30–2:30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1737360" y="3424428"/>
            <a:ext cx="950976" cy="320040"/>
          </a:xfrm>
          <a:prstGeom prst="rect">
            <a:avLst/>
          </a:prstGeom>
          <a:solidFill>
            <a:srgbClr val="0D1B3E">
              <a:alpha val="80000"/>
            </a:srgbClr>
          </a:solidFill>
          <a:ln w="5080">
            <a:solidFill>
              <a:srgbClr val="0D1B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37360" y="3506724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THEORY</a:t>
            </a:r>
            <a:endParaRPr lang="en-US" sz="740" dirty="0"/>
          </a:p>
        </p:txBody>
      </p:sp>
      <p:sp>
        <p:nvSpPr>
          <p:cNvPr id="50" name="Shape 48"/>
          <p:cNvSpPr/>
          <p:nvPr/>
        </p:nvSpPr>
        <p:spPr>
          <a:xfrm>
            <a:off x="2788920" y="3424428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07792" y="3488436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PCA: variance, eigenvectors, explained variance, scree plot</a:t>
            </a:r>
            <a:endParaRPr lang="en-US" sz="960" dirty="0"/>
          </a:p>
        </p:txBody>
      </p:sp>
      <p:sp>
        <p:nvSpPr>
          <p:cNvPr id="52" name="Shape 50"/>
          <p:cNvSpPr/>
          <p:nvPr/>
        </p:nvSpPr>
        <p:spPr>
          <a:xfrm>
            <a:off x="320040" y="3803904"/>
            <a:ext cx="1325880" cy="320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" y="3886200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2:30–3:00</a:t>
            </a:r>
            <a:endParaRPr lang="en-US" sz="740" dirty="0"/>
          </a:p>
        </p:txBody>
      </p:sp>
      <p:sp>
        <p:nvSpPr>
          <p:cNvPr id="54" name="Shape 52"/>
          <p:cNvSpPr/>
          <p:nvPr/>
        </p:nvSpPr>
        <p:spPr>
          <a:xfrm>
            <a:off x="1737360" y="3803904"/>
            <a:ext cx="950976" cy="320040"/>
          </a:xfrm>
          <a:prstGeom prst="rect">
            <a:avLst/>
          </a:prstGeom>
          <a:solidFill>
            <a:srgbClr val="0891B2">
              <a:alpha val="80000"/>
            </a:srgbClr>
          </a:solidFill>
          <a:ln w="508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737360" y="3886200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PRACTICE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2788920" y="3803904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07792" y="3867912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Live code: K-Means, elbow, silhouette, DBSCAN, PCA 2D visualisation</a:t>
            </a:r>
            <a:endParaRPr lang="en-US" sz="960" dirty="0"/>
          </a:p>
        </p:txBody>
      </p:sp>
      <p:sp>
        <p:nvSpPr>
          <p:cNvPr id="58" name="Shape 56"/>
          <p:cNvSpPr/>
          <p:nvPr/>
        </p:nvSpPr>
        <p:spPr>
          <a:xfrm>
            <a:off x="320040" y="4183380"/>
            <a:ext cx="132588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0040" y="4265676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3:00–4:00</a:t>
            </a:r>
            <a:endParaRPr lang="en-US" sz="740" dirty="0"/>
          </a:p>
        </p:txBody>
      </p:sp>
      <p:sp>
        <p:nvSpPr>
          <p:cNvPr id="60" name="Shape 58"/>
          <p:cNvSpPr/>
          <p:nvPr/>
        </p:nvSpPr>
        <p:spPr>
          <a:xfrm>
            <a:off x="1737360" y="4183380"/>
            <a:ext cx="950976" cy="320040"/>
          </a:xfrm>
          <a:prstGeom prst="rect">
            <a:avLst/>
          </a:prstGeom>
          <a:solidFill>
            <a:srgbClr val="059669">
              <a:alpha val="80000"/>
            </a:srgbClr>
          </a:solidFill>
          <a:ln w="5080">
            <a:solidFill>
              <a:srgbClr val="05966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737360" y="4265676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LAB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2788920" y="4183380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907792" y="4247388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Lab 7: Patient Segmentation — cluster, profile, visualise, export</a:t>
            </a:r>
            <a:endParaRPr lang="en-US" sz="960" dirty="0"/>
          </a:p>
        </p:txBody>
      </p:sp>
      <p:sp>
        <p:nvSpPr>
          <p:cNvPr id="64" name="Shape 62"/>
          <p:cNvSpPr/>
          <p:nvPr/>
        </p:nvSpPr>
        <p:spPr>
          <a:xfrm>
            <a:off x="320040" y="4562856"/>
            <a:ext cx="1325880" cy="3200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645152"/>
            <a:ext cx="13258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4:00–4:15</a:t>
            </a:r>
            <a:endParaRPr lang="en-US" sz="740" dirty="0"/>
          </a:p>
        </p:txBody>
      </p:sp>
      <p:sp>
        <p:nvSpPr>
          <p:cNvPr id="66" name="Shape 64"/>
          <p:cNvSpPr/>
          <p:nvPr/>
        </p:nvSpPr>
        <p:spPr>
          <a:xfrm>
            <a:off x="1737360" y="4562856"/>
            <a:ext cx="950976" cy="320040"/>
          </a:xfrm>
          <a:prstGeom prst="rect">
            <a:avLst/>
          </a:prstGeom>
          <a:solidFill>
            <a:srgbClr val="D97706">
              <a:alpha val="80000"/>
            </a:srgbClr>
          </a:solidFill>
          <a:ln w="5080">
            <a:solidFill>
              <a:srgbClr val="D9770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737360" y="4645152"/>
            <a:ext cx="950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</a:rPr>
              <a:t>RECAP</a:t>
            </a:r>
            <a:endParaRPr lang="en-US" sz="740" dirty="0"/>
          </a:p>
        </p:txBody>
      </p:sp>
      <p:sp>
        <p:nvSpPr>
          <p:cNvPr id="68" name="Shape 66"/>
          <p:cNvSpPr/>
          <p:nvPr/>
        </p:nvSpPr>
        <p:spPr>
          <a:xfrm>
            <a:off x="2788920" y="4562856"/>
            <a:ext cx="5989320" cy="32004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07792" y="462686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1E293B"/>
                </a:solidFill>
              </a:rPr>
              <a:t>Walkthrough · GitHub commit · Day 8 preview</a:t>
            </a:r>
            <a:endParaRPr lang="en-US" sz="9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WHAT WE ACHIEVE TODAY — 8 LEARNING GOALS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By 4:00 PM every participant has clustered healthcare patients and visualised segments with PCA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9264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69264"/>
            <a:ext cx="475488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978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05256" y="10424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Define unsupervised learning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05256" y="13258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No labels, hidden structure, use cases: segmentation, anomaly detection, compression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969264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9264"/>
            <a:ext cx="475488" cy="8229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19786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48656" y="10424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7490"/>
                </a:solidFill>
              </a:rPr>
              <a:t>Explain K-Means step by step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48656" y="132588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Assign → update → repeat, convergence, K-Means++, n_init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911096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1911096"/>
            <a:ext cx="475488" cy="8229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13969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5256" y="1984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D28D9"/>
                </a:solidFill>
              </a:rPr>
              <a:t>Choose the right K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05256" y="22677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Elbow method and silhouette score; no single perfect 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911096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911096"/>
            <a:ext cx="475488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13969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48656" y="19842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</a:rPr>
              <a:t>Evaluate clusters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48656" y="226771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Silhouette [-1,1], Davies-Bouldin, business validation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852928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852928"/>
            <a:ext cx="475488" cy="8229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08152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5256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91B2"/>
                </a:solidFill>
              </a:rPr>
              <a:t>Explain DBSCAN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05256" y="32095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eps, min_samples, core/border/noise, arbitrary shapes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2852928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852928"/>
            <a:ext cx="475488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308152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48656" y="29260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</a:rPr>
              <a:t>Understand PCA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248656" y="32095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Variance maximisation, eigenvectors, explained variance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794760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94760"/>
            <a:ext cx="475488" cy="8229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023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05256" y="3867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Use PCA in practice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05256" y="41513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2D visualisation, preprocessing before clustering, scree plot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794760"/>
            <a:ext cx="406908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794760"/>
            <a:ext cx="475488" cy="822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02336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248656" y="386791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</a:rPr>
              <a:t>Complete Lab 7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48656" y="4151376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Cluster 500 patients, profile groups, export segments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ECFE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78231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Lab 7 proves the goals: meaningful patient segments with clinical interpretation, not just running code.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SUPERVISED vs UNSUPERVISED — THEORY  (15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This difference changes problem definition, data collection, and measurement.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393192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24128"/>
            <a:ext cx="39319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88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Supervised Learning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85216" y="1499616"/>
            <a:ext cx="36758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Training data: labelled (X, y) pairs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Goal: learn f(X) → 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Success metrics: accuracy, AUC, F1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Evaluation: compare predictions to known truth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Example: “Will this patient be readmitted?”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Day 5–6: Logistic Regression, Random Forest, XGBoost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393192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24128"/>
            <a:ext cx="393192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8813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Unsupervised Learning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82896" y="1499616"/>
            <a:ext cx="3675888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Training data: unlabelled X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Goal: find hidden structure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Success metrics: silhouette + business meaning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Evaluation: subjective without ground truth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Example: “What types of patients do we have?”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• Today: K-Means, DBSCAN, PCA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K-MEANS CLUSTERING — ALGORITHM THEORY  (30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The most used clustering algorithm — understand the loop before running code.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ECFE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E293B"/>
                </a:solidFill>
              </a:rPr>
              <a:t>K-Means finds K centroids so each point is assigned to the nearest centroid while total within-cluster squared distance (inertia) is minimised.</a:t>
            </a:r>
            <a:endParaRPr lang="en-US" sz="104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663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691640"/>
            <a:ext cx="411480" cy="47548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7556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3E"/>
                </a:solidFill>
              </a:rPr>
              <a:t>Choose K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0120" y="1956816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</a:rPr>
              <a:t>You must select the number of clusters. The algorithm does not choose it for you.</a:t>
            </a:r>
            <a:endParaRPr lang="en-US" sz="87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4663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258568"/>
            <a:ext cx="411480" cy="47548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3682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232257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490"/>
                </a:solidFill>
              </a:rPr>
              <a:t>Initialise centroids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60120" y="2523744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</a:rPr>
              <a:t>K-Means++ spreads initial centroids and reduces bad starts.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457200" y="2825496"/>
            <a:ext cx="4663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25496"/>
            <a:ext cx="411480" cy="47548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93522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288950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91B2"/>
                </a:solidFill>
              </a:rPr>
              <a:t>Assign step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960120" y="3090672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</a:rPr>
              <a:t>Compute distance from every point to every centroid and choose nearest.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457200" y="3392424"/>
            <a:ext cx="4663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392424"/>
            <a:ext cx="411480" cy="47548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0215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4564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D28D9"/>
                </a:solidFill>
              </a:rPr>
              <a:t>Update step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960120" y="3657600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</a:rPr>
              <a:t>Move each centroid to the mean of its assigned points.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457200" y="3959352"/>
            <a:ext cx="46634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959352"/>
            <a:ext cx="41148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6908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0120" y="40233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Repeat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60120" y="4224528"/>
            <a:ext cx="39776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E293B"/>
                </a:solidFill>
              </a:rPr>
              <a:t>Stop at convergence. It reaches a local minimum; use n_init=10.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5440680" y="1691640"/>
            <a:ext cx="3246120" cy="283464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40680" y="1691640"/>
            <a:ext cx="32461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755648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Properties &amp; assumptions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568696" y="2167128"/>
            <a:ext cx="29900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• Requires K upfront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• Best with spherical, similar-size clusters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• Scale-sensitive: always StandardScaler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• Outliers pull centroids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• Inertia always falls as K increases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• Different initialisation can give different results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ECFEFF"/>
          </a:solidFill>
          <a:ln w="10160">
            <a:solidFill>
              <a:srgbClr val="0E74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78231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E7490"/>
                </a:solidFill>
              </a:rPr>
              <a:t>K-Means minimises inertia. Adding more clusters always reduces inertia, so never pick K by minimising inertia alone.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CHOOSING K — ELBOW METHOD + SILHOUETTE SCORE  (THEORY)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Use multiple methods, then validate with domain knowledge.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406908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87552"/>
            <a:ext cx="406908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 1: Elbow Method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9496" y="1463040"/>
            <a:ext cx="38130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Plot inertia vs K. Inertia always decreases as K increases, but the rate of improvement slows. The “elbow” is the point where adding more clusters gives diminishing returns. Limitation: often the elbow is vague.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3063240"/>
            <a:ext cx="4069080" cy="169164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3063240"/>
            <a:ext cx="406908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272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Method 2: Silhouette Score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9496" y="3538728"/>
            <a:ext cx="3813048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s(i) = (b(i) − a(i)) / max(a(i), b(i))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a(i) = average same-cluster distance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b(i) = nearest other-cluster distance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Range: −1 to +1; higher is better.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987552"/>
            <a:ext cx="39776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987552"/>
            <a:ext cx="397764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05156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Davies-Bouldin Index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82896" y="146304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Lower is better. Penalises clusters that are scattered and close together.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947672"/>
            <a:ext cx="39776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947672"/>
            <a:ext cx="39776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01168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Calinski-Harabasz Score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82896" y="242316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Higher is better. Ratio of between-cluster to within-cluster variance.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907792"/>
            <a:ext cx="39776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07792"/>
            <a:ext cx="3977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7180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Gap Statistic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82896" y="338328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Compares your clustering against random data; more principled but slower.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867912"/>
            <a:ext cx="3977640" cy="804672"/>
          </a:xfrm>
          <a:prstGeom prst="rect">
            <a:avLst/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3867912"/>
            <a:ext cx="39776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93192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Domain Validation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82896" y="4343400"/>
            <a:ext cx="3721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Most important: do the patient groups make clinical and business sense?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DBSCAN — DENSITY-BASED CLUSTERING  (THEORY 25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Finds arbitrary shapes, detects noise, and does not need K upfront.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ECFEFF"/>
          </a:solidFill>
          <a:ln w="10160">
            <a:solidFill>
              <a:srgbClr val="0369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 cluster is a dense region. A point is “core” if it has at least min_samples neighbours within radius eps. Points not reachable from any core point are noise.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11480" y="1737360"/>
            <a:ext cx="269748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737360"/>
            <a:ext cx="269748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013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CORE POINT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9496" y="2212848"/>
            <a:ext cx="24414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At least min_samples neighbours within eps. Core points form the dense centres and grow the cluster.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246120" y="1737360"/>
            <a:ext cx="269748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737360"/>
            <a:ext cx="269748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013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BORDER POINT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74136" y="2212848"/>
            <a:ext cx="24414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Within eps of a core point, but does not have enough neighbours itself. Belongs to a nearby cluster edge.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080760" y="1737360"/>
            <a:ext cx="269748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C262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737360"/>
            <a:ext cx="269748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80136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NOISE POINT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208776" y="2212848"/>
            <a:ext cx="244144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Not within eps of any core point. Labelled as -1 in sklearn. Useful for anomaly detection.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11480" y="3886200"/>
            <a:ext cx="2697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886200"/>
            <a:ext cx="269748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0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eps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" y="4361688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Neighbourhood radius. Choose using a KNN distance plot elbow.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246120" y="3886200"/>
            <a:ext cx="2697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3886200"/>
            <a:ext cx="269748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950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min_samples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74136" y="4361688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Minimum neighbours for a core point. Often at least features + 1.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6080760" y="3886200"/>
            <a:ext cx="2697480" cy="713232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0760" y="3886200"/>
            <a:ext cx="269748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950208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08776" y="4361688"/>
            <a:ext cx="24414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E293B"/>
                </a:solidFill>
              </a:rPr>
              <a:t>Euclidean by default; scale features before any distance method.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K-MEANS vs DBSCAN — WHEN TO USE WHICH  (THEORY)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Different algorithms solve different cluster shapes and data characteristics.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11480" y="987552"/>
            <a:ext cx="2011680" cy="393192"/>
          </a:xfrm>
          <a:prstGeom prst="rect">
            <a:avLst/>
          </a:prstGeom>
          <a:solidFill>
            <a:srgbClr val="0D1B3E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09728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Dimension</a:t>
            </a:r>
            <a:endParaRPr lang="en-US" sz="940" dirty="0"/>
          </a:p>
        </p:txBody>
      </p:sp>
      <p:sp>
        <p:nvSpPr>
          <p:cNvPr id="7" name="Shape 5"/>
          <p:cNvSpPr/>
          <p:nvPr/>
        </p:nvSpPr>
        <p:spPr>
          <a:xfrm>
            <a:off x="2423160" y="987552"/>
            <a:ext cx="3154680" cy="393192"/>
          </a:xfrm>
          <a:prstGeom prst="rect">
            <a:avLst/>
          </a:prstGeom>
          <a:solidFill>
            <a:srgbClr val="0E7490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1097280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K-Means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5577840" y="987552"/>
            <a:ext cx="3154680" cy="393192"/>
          </a:xfrm>
          <a:prstGeom prst="rect">
            <a:avLst/>
          </a:prstGeom>
          <a:solidFill>
            <a:srgbClr val="0369A1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50992" y="1097280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FFFFFF"/>
                </a:solidFill>
              </a:rPr>
              <a:t>DBSCAN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411480" y="1380744"/>
            <a:ext cx="2011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" y="149047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Number of clusters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423160" y="1380744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490472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Must specify K upfront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577840" y="1380744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50992" y="1490472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Determined from data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411480" y="1773936"/>
            <a:ext cx="2011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" y="188366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Cluster shape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2423160" y="1773936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1883664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Spherical / convex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577840" y="1773936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50992" y="1883664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Arbitrary shapes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11480" y="2167128"/>
            <a:ext cx="2011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" y="227685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Noise / outliers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423160" y="2167128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96312" y="2276856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Assigns all points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577840" y="2167128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2276856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Labels noise as -1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411480" y="2560320"/>
            <a:ext cx="2011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2670048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Cluster sizes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2423160" y="2560320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6312" y="2670048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Tends to equal-size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5577840" y="2560320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2670048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Can vary widely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411480" y="2953512"/>
            <a:ext cx="2011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" y="3063240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Scalability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2423160" y="2953512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96312" y="3063240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Very fast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5577840" y="2953512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50992" y="3063240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Slower; depends on index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411480" y="3346704"/>
            <a:ext cx="2011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4632" y="3456432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Hyperparameters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2423160" y="3346704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96312" y="3456432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K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5577840" y="3346704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456432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eps + min_samples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411480" y="3739896"/>
            <a:ext cx="2011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" y="3849624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High-dimensional data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423160" y="3739896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96312" y="3849624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Usually better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5577840" y="3739896"/>
            <a:ext cx="3154680" cy="3931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50992" y="3849624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eps gets difficult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411480" y="4133088"/>
            <a:ext cx="2011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4632" y="4242816"/>
            <a:ext cx="1865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E293B"/>
                </a:solidFill>
              </a:rPr>
              <a:t>Healthcare use</a:t>
            </a:r>
            <a:endParaRPr lang="en-US" sz="880" dirty="0"/>
          </a:p>
        </p:txBody>
      </p:sp>
      <p:sp>
        <p:nvSpPr>
          <p:cNvPr id="55" name="Shape 53"/>
          <p:cNvSpPr/>
          <p:nvPr/>
        </p:nvSpPr>
        <p:spPr>
          <a:xfrm>
            <a:off x="2423160" y="4133088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96312" y="4242816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E7490"/>
                </a:solidFill>
              </a:rPr>
              <a:t>Patient risk tiers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5577840" y="4133088"/>
            <a:ext cx="3154680" cy="393192"/>
          </a:xfrm>
          <a:prstGeom prst="rect">
            <a:avLst/>
          </a:prstGeom>
          <a:solidFill>
            <a:srgbClr val="F0F9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50992" y="4242816"/>
            <a:ext cx="30083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0369A1"/>
                </a:solidFill>
              </a:rPr>
              <a:t>Anomaly or fraud detection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EFF6FF"/>
          </a:solidFill>
          <a:ln w="10160">
            <a:solidFill>
              <a:srgbClr val="0D1B3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78231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0D1B3E"/>
                </a:solidFill>
              </a:rPr>
              <a:t>Guideline: K-Means for fixed business segments; DBSCAN for unknown shapes or anomaly detection.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PCA — PRINCIPAL COMPONENT ANALYSIS  (THEORY 30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PCA finds directions of maximum variance to compress high-dimensional data.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8138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E293B"/>
                </a:solidFill>
              </a:rPr>
              <a:t>PC1 is the direction of maximum variance. PC2 is the second-most variance and perpendicular to PC1. Plotting PC1 + PC2 gives a 2D view of high-dimensional patients.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4480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691640"/>
            <a:ext cx="4480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5564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  Standardise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9496" y="2167128"/>
            <a:ext cx="4224528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</a:rPr>
              <a:t>PCA is variance-based; high-scale features dominate without scaling.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11480" y="2258568"/>
            <a:ext cx="4480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258568"/>
            <a:ext cx="448056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225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  Covariance matrix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9496" y="2734056"/>
            <a:ext cx="4224528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</a:rPr>
              <a:t>Compute how features vary together.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411480" y="2825496"/>
            <a:ext cx="4480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825496"/>
            <a:ext cx="4480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95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  Eigenvectors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39496" y="3300984"/>
            <a:ext cx="4224528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</a:rPr>
              <a:t>Eigenvectors are principal component directions.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11480" y="3392424"/>
            <a:ext cx="4480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392424"/>
            <a:ext cx="448056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5643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  Sort by variance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39496" y="3867912"/>
            <a:ext cx="4224528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</a:rPr>
              <a:t>Largest eigenvalue becomes PC1.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411480" y="3959352"/>
            <a:ext cx="44805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3959352"/>
            <a:ext cx="44805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0233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  Project data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" y="4434840"/>
            <a:ext cx="4224528" cy="-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1E293B"/>
                </a:solidFill>
              </a:rPr>
              <a:t>Multiply data by top components to reduce dimensions.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257800" y="1691640"/>
            <a:ext cx="3474720" cy="1371600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257800" y="1691640"/>
            <a:ext cx="347472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49240" y="17556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Explained Variance Ratio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385816" y="2167128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Example: [0.42, 0.18, 0.12]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PC1 explains 42%; PC1+PC2 explains 60%. Use scree plot and often keep ≥80% variance.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257800" y="3273552"/>
            <a:ext cx="347472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257800" y="3273552"/>
            <a:ext cx="347472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333756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When to Use PCA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85816" y="3749040"/>
            <a:ext cx="32186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• 2D/3D visualisation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• Preprocessing before clustering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• Reduce multicollinearity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E293B"/>
                </a:solidFill>
              </a:rPr>
              <a:t>• Speed/memory reduction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320040" y="4736592"/>
            <a:ext cx="8503920" cy="256032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82312"/>
            <a:ext cx="8229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C3AED"/>
                </a:solidFill>
              </a:rPr>
              <a:t>PCA is lossy compression. Great for visualisation and preprocessing; original feature interpretation becomes harder.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LIVE CODE — K-MEANS + DBSCAN + PCA ON HEALTHCARE DATA  (30 MIN)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Run each block and observe how clusters change with K and eps.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4160520" cy="3886200"/>
          </a:xfrm>
          <a:prstGeom prst="rect">
            <a:avLst/>
          </a:prstGeom>
          <a:solidFill>
            <a:srgbClr val="111827"/>
          </a:solidFill>
          <a:ln w="762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051560"/>
            <a:ext cx="394106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KMeans, DBSCAN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pd.read_csv("healthcare.csv")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["age","bmi","hba1c","systolic_bp",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"diastolic_bp","heart_rate","los_days"]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df[features].fillna(df[features].median())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inertias, sil_scores = [], []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K_range = range(2, 11)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K_range: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 init="k-means++",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n_init=10, random_state=42)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km.fit(X_scaled)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inertias.append(km.inertia_)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sil_scores.append(silhouette_score(X_scaled, km.labels_))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print(f"K={k}: inertia={km.inertia_:.0f} sil={sil_scores[-1]:.3f}")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best_k = K_range[sil_scores.index(max(sil_scores))]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km_final = KMeans(n_clusters=best_k, n_init=10, random_state=42)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df["cluster"] = km_final.fit_predict(X_scaled)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print(df["cluster"].value_counts())</a:t>
            </a:r>
            <a:endParaRPr lang="en-US" sz="72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60520" cy="3886200"/>
          </a:xfrm>
          <a:prstGeom prst="rect">
            <a:avLst/>
          </a:prstGeom>
          <a:solidFill>
            <a:srgbClr val="111827"/>
          </a:solidFill>
          <a:ln w="762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73168" y="1051560"/>
            <a:ext cx="3941064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 = df.groupby("cluster")[features].mean().round(2)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print(profile.to_string())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DBSCAN for anomaly detection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dbscan = DBSCAN(eps=1.5, min_samples=10)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db_labels = dbscan.fit_predict(X_scaled)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n_clusters = len(set(db_labels)) - (1 if -1 in db_labels else 0)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n_noise = list(db_labels).count(-1)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print(f"DBSCAN: {n_clusters} clusters, {n_noise} noise")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PCA 2D visualisation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 = PCA(n_components=2, random_state=42)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X_2d = pca.fit_transform(X_scaled)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print("PCA explained variance:", pca.explained_variance_ratio_)</a:t>
            </a:r>
            <a:endParaRPr lang="en-US" sz="720" dirty="0"/>
          </a:p>
          <a:p>
            <a:pPr indent="0" marL="0">
              <a:buNone/>
            </a:pP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plt.figure(figsize=(8,6))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 in range(best_k):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 = df["cluster"] == c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plt.scatter(X_2d[mask,0], X_2d[mask,1],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label=f"Cluster {c}", alpha=0.6, s=30)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plt.xlabel(f"PC1 ({pca.explained_variance_ratio_[0]:.0%})")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plt.ylabel(f"PC2 ({pca.explained_variance_ratio_[1]:.0%})")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plt.title("Patient Segments — PCA 2D View")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plt.legend(); plt.tight_layout()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plt.savefig("patient_clusters_pca.png", dpi=150)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🧪  LAB 7 — PATIENT SEGMENTATION — 60 MINUTES — SOLO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66928"/>
          </a:xfrm>
          <a:prstGeom prst="rect">
            <a:avLst/>
          </a:prstGeom>
          <a:solidFill>
            <a:srgbClr val="00152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05256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EXL Health Analytics needs 500 patients segmented into meaningful clinical groups. Find optimal K, profile segments, detect anomalies with DBSCAN, visualise with PCA, and export cluster assignments.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536192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536192"/>
            <a:ext cx="45720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45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86968" y="16093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LOAD + CLEAN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886968" y="184708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fillna median, drop duplicates, select 7 features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536192"/>
            <a:ext cx="457200" cy="6217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64592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30368" y="16093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SCALE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230368" y="184708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StandardScaler before clustering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320040" y="2286000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286000"/>
            <a:ext cx="457200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6968" y="23591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ELBOW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86968" y="25968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K=2..10; plot inertia + silhouette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86000"/>
            <a:ext cx="45720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239572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30368" y="23591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K-MEANS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230368" y="25968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Fit best K and add cluster column</a:t>
            </a:r>
            <a:endParaRPr lang="en-US" sz="840" dirty="0"/>
          </a:p>
        </p:txBody>
      </p:sp>
      <p:sp>
        <p:nvSpPr>
          <p:cNvPr id="26" name="Shape 24"/>
          <p:cNvSpPr/>
          <p:nvPr/>
        </p:nvSpPr>
        <p:spPr>
          <a:xfrm>
            <a:off x="320040" y="3035808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035808"/>
            <a:ext cx="457200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145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86968" y="3108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PROFILE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886968" y="33467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Name each cluster from the mean table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4663440" y="3035808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035808"/>
            <a:ext cx="457200" cy="6217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14553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230368" y="310896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DBSCAN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5230368" y="33467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Print clusters, noise count, noise fraction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320040" y="3785616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0040" y="3785616"/>
            <a:ext cx="45720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3895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86968" y="3858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PCA PLOT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886968" y="409651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Scatter plot coloured by K-Means cluster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4663440" y="3785616"/>
            <a:ext cx="4069080" cy="621792"/>
          </a:xfrm>
          <a:prstGeom prst="rect">
            <a:avLst/>
          </a:prstGeom>
          <a:solidFill>
            <a:srgbClr val="001525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3785616"/>
            <a:ext cx="457200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89534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230368" y="3858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BAE6FD"/>
                </a:solidFill>
              </a:rPr>
              <a:t>EXPORT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5230368" y="409651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E2E8F0"/>
                </a:solidFill>
              </a:rPr>
              <a:t>patient_segments.csv and optional readmission rate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00152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727448"/>
            <a:ext cx="81381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AE6FD"/>
                </a:solidFill>
              </a:rPr>
              <a:t>SUBMIT: lab7_clustering.py + patient_segments.csv + patient_clusters_pca.png → GitHub commit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LAB 7 — STARTER CODE (Distribute via GitHub)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20040" y="68580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Replace every # TODO. Add comments naming each cluster after you see the profile table.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8503920" cy="3913632"/>
          </a:xfrm>
          <a:prstGeom prst="rect">
            <a:avLst/>
          </a:prstGeom>
          <a:solidFill>
            <a:srgbClr val="111827"/>
          </a:solidFill>
          <a:ln w="762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078992"/>
            <a:ext cx="8284464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7: Patient Segmentation | File: lab7_clustering.py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python lab7_clustering.py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Submit: lab7_clustering.py + patient_segments.csv + patient_clusters_pca.png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pd, numpy as np, matplotlib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matplotlib.use('Agg')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sklearn.cluster import KMeans, DBSCAN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sklearn.decomposition import PCA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silhouette_score, davies_bouldin_score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pd.read_csv("healthcare.csv")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fill numeric NA with median, drop duplicates, print shape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 = ["age","bmi","hba1c","systolic_bp","diastolic_bp","heart_rate","los_days"]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df[features].fillna(df[features].median())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X_scaled = scaler.fit_transform(X)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explain why we scale before clustering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inertias, sil_scores = [], []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k in range(2, 11):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 = KMeans(n_clusters=k, init="k-means++", n_init=10, random_state=42)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km.fit(X_scaled)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TODO: append inertia and silhouette score, print both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best_k = range(2, 11)[sil_scores.index(max(sil_scores))]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print(f"Best K by silhouette: {best_k}")</a:t>
            </a:r>
            <a:endParaRPr lang="en-US" sz="700" dirty="0"/>
          </a:p>
          <a:p>
            <a:pPr indent="0" marL="0">
              <a:buNone/>
            </a:pP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fit final KMeans, add df["cluster"], print value_counts()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groupby cluster, compute feature means, name each cluster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fit DBSCAN(eps=1.5, min_samples=8), print noise statistics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PCA(n_components=2), scatter plot, save patient_clusters_pca.png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TODO: df[["patient_id","cluster"]].to_csv("patient_segments.csv", index=False)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BONUS: print df.groupby("cluster")["readmitted"].mean()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7 — CHEAT SHEET (Keep open while coding)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841248"/>
            <a:ext cx="260604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E749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841248"/>
            <a:ext cx="2606040" cy="34747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052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K-Means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9496" y="1316736"/>
            <a:ext cx="23500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km=KMeans(n_clusters=k,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 init="k-means++", n_init=10)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labels=km.fit_predict(X_scaled)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sil=silhouette_score(X_scaled,labels)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3246120" y="841248"/>
            <a:ext cx="260604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6D28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841248"/>
            <a:ext cx="260604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9052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Cluster Profiling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74136" y="1316736"/>
            <a:ext cx="23500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df["cluster"]=labels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profile=df.groupby("cluster")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 [features].mean().round(2)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print(profile)</a:t>
            </a:r>
            <a:endParaRPr lang="en-US" sz="760" dirty="0"/>
          </a:p>
        </p:txBody>
      </p:sp>
      <p:sp>
        <p:nvSpPr>
          <p:cNvPr id="12" name="Shape 10"/>
          <p:cNvSpPr/>
          <p:nvPr/>
        </p:nvSpPr>
        <p:spPr>
          <a:xfrm>
            <a:off x="6080760" y="841248"/>
            <a:ext cx="260604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369A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841248"/>
            <a:ext cx="260604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905256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DBSCAN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08776" y="1316736"/>
            <a:ext cx="23500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db=DBSCAN(eps=1.5,min_samples=8)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labels=db.fit_predict(X_scaled)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noise=(labels==-1).sum()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print(noise)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11480" y="2962656"/>
            <a:ext cx="260604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962656"/>
            <a:ext cx="26060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266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PCA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39496" y="3438144"/>
            <a:ext cx="23500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pca=PCA(n_components=2)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X_2d=pca.fit_transform(X_scaled)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print(pca.explained_variance_ratio_)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3246120" y="2962656"/>
            <a:ext cx="260604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891B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62656"/>
            <a:ext cx="2606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0266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Metrics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374136" y="3438144"/>
            <a:ext cx="23500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silhouette_score(X_scaled, labels)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davies_bouldin_score(X_scaled,labels)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calinski_harabasz_score(X_scaled,labels)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080760" y="2962656"/>
            <a:ext cx="2606040" cy="18745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1B3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962656"/>
            <a:ext cx="260604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2666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Best K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08776" y="3438144"/>
            <a:ext cx="2350008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for k in range(2,11):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  fit KMeans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  store inertia + silhouette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1E293B"/>
                </a:solidFill>
              </a:rPr>
              <a:t>best_k = K_range[sils.index(max(sils))]</a:t>
            </a:r>
            <a:endParaRPr lang="en-US" sz="76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DAY 7 COMPLETE — RECAP + DAY 8 PREVIEW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7863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What you mastered today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30352" y="1143000"/>
            <a:ext cx="4572000" cy="3246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Unsupervised learning: no labels, hidden structure in X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K-Means: Lloyd algorithm, K-Means++ init, inertia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Elbow method: diminishing returns in inertia vs K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Silhouette score: cohesion vs separation, range [-1,1]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DBSCAN: core/border/noise and anomaly detection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PCA: covariance eigenvectors and explained variance ratio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PCA for visualisation: 2D scatter of patient data</a:t>
            </a:r>
            <a:endParaRPr lang="en-US" sz="1020" dirty="0"/>
          </a:p>
          <a:p>
            <a:pPr marL="152400" indent="-152400">
              <a:buSzPct val="100000"/>
              <a:buChar char="•"/>
            </a:pPr>
            <a:r>
              <a:rPr lang="en-US" sz="1020" dirty="0">
                <a:solidFill>
                  <a:srgbClr val="FFFFFF"/>
                </a:solidFill>
              </a:rPr>
              <a:t>Lab 7: patient_segments.csv + PCA plot committed to GitHub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715000" y="868680"/>
            <a:ext cx="3063240" cy="3657600"/>
          </a:xfrm>
          <a:prstGeom prst="rect">
            <a:avLst/>
          </a:prstGeom>
          <a:solidFill>
            <a:srgbClr val="001525"/>
          </a:solidFill>
          <a:ln w="12700">
            <a:solidFill>
              <a:srgbClr val="BAE6F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870448" y="1024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40" kern="0" dirty="0">
                <a:solidFill>
                  <a:srgbClr val="BAE6FD"/>
                </a:solidFill>
              </a:rPr>
              <a:t>TOMORROW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70448" y="1353312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Day 8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Feature Engineering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+ NLP Basics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870448" y="2286000"/>
            <a:ext cx="2606040" cy="3657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2542032"/>
            <a:ext cx="265176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BAE6FD"/>
                </a:solidFill>
              </a:rPr>
              <a:t>Feature selection methods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BAE6FD"/>
                </a:solidFill>
              </a:rPr>
              <a:t>Encoding + scaling for ML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BAE6FD"/>
                </a:solidFill>
              </a:rPr>
              <a:t>TF-IDF text vectorisation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BAE6FD"/>
                </a:solidFill>
              </a:rPr>
              <a:t>Word embeddings concept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BAE6FD"/>
                </a:solidFill>
              </a:rPr>
              <a:t>BERT intro for NLP</a:t>
            </a:r>
            <a:endParaRPr lang="en-US" sz="930" dirty="0"/>
          </a:p>
          <a:p>
            <a:pPr marL="152400" indent="-152400">
              <a:buSzPct val="100000"/>
              <a:buChar char="•"/>
            </a:pPr>
            <a:r>
              <a:rPr lang="en-US" sz="930" dirty="0">
                <a:solidFill>
                  <a:srgbClr val="BAE6FD"/>
                </a:solidFill>
              </a:rPr>
              <a:t>Lab 8: NLP on clinical notes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solidFill>
            <a:srgbClr val="001525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27448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b="1" dirty="0">
                <a:solidFill>
                  <a:srgbClr val="BAE6FD"/>
                </a:solidFill>
              </a:rPr>
              <a:t>Continuity: patient_segments.csv from Lab 7 feeds into Day 8 feature engineering — cluster label becomes a powerful readmission feature.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EXL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— Unsupervised ML: Clustering + PCA</dc:title>
  <dc:subject>Unsupervised ML: Clustering + PCA</dc:subject>
  <dc:creator>OpenAI</dc:creator>
  <cp:lastModifiedBy>OpenAI</cp:lastModifiedBy>
  <cp:revision>1</cp:revision>
  <dcterms:created xsi:type="dcterms:W3CDTF">2026-06-14T11:23:16Z</dcterms:created>
  <dcterms:modified xsi:type="dcterms:W3CDTF">2026-06-14T11:23:16Z</dcterms:modified>
</cp:coreProperties>
</file>