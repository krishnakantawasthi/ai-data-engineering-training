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137160"/>
            <a:ext cx="2743200" cy="2743200"/>
          </a:xfrm>
          <a:prstGeom prst="ellipse">
            <a:avLst/>
          </a:prstGeom>
          <a:solidFill>
            <a:srgbClr val="047857">
              <a:alpha val="16000"/>
            </a:srgbClr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2971800"/>
            <a:ext cx="2011680" cy="201168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49808"/>
            <a:ext cx="73152" cy="36758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spc="230" kern="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· AI &amp; DATA ENGINEERING · BUILDING ON DAYS 1–4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060704"/>
            <a:ext cx="274320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8046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ML Foundations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79552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ML · Supervised vs Unsupervised · Train/Test Split · Cross-Validation · Bias-Variance · Lab 5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8046720" cy="713232"/>
          </a:xfrm>
          <a:prstGeom prst="rect">
            <a:avLst/>
          </a:prstGeom>
          <a:solidFill>
            <a:srgbClr val="0A2010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54096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ON: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3291840"/>
            <a:ext cx="530352" cy="31089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55848"/>
            <a:ext cx="53035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472184" y="3291840"/>
            <a:ext cx="1874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DataFrames = our ML input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3291840"/>
            <a:ext cx="530352" cy="31089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355848"/>
            <a:ext cx="53035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078224" y="3291840"/>
            <a:ext cx="1874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DataPipeline = feature engineering layer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3291840"/>
            <a:ext cx="530352" cy="31089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355848"/>
            <a:ext cx="53035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684264" y="3291840"/>
            <a:ext cx="1874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wraps our model as a REST API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886200"/>
            <a:ext cx="18288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 hrs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" y="4251960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88920" y="3886200"/>
            <a:ext cx="18288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788920" y="4251960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3886200"/>
            <a:ext cx="18288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46320" y="4251960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903720" y="3886200"/>
            <a:ext cx="18288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Lab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4251960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ML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AGENDA — FULL SCHEDULE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33502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9:00–9:20</a:t>
            </a:r>
            <a:endParaRPr lang="en-US" sz="740" dirty="0"/>
          </a:p>
        </p:txBody>
      </p:sp>
      <p:sp>
        <p:nvSpPr>
          <p:cNvPr id="6" name="Shape 4"/>
          <p:cNvSpPr/>
          <p:nvPr/>
        </p:nvSpPr>
        <p:spPr>
          <a:xfrm>
            <a:off x="1700784" y="749808"/>
            <a:ext cx="960120" cy="329184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00784" y="822960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761488" y="749808"/>
            <a:ext cx="6080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809244"/>
            <a:ext cx="5760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recap · FastAPI Lab 4 debrief · ML models become API endpoints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74320" y="1129284"/>
            <a:ext cx="1335024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02436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9:20–10:00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1700784" y="1129284"/>
            <a:ext cx="960120" cy="329184"/>
          </a:xfrm>
          <a:prstGeom prst="rect">
            <a:avLst/>
          </a:prstGeom>
          <a:solidFill>
            <a:srgbClr val="0D1B3E">
              <a:alpha val="80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0784" y="1202436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761488" y="1129284"/>
            <a:ext cx="6080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188720"/>
            <a:ext cx="5760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ML? Supervised vs Unsupervised vs Reinforcement · ML in data engineering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74320" y="1508760"/>
            <a:ext cx="1335024" cy="3291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581912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10:00–10:45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1700784" y="1508760"/>
            <a:ext cx="960120" cy="329184"/>
          </a:xfrm>
          <a:prstGeom prst="rect">
            <a:avLst/>
          </a:prstGeom>
          <a:solidFill>
            <a:srgbClr val="047857">
              <a:alpha val="80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00784" y="1581912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2761488" y="1508760"/>
            <a:ext cx="6080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1568196"/>
            <a:ext cx="5760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Pipeline: raw data → features → model → evaluate → deploy · sklearn overview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274320" y="1888236"/>
            <a:ext cx="133502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961388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10:45–11:00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1700784" y="1888236"/>
            <a:ext cx="960120" cy="329184"/>
          </a:xfrm>
          <a:prstGeom prst="rect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00784" y="1961388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761488" y="1888236"/>
            <a:ext cx="6080760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1947672"/>
            <a:ext cx="5760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Short break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274320" y="2267712"/>
            <a:ext cx="133502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340864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11:00–12:00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1700784" y="2267712"/>
            <a:ext cx="960120" cy="329184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00784" y="2340864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2761488" y="2267712"/>
            <a:ext cx="6080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2327148"/>
            <a:ext cx="5760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CODE: train_test_split · cross_val_score · first sklearn pipeline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274320" y="2647188"/>
            <a:ext cx="1335024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720340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12:00–1:00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1700784" y="2647188"/>
            <a:ext cx="960120" cy="329184"/>
          </a:xfrm>
          <a:prstGeom prst="rect">
            <a:avLst/>
          </a:prstGeom>
          <a:solidFill>
            <a:srgbClr val="0D1B3E">
              <a:alpha val="80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00784" y="2720340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761488" y="2647188"/>
            <a:ext cx="6080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2706624"/>
            <a:ext cx="5760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· Overfitting detection · Learning curves · Regularisation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274320" y="3026664"/>
            <a:ext cx="1335024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099816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1:00–1:30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1700784" y="3026664"/>
            <a:ext cx="960120" cy="329184"/>
          </a:xfrm>
          <a:prstGeom prst="rect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00784" y="3099816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761488" y="3026664"/>
            <a:ext cx="6080760" cy="32918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0360" y="3086100"/>
            <a:ext cx="5760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🍱 Lunch break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274320" y="3406140"/>
            <a:ext cx="1335024" cy="3291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479292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1:30–2:15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1700784" y="3406140"/>
            <a:ext cx="960120" cy="329184"/>
          </a:xfrm>
          <a:prstGeom prst="rect">
            <a:avLst/>
          </a:prstGeom>
          <a:solidFill>
            <a:srgbClr val="047857">
              <a:alpha val="80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00784" y="3479292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2761488" y="3406140"/>
            <a:ext cx="6080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80360" y="3465576"/>
            <a:ext cx="5760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CODE: Logistic Regression — coefficients, decision boundary, probabilities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274320" y="3785616"/>
            <a:ext cx="133502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858768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2:15–3:00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1700784" y="3785616"/>
            <a:ext cx="960120" cy="329184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00784" y="3858768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2761488" y="3785616"/>
            <a:ext cx="6080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80360" y="3845052"/>
            <a:ext cx="5760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CODE: Decision Trees — splits, depth control, feature importance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274320" y="4165092"/>
            <a:ext cx="1335024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238244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3:00–4:00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1700784" y="4165092"/>
            <a:ext cx="960120" cy="329184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00784" y="4238244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2761488" y="4165092"/>
            <a:ext cx="6080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80360" y="4224528"/>
            <a:ext cx="5760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LAB 5: Diabetes prediction — full sklearn pipeline and model comparison</a:t>
            </a:r>
            <a:endParaRPr lang="en-US" sz="930" dirty="0"/>
          </a:p>
        </p:txBody>
      </p:sp>
      <p:sp>
        <p:nvSpPr>
          <p:cNvPr id="64" name="Shape 62"/>
          <p:cNvSpPr/>
          <p:nvPr/>
        </p:nvSpPr>
        <p:spPr>
          <a:xfrm>
            <a:off x="274320" y="4544568"/>
            <a:ext cx="1335024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617720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4:00–4:15</a:t>
            </a:r>
            <a:endParaRPr lang="en-US" sz="740" dirty="0"/>
          </a:p>
        </p:txBody>
      </p:sp>
      <p:sp>
        <p:nvSpPr>
          <p:cNvPr id="66" name="Shape 64"/>
          <p:cNvSpPr/>
          <p:nvPr/>
        </p:nvSpPr>
        <p:spPr>
          <a:xfrm>
            <a:off x="1700784" y="4544568"/>
            <a:ext cx="960120" cy="329184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00784" y="4617720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2761488" y="4544568"/>
            <a:ext cx="6080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80360" y="4604004"/>
            <a:ext cx="5760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GitHub commit · Day 6 preview: RF + XGBoost + API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 TODAY — 8 LEARNING GOALS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452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4:00 PM every participant has a working diabetes prediction model with a full evaluation report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92608" y="987552"/>
            <a:ext cx="4151376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987552"/>
            <a:ext cx="475488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78992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9536" y="1051560"/>
            <a:ext cx="3456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ML in plain language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9536" y="1316736"/>
            <a:ext cx="345643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ML is, what it solves, what it cannot do, and where it fits in an EXL data engineering pipeline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718304" y="987552"/>
            <a:ext cx="4151376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987552"/>
            <a:ext cx="475488" cy="8046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078992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85232" y="1051560"/>
            <a:ext cx="3456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 Unsupervised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85232" y="1316736"/>
            <a:ext cx="345643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vs unlabelled data, regression vs classification, clustering, and when to use each category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292608" y="1901952"/>
            <a:ext cx="4151376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1901952"/>
            <a:ext cx="475488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1993392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" y="1965960"/>
            <a:ext cx="3456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train/test split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" y="2231136"/>
            <a:ext cx="345643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data, stratify parameter, data leakage, and why test set is final-only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4718304" y="1901952"/>
            <a:ext cx="4151376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1901952"/>
            <a:ext cx="475488" cy="8046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1993392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1965960"/>
            <a:ext cx="3456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cross-validation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85232" y="2231136"/>
            <a:ext cx="345643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CV, interpreting CV scores, and when to use StratifiedKFold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292608" y="2816352"/>
            <a:ext cx="4151376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2816352"/>
            <a:ext cx="47548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907792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9536" y="2880360"/>
            <a:ext cx="3456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tradeoff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9536" y="3145536"/>
            <a:ext cx="345643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vs overfitting, complexity, and learning-curve diagnosis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4718304" y="2816352"/>
            <a:ext cx="4151376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18304" y="2816352"/>
            <a:ext cx="47548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2907792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85232" y="2880360"/>
            <a:ext cx="3456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85232" y="3145536"/>
            <a:ext cx="345643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boundary, sigmoid, predict_proba, coefficients, and regularisation C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292608" y="3730752"/>
            <a:ext cx="4151376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92608" y="3730752"/>
            <a:ext cx="47548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3822192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9536" y="3794760"/>
            <a:ext cx="3456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Decision Tree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9536" y="4059936"/>
            <a:ext cx="345643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impurity, information gain, max_depth, feature_importances_, visualisation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4718304" y="3730752"/>
            <a:ext cx="4151376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18304" y="3730752"/>
            <a:ext cx="475488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3822192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85232" y="3794760"/>
            <a:ext cx="3456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metrics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85232" y="4059936"/>
            <a:ext cx="345643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ROC-AUC, and confusion matrix interpretation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727448"/>
            <a:ext cx="8321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proves all 8 goals — train, evaluate, and compare two classifiers on real health-style data.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 — THEORY (20 MIN)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09560" y="658368"/>
            <a:ext cx="960120" cy="21945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0" y="676656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7452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pattern extraction from data, expressed as a mathematical function learned from examples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932688"/>
            <a:ext cx="859536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96696"/>
            <a:ext cx="1143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987552"/>
            <a:ext cx="713232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finds a function f(x)=y that maps input features to an output, learned automatically from data rather than written by hand. The goal is generalisation on new data.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1664208"/>
            <a:ext cx="2761488" cy="31272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1664208"/>
            <a:ext cx="2761488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728216"/>
            <a:ext cx="25786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" y="2103120"/>
            <a:ext cx="2542032" cy="2624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examples: features + answer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Regression: predict a number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Classification: predict a category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Examples: Logistic Regression, Tree, RF, XGBoost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age, BMI, HbA1c → diabetic 1/0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3236976" y="1664208"/>
            <a:ext cx="2761488" cy="31272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36976" y="1664208"/>
            <a:ext cx="276148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728216"/>
            <a:ext cx="25786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46704" y="2103120"/>
            <a:ext cx="2542032" cy="2624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labels: find hidden structure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Clustering similar patients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Dimensionality reduction with PCA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Examples: K-Means, DBSCAN, Isolation Forest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patient features → cluster 0/1/2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6181344" y="1664208"/>
            <a:ext cx="2761488" cy="31272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1664208"/>
            <a:ext cx="276148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728216"/>
            <a:ext cx="25786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2103120"/>
            <a:ext cx="2542032" cy="2624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 by reward/penalty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Actions → rewards → policy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Rare in normal healthcare data engineering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Examples: AlphaGo, autonomous systems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state → action → reward</a:t>
            </a:r>
            <a:endParaRPr lang="en-US" sz="8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ANATOMY — THEORY (15 MIN)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09560" y="658368"/>
            <a:ext cx="960120" cy="21945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0" y="676656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7452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project follows the same flow — master this and you can work on any ML problem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987552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" y="1051560"/>
            <a:ext cx="987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608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1207008" y="1261872"/>
            <a:ext cx="182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6032" y="1892808"/>
            <a:ext cx="987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956816"/>
            <a:ext cx="87782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messy, nulls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1344168" y="987552"/>
            <a:ext cx="987552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44168" y="1051560"/>
            <a:ext cx="987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80744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Clean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2295144" y="1261872"/>
            <a:ext cx="182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44168" y="1892808"/>
            <a:ext cx="987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1956816"/>
            <a:ext cx="87782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nulls, dtypes, duplicates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2432304" y="987552"/>
            <a:ext cx="98755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32304" y="1051560"/>
            <a:ext cx="987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68880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3383280" y="1261872"/>
            <a:ext cx="182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432304" y="1892808"/>
            <a:ext cx="987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87168" y="1956816"/>
            <a:ext cx="87782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encode, scale, create columns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3520440" y="987552"/>
            <a:ext cx="9875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20440" y="1051560"/>
            <a:ext cx="987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57016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4471416" y="1261872"/>
            <a:ext cx="182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520440" y="1892808"/>
            <a:ext cx="987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75304" y="1956816"/>
            <a:ext cx="87782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train_test_split(stratify=y)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4608576" y="987552"/>
            <a:ext cx="987552" cy="8229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08576" y="1051560"/>
            <a:ext cx="987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645152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5559552" y="1261872"/>
            <a:ext cx="182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608576" y="1892808"/>
            <a:ext cx="987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956816"/>
            <a:ext cx="87782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model.fit(X_train,y_train)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5696712" y="987552"/>
            <a:ext cx="987552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696712" y="1051560"/>
            <a:ext cx="987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733288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6647688" y="1261872"/>
            <a:ext cx="182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696712" y="1892808"/>
            <a:ext cx="987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1576" y="1956816"/>
            <a:ext cx="87782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classification_report, ROC-AUC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6784848" y="987552"/>
            <a:ext cx="987552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784848" y="1051560"/>
            <a:ext cx="987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821424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7735824" y="1261872"/>
            <a:ext cx="182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784848" y="1892808"/>
            <a:ext cx="987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39712" y="1956816"/>
            <a:ext cx="87782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CV, hyperparameters, regularise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7872984" y="987552"/>
            <a:ext cx="987552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872984" y="1051560"/>
            <a:ext cx="987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909560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7872984" y="1892808"/>
            <a:ext cx="987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27848" y="1956816"/>
            <a:ext cx="87782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4: FastAPI endpoint</a:t>
            </a:r>
            <a:endParaRPr lang="en-US" sz="730" dirty="0"/>
          </a:p>
        </p:txBody>
      </p:sp>
      <p:sp>
        <p:nvSpPr>
          <p:cNvPr id="54" name="Text 52"/>
          <p:cNvSpPr/>
          <p:nvPr/>
        </p:nvSpPr>
        <p:spPr>
          <a:xfrm>
            <a:off x="274320" y="2743200"/>
            <a:ext cx="8595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sklearn pattern — same for every algorithm: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74320" y="3035808"/>
            <a:ext cx="8595360" cy="1755648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74904" y="3108960"/>
            <a:ext cx="8394192" cy="1609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train_test_split, cross_val_score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classification_report, roc_auc_score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df[["age","bmi","hba1c","systolic_bp"]]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df["readmitted"].astype(int)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train_test_split(X, y, test_size=0.2,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random_state=42, stratify=y)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LogisticRegression(max_iter=1000).fit(X_train, y_train)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print(classification_report(y_test, model.predict(X_test)))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print(roc_auc_score(y_test, model.predict_proba(X_test)[:,1]))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 + CROSS-VALIDATION — PRACTICE (25 MIN)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09560" y="658368"/>
            <a:ext cx="96012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0" y="676656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7452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is sacred; cross-validation is for model selection, not final reporting.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932688"/>
            <a:ext cx="4206240" cy="373075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" y="1005840"/>
            <a:ext cx="4005072" cy="3584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train_test_split, cross_val_score, StratifiedKFold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df[["age","bmi","hba1c","systolic_bp","los_days"]].fillna(0)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df["readmitted"].astype(int)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random_state=42, stratify=y)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print(f"Train positives: {y_train.mean():.2%}")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print(f"Test  positives: {y_test.mean():.2%}")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("scaler", StandardScaler()),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("model", LogisticRegression(max_iter=1000))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StratifiedKFold(n_splits=5, shuffle=True, random_state=42)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cross_val_score(pipe, X_train, y_train, cv=cv,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scoring="roc_auc", n_jobs=-1)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print(f"CV ROC-AUC: {scores.mean():.3f} ± {scores.std():.3f}")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4663440" y="932688"/>
            <a:ext cx="4206240" cy="373075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64024" y="1005840"/>
            <a:ext cx="4005072" cy="3584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WRONG: fitting scaler on all data before split leaks test statistics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scaler.fit_transform(X)  # leak!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CORRECT: Pipeline fits preprocessing only on X_train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pipe.fit(X_train, y_train)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pipe.predict(X_test)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y_prob = pipe.predict_proba(X_test)[:, 1]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classification_report, roc_auc_score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print(classification_report(y_test, y_pred))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print(f"Test ROC-AUC: {roc_auc_score(y_test, y_prob):.3f}")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Learning curve diagnosis: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&gt;&gt; Validation → overfit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Both low → underfit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≈ Validation and both high → just right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727448"/>
            <a:ext cx="8321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The test set is looked at exactly once — at the end. Tuning on test data = data leakage.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TRADEOFF — THEORY (20 MIN)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09560" y="658368"/>
            <a:ext cx="960120" cy="21945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0" y="676656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7452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concept for diagnosing model quality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932688"/>
            <a:ext cx="8595360" cy="512064"/>
          </a:xfrm>
          <a:prstGeom prst="rect">
            <a:avLst/>
          </a:prstGeom>
          <a:solidFill>
            <a:srgbClr val="EEF2FF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8229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 = Bias² + Variance + Irreducible Noise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197864"/>
            <a:ext cx="8229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bias usually increases variance. The goal is the complexity sweet spot.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92608" y="1627632"/>
            <a:ext cx="2761488" cy="32735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1627632"/>
            <a:ext cx="276148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691640"/>
            <a:ext cx="25786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(Underfitting)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" y="2066544"/>
            <a:ext cx="2542032" cy="2770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too simple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train error + high test error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train/test scores low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 curves plateau low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more features, more complex model, less regularisation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Logistic Regression on non-linear data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236976" y="1627632"/>
            <a:ext cx="2761488" cy="32735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36976" y="1627632"/>
            <a:ext cx="2761488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691640"/>
            <a:ext cx="25786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46704" y="2066544"/>
            <a:ext cx="2542032" cy="2770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matches data complexity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Generalises to unseen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≈ Test and both high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generalisation gap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stop here — this is the goal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Controlled-depth tree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181344" y="1627632"/>
            <a:ext cx="2761488" cy="327355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1627632"/>
            <a:ext cx="2761488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691640"/>
            <a:ext cx="25786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(Overfitting)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2066544"/>
            <a:ext cx="2542032" cy="2770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memorises training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train error, high test error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score much higher than test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Fits noise, not signal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more data, regularise, simplify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Tree with no max_depth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THEORY + PRACTICE (30 MIN)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818120" y="658368"/>
            <a:ext cx="960120" cy="21945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676656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THEORY+PRACTICE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7452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interpretable classification model — understand it before complex models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932688"/>
            <a:ext cx="4206240" cy="530352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987552"/>
            <a:ext cx="3977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Logistic Regression learns a weighted sum of features, passes it through sigmoid, and returns probability of the positive class.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206240" cy="309067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" y="1645920"/>
            <a:ext cx="4005072" cy="2944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classification_report, roc_auc_score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lr_pipe = Pipeline([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("scaler", StandardScaler()),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("model", LogisticRegression(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C=1.0, max_iter=1000,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class_weight="balanced", random_state=42))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lr_pipe.fit(X_train, y_train)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lr_pipe.predict(X_test)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y_prob = lr_pipe.predict_proba(X_test)[:, 1]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Tune threshold for healthcare recall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custom_threshold = 0.35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y_pred_35 = (y_prob &gt;= custom_threshold).astype(int)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print(classification_report(y_test, y_pred_35))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4663440" y="932688"/>
            <a:ext cx="4206240" cy="373075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64024" y="1005840"/>
            <a:ext cx="4005072" cy="3584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Interpret coefficients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pandas as pd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lr_pipe.named_steps["model"]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coef_df = pd.DataFrame({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"feature": X_train.columns,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"coef": model.coef_[0],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"abs": np.abs(model.coef_[0])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}).sort_values("abs", ascending=False)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print(coef_df)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Metrics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confusion_matrix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TN, FP, FN, TP = confusion_matrix(y_test, y_pred).ravel()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print(f"Precision: {TP/(TP+FP):.3f}")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print(f"Recall:    {TP/(TP+FN):.3f}")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print(f"F1 Score:  {2*TP/(2*TP+FP+FN):.3f}")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print(f"ROC-AUC:   {roc_auc_score(y_test,y_prob):.3f}")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Healthcare priority: reduce false negatives, so optimise recall first.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727448"/>
            <a:ext cx="8321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HEALTHCARE: False negatives are far more costly than false positives. Optimise Recall first, then Precision.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— THEORY + PRACTICE (25 MIN)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818120" y="658368"/>
            <a:ext cx="96012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676656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THEORY+PRACTICE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7452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split data by asking YES/NO questions — a flowchart learned from data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932688"/>
            <a:ext cx="4206240" cy="530352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987552"/>
            <a:ext cx="3977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 Decision Tree asks the best questions in sequence: “Is HbA1c &gt; 7.5?” then “Is BMI &gt; 30?” to separate classes.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206240" cy="309067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" y="1645920"/>
            <a:ext cx="4005072" cy="2944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DecisionTreeClassifier, export_text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roc_auc_score, classification_report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Overfit example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dt_overfit = DecisionTreeClassifier(random_state=42)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dt_overfit.fit(X_train, y_train)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print(f"Train: {dt_overfit.score(X_train,y_train):.3f}")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print(f"Test:  {dt_overfit.score(X_test,y_test):.3f}")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Controlled tree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= DecisionTreeClassifier(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max_depth=5,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min_samples_leaf=10,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class_weight="balanced",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random_state=42)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dt.fit(X_train, y_train)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 = pd.DataFrame({"feature": X_train.columns,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"importance": dt.feature_importances_})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print(imp.sort_values("importance", ascending=False))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63440" y="932688"/>
            <a:ext cx="4206240" cy="373075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64024" y="1005840"/>
            <a:ext cx="4005072" cy="3584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Gini impurity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Gini = 0   → pure node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Gini = 0.5 → mixed 50/50 node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GridSearchCV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param_grid =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"max_depth": [3, 5, 7, 10, None],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"min_samples_leaf": [5, 10, 20, 50],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"min_samples_split": [2, 10, 20]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GridSearchCV(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DecisionTreeClassifier(class_weight="balanced", random_state=42),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param_grid, cv=5, scoring="roc_auc", n_jobs=-1)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grid.fit(X_train, y_train)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best_dt = grid.best_estimator_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y_prob = best_dt.predict_proba(X_test)[:,1]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print(grid.best_params_)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print(f"Test AUC: {roc_auc_score(y_test, y_prob):.3f}")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print(classification_report(y_test, best_dt.predict(X_test)))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727448"/>
            <a:ext cx="8321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max_depth controls overfitting. Too deep memorises; too shallow misses patterns. Use CV to find the sweet spot.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— WHICH ONE TO USE AND WHY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09560" y="658368"/>
            <a:ext cx="960120" cy="21945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0" y="676656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7452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often the wrong metric for healthcare data — use Recall, F1, and ROC-AUC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4114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1234440"/>
            <a:ext cx="1298448" cy="475488"/>
          </a:xfrm>
          <a:prstGeom prst="rect">
            <a:avLst/>
          </a:prstGeom>
          <a:solidFill>
            <a:srgbClr val="0D1B3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353312"/>
            <a:ext cx="12984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NO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971800" y="1234440"/>
            <a:ext cx="1298448" cy="475488"/>
          </a:xfrm>
          <a:prstGeom prst="rect">
            <a:avLst/>
          </a:prstGeom>
          <a:solidFill>
            <a:srgbClr val="0D1B3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353312"/>
            <a:ext cx="12984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YES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20040" y="1737360"/>
            <a:ext cx="1298448" cy="475488"/>
          </a:xfrm>
          <a:prstGeom prst="rect">
            <a:avLst/>
          </a:prstGeom>
          <a:solidFill>
            <a:srgbClr val="0D1B3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56232"/>
            <a:ext cx="12984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NO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1645920" y="1737360"/>
            <a:ext cx="1298448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1856232"/>
            <a:ext cx="12984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✓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971800" y="1737360"/>
            <a:ext cx="1298448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856232"/>
            <a:ext cx="12984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False Alarm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20040" y="2240280"/>
            <a:ext cx="1298448" cy="475488"/>
          </a:xfrm>
          <a:prstGeom prst="rect">
            <a:avLst/>
          </a:prstGeom>
          <a:solidFill>
            <a:srgbClr val="0D1B3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59152"/>
            <a:ext cx="12984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YES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1645920" y="2240280"/>
            <a:ext cx="1298448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2359152"/>
            <a:ext cx="12984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MISSED!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2971800" y="2240280"/>
            <a:ext cx="1298448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2359152"/>
            <a:ext cx="12984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✓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4480560" y="932688"/>
            <a:ext cx="4389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932688"/>
            <a:ext cx="7315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969264"/>
            <a:ext cx="8229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394960" y="969264"/>
            <a:ext cx="914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(TP+TN)/All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6355080" y="964692"/>
            <a:ext cx="1554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when classes are imbalanced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7955280" y="969264"/>
            <a:ext cx="868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as first metric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80560" y="1344168"/>
            <a:ext cx="4389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0" y="1344168"/>
            <a:ext cx="73152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1380744"/>
            <a:ext cx="8229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394960" y="1380744"/>
            <a:ext cx="914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TP/(TP+FP)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355080" y="1376172"/>
            <a:ext cx="1554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positives, how many correct?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7955280" y="1380744"/>
            <a:ext cx="868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costly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80560" y="1755648"/>
            <a:ext cx="4389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80560" y="1755648"/>
            <a:ext cx="73152" cy="3474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1792224"/>
            <a:ext cx="8229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394960" y="1792224"/>
            <a:ext cx="914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TP/(TP+FN)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6355080" y="1787652"/>
            <a:ext cx="1554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how many caught?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7955280" y="1792224"/>
            <a:ext cx="868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screening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480560" y="2167128"/>
            <a:ext cx="4389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480560" y="2167128"/>
            <a:ext cx="7315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2203704"/>
            <a:ext cx="8229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5394960" y="2203704"/>
            <a:ext cx="914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2PR/(P+R)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6355080" y="2199132"/>
            <a:ext cx="1554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precision and recall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7955280" y="2203704"/>
            <a:ext cx="868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datasets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480560" y="2578608"/>
            <a:ext cx="4389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480560" y="2578608"/>
            <a:ext cx="7315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2615184"/>
            <a:ext cx="8229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5394960" y="2615184"/>
            <a:ext cx="914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 under ROC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6355080" y="2610612"/>
            <a:ext cx="1554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 model comparison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7955280" y="2615184"/>
            <a:ext cx="868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4320" y="3218688"/>
            <a:ext cx="8595360" cy="1572768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74904" y="3291840"/>
            <a:ext cx="8394192" cy="1426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classification_report, roc_auc_score, confusion_matrix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evaluate_model(name, model, X_test, y_test):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y_pred = model.predict(X_test)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y_prob = model.predict_proba(X_test)[:, 1]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TN, FP, FN, TP = confusion_matrix(y_test, y_pred).ravel()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{name}")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print(classification_report(y_test, y_pred))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print(f"ROC-AUC:   {roc_auc_score(y_test, y_prob):.4f}")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print(f"Precision: {TP/(TP+FP):.4f}")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print(f"Recall:    {TP/(TP+FN):.4f}")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print(f"False Negatives: {FN} patients missed")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 — PRODUCTION-GRADE PATTERN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09560" y="658368"/>
            <a:ext cx="960120" cy="21945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0" y="676656"/>
            <a:ext cx="960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7452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chains preprocessing + model into one object — prevents leakage and makes deployment clean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932688"/>
            <a:ext cx="4206240" cy="373075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" y="1005840"/>
            <a:ext cx="4005072" cy="3584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sklearn.compose import ColumnTransformer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StandardScaler, OneHotEncoder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numeric_features = ["age","bmi","hba1c","systolic_bp","los_days"]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categorical_features = ["gender","ward"]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numeric_transformer = Pipeline([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("imputer", SimpleImputer(strategy="median")),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("scaler", StandardScaler())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categorical_transformer = Pipeline([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("imputer", SimpleImputer(strategy="most_frequent")),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("encoder", OneHotEncoder(handle_unknown="ignore", sparse_output=False))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preprocessor = ColumnTransformer([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("num", numeric_transformer, numeric_features),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("cat", categorical_transformer, categorical_features)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663440" y="932688"/>
            <a:ext cx="4206240" cy="373075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64024" y="1005840"/>
            <a:ext cx="4005072" cy="3584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full_pipeline = Pipeline([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("preprocessor", preprocessor),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("classifier", LogisticRegression(max_iter=1000, class_weight="balanced"))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full_pipeline.fit(X_train, y_train)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new_patient = pd.DataFrame([{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58, "bmi": 31.2, "hba1c": 8.1,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"systolic_bp": 142, "los_days": 7,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"gender": "Male", "ward": "ICU"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}])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= full_pipeline.predict_proba(new_patient)[0, 1]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full_pipeline.predict(new_patient)[0]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print(f"Readmission probability: {prob:.1%}")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joblib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joblib.dump(full_pipeline, "model_pipeline.pkl")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 = joblib.load("model_pipeline.pkl")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727448"/>
            <a:ext cx="8321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Pipeline is exactly what Day 6 FastAPI loads: one .pkl file with preprocessing + model.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LAB 5 — DIABETES PREDICTION — 60 MINUTES — SOLO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85216"/>
          </a:xfrm>
          <a:prstGeom prst="rect">
            <a:avLst/>
          </a:prstGeom>
          <a:solidFill>
            <a:srgbClr val="0A1F10"/>
          </a:solidFill>
          <a:ln w="1651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298448" y="804672"/>
            <a:ext cx="73152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diabetes/readmission prediction system: load data, engineer features, train Logistic Regression + Decision Tree, compare ROC-AUC, export best model for FastAPI.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160520" cy="676656"/>
          </a:xfrm>
          <a:prstGeom prst="rect">
            <a:avLst/>
          </a:prstGeom>
          <a:solidFill>
            <a:srgbClr val="0A1A0A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44752"/>
            <a:ext cx="475488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99616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837944"/>
            <a:ext cx="47548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859536" y="1554480"/>
            <a:ext cx="34381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pd.read_csv, df.info(), nulls, class balance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4681728" y="1444752"/>
            <a:ext cx="4160520" cy="676656"/>
          </a:xfrm>
          <a:prstGeom prst="rect">
            <a:avLst/>
          </a:prstGeom>
          <a:solidFill>
            <a:srgbClr val="0A1A0A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1444752"/>
            <a:ext cx="475488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499616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81728" y="1837944"/>
            <a:ext cx="47548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5266944" y="1554480"/>
            <a:ext cx="34381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 numeric→median, categorical→mode, fix invalid age/BMI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274320" y="2231136"/>
            <a:ext cx="4160520" cy="676656"/>
          </a:xfrm>
          <a:prstGeom prst="rect">
            <a:avLst/>
          </a:prstGeom>
          <a:solidFill>
            <a:srgbClr val="0A1A0A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31136"/>
            <a:ext cx="475488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86000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624328"/>
            <a:ext cx="47548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859536" y="2340864"/>
            <a:ext cx="34381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X and y; encode if needed; print X.shape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4681728" y="2231136"/>
            <a:ext cx="4160520" cy="676656"/>
          </a:xfrm>
          <a:prstGeom prst="rect">
            <a:avLst/>
          </a:prstGeom>
          <a:solidFill>
            <a:srgbClr val="0A1A0A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2231136"/>
            <a:ext cx="475488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2286000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81728" y="2624328"/>
            <a:ext cx="47548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5266944" y="2340864"/>
            <a:ext cx="34381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train_test_split(test_size=0.2, stratify=y, random_state=42)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4160520" cy="676656"/>
          </a:xfrm>
          <a:prstGeom prst="rect">
            <a:avLst/>
          </a:prstGeom>
          <a:solidFill>
            <a:srgbClr val="0A1A0A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017520"/>
            <a:ext cx="475488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072384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410712"/>
            <a:ext cx="47548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</a:t>
            </a:r>
            <a:endParaRPr lang="en-US" sz="580" dirty="0"/>
          </a:p>
        </p:txBody>
      </p:sp>
      <p:sp>
        <p:nvSpPr>
          <p:cNvPr id="31" name="Text 29"/>
          <p:cNvSpPr/>
          <p:nvPr/>
        </p:nvSpPr>
        <p:spPr>
          <a:xfrm>
            <a:off x="859536" y="3127248"/>
            <a:ext cx="34381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StandardScaler + LogisticRegression; CV ROC-AUC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4681728" y="3017520"/>
            <a:ext cx="4160520" cy="676656"/>
          </a:xfrm>
          <a:prstGeom prst="rect">
            <a:avLst/>
          </a:prstGeom>
          <a:solidFill>
            <a:srgbClr val="0A1A0A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3017520"/>
            <a:ext cx="475488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3072384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81728" y="3410712"/>
            <a:ext cx="47548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580" dirty="0"/>
          </a:p>
        </p:txBody>
      </p:sp>
      <p:sp>
        <p:nvSpPr>
          <p:cNvPr id="36" name="Text 34"/>
          <p:cNvSpPr/>
          <p:nvPr/>
        </p:nvSpPr>
        <p:spPr>
          <a:xfrm>
            <a:off x="5266944" y="3127248"/>
            <a:ext cx="34381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max_depth [3,5,7,10]; best params and score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274320" y="3803904"/>
            <a:ext cx="4160520" cy="676656"/>
          </a:xfrm>
          <a:prstGeom prst="rect">
            <a:avLst/>
          </a:prstGeom>
          <a:solidFill>
            <a:srgbClr val="0A1A0A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803904"/>
            <a:ext cx="475488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858768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197096"/>
            <a:ext cx="47548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BOTH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>
            <a:off x="859536" y="3913632"/>
            <a:ext cx="34381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classification_report, ROC-AUC, confusion matrix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4681728" y="3803904"/>
            <a:ext cx="4160520" cy="676656"/>
          </a:xfrm>
          <a:prstGeom prst="rect">
            <a:avLst/>
          </a:prstGeom>
          <a:solidFill>
            <a:srgbClr val="0A1A0A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81728" y="3803904"/>
            <a:ext cx="475488" cy="676656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3858768"/>
            <a:ext cx="4754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81728" y="4197096"/>
            <a:ext cx="47548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BEST</a:t>
            </a:r>
            <a:endParaRPr lang="en-US" sz="580" dirty="0"/>
          </a:p>
        </p:txBody>
      </p:sp>
      <p:sp>
        <p:nvSpPr>
          <p:cNvPr id="46" name="Text 44"/>
          <p:cNvSpPr/>
          <p:nvPr/>
        </p:nvSpPr>
        <p:spPr>
          <a:xfrm>
            <a:off x="5266944" y="3913632"/>
            <a:ext cx="34381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joblib.dump(best_model, diabetes_model.pkl)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solidFill>
            <a:srgbClr val="0A1F10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736592"/>
            <a:ext cx="8229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lab5_ml.py + diabetes_model.pkl + evaluation_report.txt committed to GitHub. The .pkl goes directly into Day 6 FastAPI 🚀</a:t>
            </a:r>
            <a:endParaRPr lang="en-US" sz="8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— STARTER CODE (Distribute via GitHub)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452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every # TODO. Run after each step. Print shapes and scores as you go.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950208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4904" y="1033272"/>
            <a:ext cx="8394192" cy="3803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5: Diabetes / Readmission Prediction | File: lab5_ml.py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python lab5_ml.py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Submit: lab5_ml.py + diabetes_model.pkl + evaluation_report.txt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np, joblib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train_test_split, cross_val_score, GridSearchCV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classification_report, roc_auc_score, confusion_matrix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pd.read_csv("healthcare.csv")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print(f"Shape: {df.shape}")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df.info(), null counts, target value_counts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fillna numeric→median, fix invalid ages/BMI, drop duplicates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feature_cols = ["age","bmi","hba1c","systolic_bp","diastolic_bp","heart_rate","los_days"]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target_col = "readmitted"  # change to diabetic if column differs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df[feature_cols].fillna(df[feature_cols].median())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df[target_col].astype(int)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train_test_split(test_size=0.2, stratify=y, random_state=42)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lr_pipe = Pipeline([("scaler", StandardScaler()),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("model", LogisticRegression(max_iter=1000, class_weight="balanced"))])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cross_val_score 5-fold ROC-AUC, fit, evaluate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GridSearchCV for DecisionTreeClassifier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evaluate both models and save the best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joblib.dump(best_model, "diabetes_model.pkl")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print("✅ Model saved — ready for FastAPI on Day 6 🚀")</a:t>
            </a:r>
            <a:endParaRPr lang="en-US" sz="7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— SOLUTION WALKTHROUGH (Trainer Live · 30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452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after submissions. Focus on explaining WHY each decision was made.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0" cy="3950208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4904" y="1033272"/>
            <a:ext cx="4828032" cy="3803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np, joblib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train_test_split, cross_val_score, GridSearchCV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roc_auc_score</a:t>
            </a:r>
            <a:endParaRPr lang="en-US" sz="660" dirty="0"/>
          </a:p>
          <a:p>
            <a:pPr indent="0" marL="0">
              <a:buNone/>
            </a:pP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pd.read_csv("healthcare.csv")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num_cols = df.select_dtypes(include=np.number).columns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col in num_cols: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df[col] = df[col].fillna(df[col].median())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df[df["age"].between(0,120) &amp; df["bmi"].between(10,80)]</a:t>
            </a:r>
            <a:endParaRPr lang="en-US" sz="660" dirty="0"/>
          </a:p>
          <a:p>
            <a:pPr indent="0" marL="0">
              <a:buNone/>
            </a:pP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df[["age","bmi","hba1c","systolic_bp","diastolic_bp","heart_rate","los_days"]]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df["readmitted"].astype(int)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X_train,X_test,y_train,y_test = train_test_split(X,y,test_size=0.2,stratify=y,random_state=42)</a:t>
            </a:r>
            <a:endParaRPr lang="en-US" sz="660" dirty="0"/>
          </a:p>
          <a:p>
            <a:pPr indent="0" marL="0">
              <a:buNone/>
            </a:pP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Pipeline([("sc",StandardScaler()),("m",LogisticRegression(max_iter=1000,class_weight="balanced"))])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cv_lr = cross_val_score(lr,X_train,y_train,cv=5,scoring="roc_auc")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lr.fit(X_train,y_train)</a:t>
            </a:r>
            <a:endParaRPr lang="en-US" sz="660" dirty="0"/>
          </a:p>
          <a:p>
            <a:pPr indent="0" marL="0">
              <a:buNone/>
            </a:pP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GridSearchCV(DecisionTreeClassifier(class_weight="balanced",random_state=42),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{"max_depth":[3,5,7,10],"min_samples_leaf":[5,10,20]}, cv=5, scoring="roc_auc", n_jobs=-1)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grid.fit(X_train,y_train)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best_dt = grid.best_estimator_</a:t>
            </a:r>
            <a:endParaRPr lang="en-US" sz="660" dirty="0"/>
          </a:p>
          <a:p>
            <a:pPr indent="0" marL="0">
              <a:buNone/>
            </a:pP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lr_auc = roc_auc_score(y_test, lr.predict_proba(X_test)[:,1])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dt_auc = roc_auc_score(y_test, best_dt.predict_proba(X_test)[:,1])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= lr if lr_auc &gt;= dt_auc else best_dt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joblib.dump(best,"diabetes_model.pkl")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5532120" y="960120"/>
            <a:ext cx="3337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32120" y="960120"/>
            <a:ext cx="33375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024128"/>
            <a:ext cx="3154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41848" y="1399032"/>
            <a:ext cx="3118104" cy="9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class ratio stable in train and test; avoids misleading metrics.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532120" y="1581912"/>
            <a:ext cx="3337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32120" y="1581912"/>
            <a:ext cx="3337560" cy="3474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645920"/>
            <a:ext cx="3154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balanced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41848" y="2020824"/>
            <a:ext cx="3118104" cy="9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majority-class-only predictions on imbalanced data.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532120" y="2203704"/>
            <a:ext cx="3337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32120" y="2203704"/>
            <a:ext cx="333756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2267712"/>
            <a:ext cx="3154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before test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41848" y="2642616"/>
            <a:ext cx="3118104" cy="9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uses training data only; test remains final-only.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532120" y="2825496"/>
            <a:ext cx="3337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32120" y="2825496"/>
            <a:ext cx="33375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2889504"/>
            <a:ext cx="3154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41848" y="3264408"/>
            <a:ext cx="3118104" cy="9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StandardScaler leakage and makes deployment simple.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532120" y="3447288"/>
            <a:ext cx="3337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32120" y="3447288"/>
            <a:ext cx="33375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3511296"/>
            <a:ext cx="3154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41848" y="3886200"/>
            <a:ext cx="3118104" cy="9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regularisation through max_depth/min_samples_leaf.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532120" y="4069080"/>
            <a:ext cx="3337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4069080"/>
            <a:ext cx="333756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4133088"/>
            <a:ext cx="3154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joblib.dump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41848" y="4507992"/>
            <a:ext cx="3118104" cy="9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.pkl becomes the Day 6 FastAPI model artifact.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ML — CHEAT SHEET (Keep open while coding)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8346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+ CV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24712"/>
            <a:ext cx="2834640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16152"/>
            <a:ext cx="26151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X_tr,X_te,y_tr,y_te=train_test_split(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X,y,test_size=0.2,stratify=y,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random_state=42)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scores=cross_val_score(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model,X_tr,y_tr,cv=5,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scoring="roc_auc")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834640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777240"/>
            <a:ext cx="2834640" cy="3474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841248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124712"/>
            <a:ext cx="2834640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216152"/>
            <a:ext cx="26151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pipe=Pipeline([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("scaler",StandardScaler()),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("model",LogisticRegression(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class_weight="balanced"))])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pipe.fit(X_train,y_train)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y_prob=pipe.predict_proba(X_test)[:,1]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217920" y="777240"/>
            <a:ext cx="2834640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777240"/>
            <a:ext cx="28346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841248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124712"/>
            <a:ext cx="2834640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216152"/>
            <a:ext cx="26151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print(classification_report(y_te,y_pred))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auc=roc_auc_score(y_te,y_prob)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TN,FP,FN,TP=confusion_matrix(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y_te,y_pred).ravel()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834640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283464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44368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27832"/>
            <a:ext cx="2834640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19272"/>
            <a:ext cx="26151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grid=GridSearchCV(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DecisionTreeClassifier(),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{"max_depth":[3,5,7,10],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"min_samples_leaf":[5,10,20]},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cv=5,scoring="roc_auc")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grid.fit(X_train,y_train)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834640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880360"/>
            <a:ext cx="2834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944368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+ Load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3227832"/>
            <a:ext cx="2834640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319272"/>
            <a:ext cx="26151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joblib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joblib.dump(pipe,"model.pkl")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model=joblib.load("model.pkl")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prob=model.predict_proba(features)[0,1]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pred=model.predict(features)[0]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217920" y="2880360"/>
            <a:ext cx="2834640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880360"/>
            <a:ext cx="28346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944368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Quick Ref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227832"/>
            <a:ext cx="2834640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319272"/>
            <a:ext cx="261518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Accuracy: avoid first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Recall: catch positives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ROC-AUC: compare models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F1: precision/recall balance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Train&gt;&gt;Test → overfit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low    → underfit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137160"/>
            <a:ext cx="2743200" cy="2743200"/>
          </a:xfrm>
          <a:prstGeom prst="ellipse">
            <a:avLst/>
          </a:prstGeom>
          <a:solidFill>
            <a:srgbClr val="047857">
              <a:alpha val="16000"/>
            </a:srgbClr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2971800"/>
            <a:ext cx="2011680" cy="201168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COMPLETE — RECAP + DAY 6 PREVIEW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786384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mastered today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207008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70432"/>
            <a:ext cx="4892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as a function learned from data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84048" y="1554480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17904"/>
            <a:ext cx="4892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 Unsupervised learning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84048" y="1901952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865376"/>
            <a:ext cx="4892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pipeline: raw → clean → features → train → evaluate → deploy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384048" y="2249424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212848"/>
            <a:ext cx="4892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 with stratify; test set is sacred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84048" y="2596896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560320"/>
            <a:ext cx="4892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cross_val_score for model selection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84048" y="2944368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907792"/>
            <a:ext cx="4892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diagnosis and fixes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84048" y="3291840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255264"/>
            <a:ext cx="4892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probabilities, coefficients, threshold tuning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84048" y="3639312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602736"/>
            <a:ext cx="4892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Gini, max_depth, feature importance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84048" y="3986784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950208"/>
            <a:ext cx="4892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ROC-AUC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84048" y="4334256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297680"/>
            <a:ext cx="4892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5: diabetes_model.pkl ready for Day 6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715000" y="786384"/>
            <a:ext cx="3154680" cy="3977640"/>
          </a:xfrm>
          <a:prstGeom prst="rect">
            <a:avLst/>
          </a:prstGeom>
          <a:solidFill>
            <a:srgbClr val="0A1F10"/>
          </a:solidFill>
          <a:ln w="13970">
            <a:solidFill>
              <a:srgbClr val="D1FA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33872" y="914400"/>
            <a:ext cx="2834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33872" y="1143000"/>
            <a:ext cx="283464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852160" y="2057400"/>
            <a:ext cx="2743200" cy="3657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2231136"/>
            <a:ext cx="20116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53328" y="2212848"/>
            <a:ext cx="2633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ensemble of trees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5806440" y="2578608"/>
            <a:ext cx="20116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53328" y="2560320"/>
            <a:ext cx="2633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gradient boosting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806440" y="2926080"/>
            <a:ext cx="20116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53328" y="2907792"/>
            <a:ext cx="2633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Readmission Predictor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5806440" y="3273552"/>
            <a:ext cx="20116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53328" y="3255264"/>
            <a:ext cx="2633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 tuning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5806440" y="3621024"/>
            <a:ext cx="20116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53328" y="3602736"/>
            <a:ext cx="2633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for ML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5806440" y="3968496"/>
            <a:ext cx="20116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53328" y="3950208"/>
            <a:ext cx="26334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6: ML + FastAPI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384048" y="4690872"/>
            <a:ext cx="8366760" cy="292608"/>
          </a:xfrm>
          <a:prstGeom prst="rect">
            <a:avLst/>
          </a:prstGeom>
          <a:solidFill>
            <a:srgbClr val="0A1F10"/>
          </a:solidFill>
          <a:ln w="15240">
            <a:solidFill>
              <a:srgbClr val="0478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745736"/>
            <a:ext cx="8138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CONTINUITY: diabetes_model.pkl from Lab 5 + FastAPI pattern from Lab 4 = Day 6 ML prediction API.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— Data Science &amp; ML Foundations</dc:title>
  <dc:subject>Day 5 — Data Science &amp; ML Foundations</dc:subject>
  <dc:creator>OpenAI</dc:creator>
  <cp:lastModifiedBy>OpenAI</cp:lastModifiedBy>
  <cp:revision>1</cp:revision>
  <dcterms:created xsi:type="dcterms:W3CDTF">2026-06-11T14:41:04Z</dcterms:created>
  <dcterms:modified xsi:type="dcterms:W3CDTF">2026-06-11T14:41:04Z</dcterms:modified>
</cp:coreProperties>
</file>